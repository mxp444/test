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1" r:id="rId4"/>
    <p:sldId id="262" r:id="rId5"/>
    <p:sldId id="273" r:id="rId6"/>
    <p:sldId id="272" r:id="rId7"/>
    <p:sldId id="282" r:id="rId8"/>
    <p:sldId id="284" r:id="rId9"/>
    <p:sldId id="285" r:id="rId10"/>
    <p:sldId id="283" r:id="rId11"/>
    <p:sldId id="280" r:id="rId12"/>
    <p:sldId id="278" r:id="rId13"/>
    <p:sldId id="277" r:id="rId14"/>
    <p:sldId id="286" r:id="rId15"/>
    <p:sldId id="275" r:id="rId16"/>
    <p:sldId id="274" r:id="rId17"/>
    <p:sldId id="28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C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8186" autoAdjust="0"/>
  </p:normalViewPr>
  <p:slideViewPr>
    <p:cSldViewPr snapToGrid="0" showGuides="1">
      <p:cViewPr varScale="1">
        <p:scale>
          <a:sx n="106" d="100"/>
          <a:sy n="106" d="100"/>
        </p:scale>
        <p:origin x="18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99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DAF01-3D10-41BF-AF3A-D94DF1155DF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D1EED-9D46-4EA7-80AB-C51718A41F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等腰三角形 20"/>
          <p:cNvSpPr/>
          <p:nvPr/>
        </p:nvSpPr>
        <p:spPr>
          <a:xfrm rot="10800000">
            <a:off x="9555641" y="1783080"/>
            <a:ext cx="1909267" cy="1645920"/>
          </a:xfrm>
          <a:prstGeom prst="triangle">
            <a:avLst/>
          </a:prstGeom>
          <a:solidFill>
            <a:srgbClr val="A5CF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/>
        </p:nvSpPr>
        <p:spPr>
          <a:xfrm rot="10800000">
            <a:off x="6691746" y="0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 rot="10800000">
            <a:off x="8601014" y="3428999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 rot="10800000">
            <a:off x="10510281" y="3429000"/>
            <a:ext cx="1681719" cy="1645920"/>
          </a:xfrm>
          <a:custGeom>
            <a:avLst/>
            <a:gdLst>
              <a:gd name="connsiteX0" fmla="*/ 1681719 w 1681719"/>
              <a:gd name="connsiteY0" fmla="*/ 1645920 h 1645920"/>
              <a:gd name="connsiteX1" fmla="*/ 0 w 1681719"/>
              <a:gd name="connsiteY1" fmla="*/ 1645920 h 1645920"/>
              <a:gd name="connsiteX2" fmla="*/ 0 w 1681719"/>
              <a:gd name="connsiteY2" fmla="*/ 1253596 h 1645920"/>
              <a:gd name="connsiteX3" fmla="*/ 727086 w 1681719"/>
              <a:gd name="connsiteY3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719" h="1645920">
                <a:moveTo>
                  <a:pt x="1681719" y="1645920"/>
                </a:moveTo>
                <a:lnTo>
                  <a:pt x="0" y="1645920"/>
                </a:lnTo>
                <a:lnTo>
                  <a:pt x="0" y="1253596"/>
                </a:lnTo>
                <a:lnTo>
                  <a:pt x="727086" y="0"/>
                </a:lnTo>
                <a:close/>
              </a:path>
            </a:pathLst>
          </a:cu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/>
        </p:nvSpPr>
        <p:spPr>
          <a:xfrm>
            <a:off x="10510280" y="1783080"/>
            <a:ext cx="1681720" cy="1645920"/>
          </a:xfrm>
          <a:custGeom>
            <a:avLst/>
            <a:gdLst>
              <a:gd name="connsiteX0" fmla="*/ 954634 w 1681720"/>
              <a:gd name="connsiteY0" fmla="*/ 0 h 1645920"/>
              <a:gd name="connsiteX1" fmla="*/ 1681720 w 1681720"/>
              <a:gd name="connsiteY1" fmla="*/ 1253598 h 1645920"/>
              <a:gd name="connsiteX2" fmla="*/ 1681720 w 1681720"/>
              <a:gd name="connsiteY2" fmla="*/ 1645920 h 1645920"/>
              <a:gd name="connsiteX3" fmla="*/ 0 w 1681720"/>
              <a:gd name="connsiteY3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720" h="1645920">
                <a:moveTo>
                  <a:pt x="954634" y="0"/>
                </a:moveTo>
                <a:lnTo>
                  <a:pt x="1681720" y="1253598"/>
                </a:lnTo>
                <a:lnTo>
                  <a:pt x="1681720" y="1645920"/>
                </a:lnTo>
                <a:lnTo>
                  <a:pt x="0" y="1645920"/>
                </a:lnTo>
                <a:close/>
              </a:path>
            </a:pathLst>
          </a:cu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>
            <a:off x="8600991" y="5078022"/>
            <a:ext cx="1909281" cy="1645933"/>
          </a:xfrm>
          <a:prstGeom prst="triangle">
            <a:avLst/>
          </a:prstGeom>
          <a:solidFill>
            <a:srgbClr val="A5CFE5">
              <a:alpha val="52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/>
        </p:nvSpPr>
        <p:spPr>
          <a:xfrm rot="10800000">
            <a:off x="10510279" y="137158"/>
            <a:ext cx="1681721" cy="1645920"/>
          </a:xfrm>
          <a:custGeom>
            <a:avLst/>
            <a:gdLst>
              <a:gd name="connsiteX0" fmla="*/ 1681721 w 1681721"/>
              <a:gd name="connsiteY0" fmla="*/ 1645920 h 1645920"/>
              <a:gd name="connsiteX1" fmla="*/ 0 w 1681721"/>
              <a:gd name="connsiteY1" fmla="*/ 1645920 h 1645920"/>
              <a:gd name="connsiteX2" fmla="*/ 0 w 1681721"/>
              <a:gd name="connsiteY2" fmla="*/ 1253600 h 1645920"/>
              <a:gd name="connsiteX3" fmla="*/ 727088 w 1681721"/>
              <a:gd name="connsiteY3" fmla="*/ 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721" h="1645920">
                <a:moveTo>
                  <a:pt x="1681721" y="1645920"/>
                </a:moveTo>
                <a:lnTo>
                  <a:pt x="0" y="1645920"/>
                </a:lnTo>
                <a:lnTo>
                  <a:pt x="0" y="1253600"/>
                </a:lnTo>
                <a:lnTo>
                  <a:pt x="727088" y="0"/>
                </a:lnTo>
                <a:close/>
              </a:path>
            </a:pathLst>
          </a:cu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腰三角形 12"/>
          <p:cNvSpPr/>
          <p:nvPr/>
        </p:nvSpPr>
        <p:spPr>
          <a:xfrm>
            <a:off x="9555645" y="3429000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13"/>
          <p:cNvSpPr/>
          <p:nvPr/>
        </p:nvSpPr>
        <p:spPr>
          <a:xfrm rot="10800000">
            <a:off x="7646375" y="5074919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/>
        </p:nvSpPr>
        <p:spPr>
          <a:xfrm>
            <a:off x="6691725" y="5074928"/>
            <a:ext cx="1909257" cy="1645912"/>
          </a:xfrm>
          <a:prstGeom prst="triangle">
            <a:avLst/>
          </a:prstGeom>
          <a:solidFill>
            <a:srgbClr val="A5CF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10800000">
            <a:off x="9555641" y="5074920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55909" y="2254698"/>
            <a:ext cx="114191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幼圆" panose="02010509060101010101" pitchFamily="49" charset="-122"/>
                <a:ea typeface="幼圆" panose="02010509060101010101" pitchFamily="49" charset="-122"/>
              </a:rPr>
              <a:t>基于多模态信息处理的网络金融舆情风险监测系统</a:t>
            </a:r>
          </a:p>
        </p:txBody>
      </p:sp>
      <p:sp>
        <p:nvSpPr>
          <p:cNvPr id="24" name="等腰三角形 23"/>
          <p:cNvSpPr/>
          <p:nvPr/>
        </p:nvSpPr>
        <p:spPr>
          <a:xfrm>
            <a:off x="7646348" y="3429000"/>
            <a:ext cx="1909267" cy="1645920"/>
          </a:xfrm>
          <a:prstGeom prst="triangl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7285065" y="765802"/>
            <a:ext cx="954634" cy="1645920"/>
          </a:xfrm>
          <a:prstGeom prst="line">
            <a:avLst/>
          </a:prstGeom>
          <a:ln w="3175">
            <a:solidFill>
              <a:srgbClr val="A5CF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61651" y="2935908"/>
            <a:ext cx="304858" cy="525617"/>
          </a:xfrm>
          <a:prstGeom prst="line">
            <a:avLst/>
          </a:prstGeom>
          <a:ln w="3175">
            <a:solidFill>
              <a:srgbClr val="A5CF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33"/>
          <p:cNvSpPr>
            <a:spLocks noChangeArrowheads="1"/>
          </p:cNvSpPr>
          <p:nvPr/>
        </p:nvSpPr>
        <p:spPr bwMode="auto">
          <a:xfrm>
            <a:off x="1015778" y="4368443"/>
            <a:ext cx="50399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Harbin Institute of Technology</a:t>
            </a: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 cstate="print"/>
          <a:srcRect t="24590"/>
          <a:stretch>
            <a:fillRect/>
          </a:stretch>
        </p:blipFill>
        <p:spPr>
          <a:xfrm>
            <a:off x="966539" y="1"/>
            <a:ext cx="3127519" cy="2032061"/>
          </a:xfrm>
          <a:custGeom>
            <a:avLst/>
            <a:gdLst>
              <a:gd name="connsiteX0" fmla="*/ 0 w 3127519"/>
              <a:gd name="connsiteY0" fmla="*/ 0 h 2032061"/>
              <a:gd name="connsiteX1" fmla="*/ 3127519 w 3127519"/>
              <a:gd name="connsiteY1" fmla="*/ 0 h 2032061"/>
              <a:gd name="connsiteX2" fmla="*/ 3127519 w 3127519"/>
              <a:gd name="connsiteY2" fmla="*/ 2032061 h 2032061"/>
              <a:gd name="connsiteX3" fmla="*/ 0 w 3127519"/>
              <a:gd name="connsiteY3" fmla="*/ 2032061 h 2032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519" h="2032061">
                <a:moveTo>
                  <a:pt x="0" y="0"/>
                </a:moveTo>
                <a:lnTo>
                  <a:pt x="3127519" y="0"/>
                </a:lnTo>
                <a:lnTo>
                  <a:pt x="3127519" y="2032061"/>
                </a:lnTo>
                <a:lnTo>
                  <a:pt x="0" y="2032061"/>
                </a:lnTo>
                <a:close/>
              </a:path>
            </a:pathLst>
          </a:cu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3" cstate="print"/>
          <a:srcRect b="18265"/>
          <a:stretch>
            <a:fillRect/>
          </a:stretch>
        </p:blipFill>
        <p:spPr>
          <a:xfrm>
            <a:off x="16550" y="4281805"/>
            <a:ext cx="2975106" cy="2576195"/>
          </a:xfrm>
          <a:custGeom>
            <a:avLst/>
            <a:gdLst>
              <a:gd name="connsiteX0" fmla="*/ 0 w 2975106"/>
              <a:gd name="connsiteY0" fmla="*/ 0 h 2576195"/>
              <a:gd name="connsiteX1" fmla="*/ 2975106 w 2975106"/>
              <a:gd name="connsiteY1" fmla="*/ 0 h 2576195"/>
              <a:gd name="connsiteX2" fmla="*/ 2975106 w 2975106"/>
              <a:gd name="connsiteY2" fmla="*/ 2576195 h 2576195"/>
              <a:gd name="connsiteX3" fmla="*/ 0 w 2975106"/>
              <a:gd name="connsiteY3" fmla="*/ 2576195 h 2576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106" h="2576195">
                <a:moveTo>
                  <a:pt x="0" y="0"/>
                </a:moveTo>
                <a:lnTo>
                  <a:pt x="2975106" y="0"/>
                </a:lnTo>
                <a:lnTo>
                  <a:pt x="2975106" y="2576195"/>
                </a:lnTo>
                <a:lnTo>
                  <a:pt x="0" y="2576195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92" y="1000342"/>
            <a:ext cx="4395921" cy="976871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09-17:19:39-d3jnsaos8jdo4os5dlq0.png">
            <a:extLst>
              <a:ext uri="{FF2B5EF4-FFF2-40B4-BE49-F238E27FC236}">
                <a16:creationId xmlns:a16="http://schemas.microsoft.com/office/drawing/2014/main" id="{182B4E31-42A4-3E9B-2106-E88423C21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568" y="4771687"/>
            <a:ext cx="4747895" cy="597535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1A043C6D-E730-6527-6A82-2A6867B31553}"/>
              </a:ext>
            </a:extLst>
          </p:cNvPr>
          <p:cNvSpPr/>
          <p:nvPr/>
        </p:nvSpPr>
        <p:spPr>
          <a:xfrm>
            <a:off x="3182814" y="4862274"/>
            <a:ext cx="2044147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日期：2025/11/08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48ECF5D-7232-3444-18FD-765A6871FE6C}"/>
              </a:ext>
            </a:extLst>
          </p:cNvPr>
          <p:cNvSpPr/>
          <p:nvPr/>
        </p:nvSpPr>
        <p:spPr>
          <a:xfrm>
            <a:off x="873506" y="4887738"/>
            <a:ext cx="183197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 err="1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400" dirty="0">
                <a:solidFill>
                  <a:srgbClr val="404040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缪锡朋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 flipH="1">
            <a:off x="-13865" y="0"/>
            <a:ext cx="5500275" cy="6723955"/>
            <a:chOff x="6691725" y="0"/>
            <a:chExt cx="5500275" cy="6723955"/>
          </a:xfrm>
        </p:grpSpPr>
        <p:sp>
          <p:nvSpPr>
            <p:cNvPr id="2" name="等腰三角形 1"/>
            <p:cNvSpPr/>
            <p:nvPr/>
          </p:nvSpPr>
          <p:spPr>
            <a:xfrm rot="10800000">
              <a:off x="6691746" y="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等腰三角形 2"/>
            <p:cNvSpPr/>
            <p:nvPr/>
          </p:nvSpPr>
          <p:spPr>
            <a:xfrm rot="10800000">
              <a:off x="8601014" y="342899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rot="10800000">
              <a:off x="10510281" y="3429000"/>
              <a:ext cx="1681719" cy="1645920"/>
            </a:xfrm>
            <a:custGeom>
              <a:avLst/>
              <a:gdLst>
                <a:gd name="connsiteX0" fmla="*/ 1681719 w 1681719"/>
                <a:gd name="connsiteY0" fmla="*/ 1645920 h 1645920"/>
                <a:gd name="connsiteX1" fmla="*/ 0 w 1681719"/>
                <a:gd name="connsiteY1" fmla="*/ 1645920 h 1645920"/>
                <a:gd name="connsiteX2" fmla="*/ 0 w 1681719"/>
                <a:gd name="connsiteY2" fmla="*/ 1253596 h 1645920"/>
                <a:gd name="connsiteX3" fmla="*/ 727086 w 1681719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19" h="1645920">
                  <a:moveTo>
                    <a:pt x="1681719" y="1645920"/>
                  </a:moveTo>
                  <a:lnTo>
                    <a:pt x="0" y="1645920"/>
                  </a:lnTo>
                  <a:lnTo>
                    <a:pt x="0" y="1253596"/>
                  </a:lnTo>
                  <a:lnTo>
                    <a:pt x="727086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/>
          </p:nvSpPr>
          <p:spPr>
            <a:xfrm>
              <a:off x="10510280" y="1783080"/>
              <a:ext cx="1681720" cy="1645920"/>
            </a:xfrm>
            <a:custGeom>
              <a:avLst/>
              <a:gdLst>
                <a:gd name="connsiteX0" fmla="*/ 954634 w 1681720"/>
                <a:gd name="connsiteY0" fmla="*/ 0 h 1645920"/>
                <a:gd name="connsiteX1" fmla="*/ 1681720 w 1681720"/>
                <a:gd name="connsiteY1" fmla="*/ 1253598 h 1645920"/>
                <a:gd name="connsiteX2" fmla="*/ 1681720 w 1681720"/>
                <a:gd name="connsiteY2" fmla="*/ 1645920 h 1645920"/>
                <a:gd name="connsiteX3" fmla="*/ 0 w 1681720"/>
                <a:gd name="connsiteY3" fmla="*/ 164592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0" h="1645920">
                  <a:moveTo>
                    <a:pt x="954634" y="0"/>
                  </a:moveTo>
                  <a:lnTo>
                    <a:pt x="1681720" y="1253598"/>
                  </a:lnTo>
                  <a:lnTo>
                    <a:pt x="1681720" y="1645920"/>
                  </a:lnTo>
                  <a:lnTo>
                    <a:pt x="0" y="164592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>
              <a:off x="8600991" y="5078022"/>
              <a:ext cx="1909281" cy="1645933"/>
            </a:xfrm>
            <a:prstGeom prst="triangle">
              <a:avLst/>
            </a:prstGeom>
            <a:solidFill>
              <a:srgbClr val="A5CFE5">
                <a:alpha val="52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/>
          </p:nvSpPr>
          <p:spPr>
            <a:xfrm rot="10800000">
              <a:off x="10510279" y="137158"/>
              <a:ext cx="1681721" cy="1645920"/>
            </a:xfrm>
            <a:custGeom>
              <a:avLst/>
              <a:gdLst>
                <a:gd name="connsiteX0" fmla="*/ 1681721 w 1681721"/>
                <a:gd name="connsiteY0" fmla="*/ 1645920 h 1645920"/>
                <a:gd name="connsiteX1" fmla="*/ 0 w 1681721"/>
                <a:gd name="connsiteY1" fmla="*/ 1645920 h 1645920"/>
                <a:gd name="connsiteX2" fmla="*/ 0 w 1681721"/>
                <a:gd name="connsiteY2" fmla="*/ 1253600 h 1645920"/>
                <a:gd name="connsiteX3" fmla="*/ 727088 w 1681721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1" h="1645920">
                  <a:moveTo>
                    <a:pt x="1681721" y="1645920"/>
                  </a:moveTo>
                  <a:lnTo>
                    <a:pt x="0" y="1645920"/>
                  </a:lnTo>
                  <a:lnTo>
                    <a:pt x="0" y="1253600"/>
                  </a:lnTo>
                  <a:lnTo>
                    <a:pt x="727088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9555645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 rot="10800000">
              <a:off x="7646375" y="507491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6691725" y="5074928"/>
              <a:ext cx="1909257" cy="1645912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10800000">
              <a:off x="9555641" y="507492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10800000">
              <a:off x="9555641" y="1783080"/>
              <a:ext cx="1909267" cy="1645920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7646348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7285065" y="765802"/>
              <a:ext cx="954634" cy="1645920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6596256" y="1835759"/>
            <a:ext cx="730202" cy="611075"/>
            <a:chOff x="6541454" y="2317292"/>
            <a:chExt cx="730202" cy="611075"/>
          </a:xfrm>
        </p:grpSpPr>
        <p:sp>
          <p:nvSpPr>
            <p:cNvPr id="17" name="等腰三角形 16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596256" y="2723491"/>
            <a:ext cx="730202" cy="611075"/>
            <a:chOff x="6541454" y="2317292"/>
            <a:chExt cx="730202" cy="611075"/>
          </a:xfrm>
        </p:grpSpPr>
        <p:sp>
          <p:nvSpPr>
            <p:cNvPr id="20" name="等腰三角形 19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596256" y="3611223"/>
            <a:ext cx="730202" cy="611075"/>
            <a:chOff x="6541454" y="2317292"/>
            <a:chExt cx="730202" cy="611075"/>
          </a:xfrm>
        </p:grpSpPr>
        <p:sp>
          <p:nvSpPr>
            <p:cNvPr id="23" name="等腰三角形 2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596256" y="4498956"/>
            <a:ext cx="730202" cy="611075"/>
            <a:chOff x="6541454" y="2317292"/>
            <a:chExt cx="730202" cy="611075"/>
          </a:xfrm>
        </p:grpSpPr>
        <p:sp>
          <p:nvSpPr>
            <p:cNvPr id="26" name="等腰三角形 25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6684200" y="1968379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84200" y="4633582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84200" y="3745181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684200" y="2856780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756990" y="1945503"/>
            <a:ext cx="3419605" cy="461962"/>
            <a:chOff x="7959283" y="2346556"/>
            <a:chExt cx="3419605" cy="461962"/>
          </a:xfrm>
        </p:grpSpPr>
        <p:sp>
          <p:nvSpPr>
            <p:cNvPr id="32" name="矩形 2"/>
            <p:cNvSpPr>
              <a:spLocks noChangeArrowheads="1"/>
            </p:cNvSpPr>
            <p:nvPr/>
          </p:nvSpPr>
          <p:spPr bwMode="auto">
            <a:xfrm>
              <a:off x="9173821" y="2346556"/>
              <a:ext cx="220506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课题背景与意义</a:t>
              </a:r>
              <a:endPara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7959283" y="2593180"/>
              <a:ext cx="115546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7756990" y="4633285"/>
            <a:ext cx="3618887" cy="461962"/>
            <a:chOff x="7959283" y="4370309"/>
            <a:chExt cx="3618887" cy="461962"/>
          </a:xfrm>
        </p:grpSpPr>
        <p:sp>
          <p:nvSpPr>
            <p:cNvPr id="35" name="矩形 34"/>
            <p:cNvSpPr>
              <a:spLocks noChangeArrowheads="1"/>
            </p:cNvSpPr>
            <p:nvPr/>
          </p:nvSpPr>
          <p:spPr bwMode="auto">
            <a:xfrm>
              <a:off x="9114752" y="4370309"/>
              <a:ext cx="246341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进度安排与预期成果</a:t>
              </a:r>
              <a:endParaRPr lang="da-DK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7959283" y="4579922"/>
              <a:ext cx="115546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7756990" y="3724863"/>
            <a:ext cx="3419605" cy="460375"/>
            <a:chOff x="7959283" y="3683231"/>
            <a:chExt cx="3419605" cy="460375"/>
          </a:xfrm>
        </p:grpSpPr>
        <p:sp>
          <p:nvSpPr>
            <p:cNvPr id="34" name="矩形 26"/>
            <p:cNvSpPr>
              <a:spLocks noChangeArrowheads="1"/>
            </p:cNvSpPr>
            <p:nvPr/>
          </p:nvSpPr>
          <p:spPr bwMode="auto">
            <a:xfrm>
              <a:off x="9173821" y="3683231"/>
              <a:ext cx="2205067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研究内容与目标</a:t>
              </a:r>
              <a:endParaRPr lang="da-DK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7959283" y="3917674"/>
              <a:ext cx="115546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7756990" y="2835183"/>
            <a:ext cx="3419605" cy="461962"/>
            <a:chOff x="7959283" y="3013306"/>
            <a:chExt cx="3419605" cy="461962"/>
          </a:xfrm>
        </p:grpSpPr>
        <p:sp>
          <p:nvSpPr>
            <p:cNvPr id="33" name="矩形 32"/>
            <p:cNvSpPr>
              <a:spLocks noChangeArrowheads="1"/>
            </p:cNvSpPr>
            <p:nvPr/>
          </p:nvSpPr>
          <p:spPr bwMode="auto">
            <a:xfrm>
              <a:off x="9173821" y="3013306"/>
              <a:ext cx="220506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国内外研究现状</a:t>
              </a:r>
              <a:endParaRPr lang="da-DK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7959283" y="3255427"/>
              <a:ext cx="1155469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B31C212F-F38B-6889-31F8-818AD126314C}"/>
              </a:ext>
            </a:extLst>
          </p:cNvPr>
          <p:cNvSpPr txBox="1"/>
          <p:nvPr/>
        </p:nvSpPr>
        <p:spPr>
          <a:xfrm>
            <a:off x="3962267" y="2116165"/>
            <a:ext cx="19206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幼圆" panose="02010509060101010101" pitchFamily="49" charset="-122"/>
                <a:ea typeface="幼圆" panose="02010509060101010101" pitchFamily="49" charset="-122"/>
              </a:rPr>
              <a:t>目      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7A64258-A1A5-F7FC-C01A-D234E6C6248A}"/>
              </a:ext>
            </a:extLst>
          </p:cNvPr>
          <p:cNvSpPr txBox="1"/>
          <p:nvPr/>
        </p:nvSpPr>
        <p:spPr>
          <a:xfrm>
            <a:off x="4656562" y="3077304"/>
            <a:ext cx="13877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幼圆" panose="02010509060101010101" pitchFamily="49" charset="-122"/>
                <a:ea typeface="幼圆" panose="02010509060101010101" pitchFamily="49" charset="-122"/>
              </a:rPr>
              <a:t>录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B749B027-3662-0683-8D32-6BBBAE196E20}"/>
              </a:ext>
            </a:extLst>
          </p:cNvPr>
          <p:cNvGrpSpPr/>
          <p:nvPr/>
        </p:nvGrpSpPr>
        <p:grpSpPr>
          <a:xfrm>
            <a:off x="16550" y="0"/>
            <a:ext cx="12175450" cy="6858000"/>
            <a:chOff x="16550" y="0"/>
            <a:chExt cx="12175450" cy="6858000"/>
          </a:xfrm>
        </p:grpSpPr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2E4CBA2B-0DFB-EED0-733D-7FA00866AD3B}"/>
                </a:ext>
              </a:extLst>
            </p:cNvPr>
            <p:cNvSpPr/>
            <p:nvPr/>
          </p:nvSpPr>
          <p:spPr>
            <a:xfrm rot="10800000">
              <a:off x="6691746" y="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65CE67D2-AD1B-30AA-38AC-D1DF6D11562E}"/>
                </a:ext>
              </a:extLst>
            </p:cNvPr>
            <p:cNvSpPr/>
            <p:nvPr/>
          </p:nvSpPr>
          <p:spPr>
            <a:xfrm rot="10800000">
              <a:off x="8601014" y="342899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63">
              <a:extLst>
                <a:ext uri="{FF2B5EF4-FFF2-40B4-BE49-F238E27FC236}">
                  <a16:creationId xmlns:a16="http://schemas.microsoft.com/office/drawing/2014/main" id="{ED81E36D-9706-DCDB-9368-E34560313239}"/>
                </a:ext>
              </a:extLst>
            </p:cNvPr>
            <p:cNvSpPr/>
            <p:nvPr/>
          </p:nvSpPr>
          <p:spPr>
            <a:xfrm rot="10800000">
              <a:off x="10510281" y="3429000"/>
              <a:ext cx="1681719" cy="1645920"/>
            </a:xfrm>
            <a:custGeom>
              <a:avLst/>
              <a:gdLst>
                <a:gd name="connsiteX0" fmla="*/ 1681719 w 1681719"/>
                <a:gd name="connsiteY0" fmla="*/ 1645920 h 1645920"/>
                <a:gd name="connsiteX1" fmla="*/ 0 w 1681719"/>
                <a:gd name="connsiteY1" fmla="*/ 1645920 h 1645920"/>
                <a:gd name="connsiteX2" fmla="*/ 0 w 1681719"/>
                <a:gd name="connsiteY2" fmla="*/ 1253596 h 1645920"/>
                <a:gd name="connsiteX3" fmla="*/ 727086 w 1681719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19" h="1645920">
                  <a:moveTo>
                    <a:pt x="1681719" y="1645920"/>
                  </a:moveTo>
                  <a:lnTo>
                    <a:pt x="0" y="1645920"/>
                  </a:lnTo>
                  <a:lnTo>
                    <a:pt x="0" y="1253596"/>
                  </a:lnTo>
                  <a:lnTo>
                    <a:pt x="727086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1">
              <a:extLst>
                <a:ext uri="{FF2B5EF4-FFF2-40B4-BE49-F238E27FC236}">
                  <a16:creationId xmlns:a16="http://schemas.microsoft.com/office/drawing/2014/main" id="{8A1619E6-15C4-6BE1-B496-C8C4087D37B3}"/>
                </a:ext>
              </a:extLst>
            </p:cNvPr>
            <p:cNvSpPr/>
            <p:nvPr/>
          </p:nvSpPr>
          <p:spPr>
            <a:xfrm>
              <a:off x="10510280" y="1783080"/>
              <a:ext cx="1681720" cy="1645920"/>
            </a:xfrm>
            <a:custGeom>
              <a:avLst/>
              <a:gdLst>
                <a:gd name="connsiteX0" fmla="*/ 954634 w 1681720"/>
                <a:gd name="connsiteY0" fmla="*/ 0 h 1645920"/>
                <a:gd name="connsiteX1" fmla="*/ 1681720 w 1681720"/>
                <a:gd name="connsiteY1" fmla="*/ 1253598 h 1645920"/>
                <a:gd name="connsiteX2" fmla="*/ 1681720 w 1681720"/>
                <a:gd name="connsiteY2" fmla="*/ 1645920 h 1645920"/>
                <a:gd name="connsiteX3" fmla="*/ 0 w 1681720"/>
                <a:gd name="connsiteY3" fmla="*/ 164592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0" h="1645920">
                  <a:moveTo>
                    <a:pt x="954634" y="0"/>
                  </a:moveTo>
                  <a:lnTo>
                    <a:pt x="1681720" y="1253598"/>
                  </a:lnTo>
                  <a:lnTo>
                    <a:pt x="1681720" y="1645920"/>
                  </a:lnTo>
                  <a:lnTo>
                    <a:pt x="0" y="164592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7AA0D536-69A1-55DD-9673-8CD1392F1F93}"/>
                </a:ext>
              </a:extLst>
            </p:cNvPr>
            <p:cNvSpPr/>
            <p:nvPr/>
          </p:nvSpPr>
          <p:spPr>
            <a:xfrm>
              <a:off x="8600991" y="5078022"/>
              <a:ext cx="1909281" cy="1645933"/>
            </a:xfrm>
            <a:prstGeom prst="triangle">
              <a:avLst/>
            </a:prstGeom>
            <a:solidFill>
              <a:srgbClr val="A5CFE5">
                <a:alpha val="52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59">
              <a:extLst>
                <a:ext uri="{FF2B5EF4-FFF2-40B4-BE49-F238E27FC236}">
                  <a16:creationId xmlns:a16="http://schemas.microsoft.com/office/drawing/2014/main" id="{7802C12A-69E9-1448-EE15-F841D6BD93E3}"/>
                </a:ext>
              </a:extLst>
            </p:cNvPr>
            <p:cNvSpPr/>
            <p:nvPr/>
          </p:nvSpPr>
          <p:spPr>
            <a:xfrm rot="10800000">
              <a:off x="10510279" y="137158"/>
              <a:ext cx="1681721" cy="1645920"/>
            </a:xfrm>
            <a:custGeom>
              <a:avLst/>
              <a:gdLst>
                <a:gd name="connsiteX0" fmla="*/ 1681721 w 1681721"/>
                <a:gd name="connsiteY0" fmla="*/ 1645920 h 1645920"/>
                <a:gd name="connsiteX1" fmla="*/ 0 w 1681721"/>
                <a:gd name="connsiteY1" fmla="*/ 1645920 h 1645920"/>
                <a:gd name="connsiteX2" fmla="*/ 0 w 1681721"/>
                <a:gd name="connsiteY2" fmla="*/ 1253600 h 1645920"/>
                <a:gd name="connsiteX3" fmla="*/ 727088 w 1681721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1" h="1645920">
                  <a:moveTo>
                    <a:pt x="1681721" y="1645920"/>
                  </a:moveTo>
                  <a:lnTo>
                    <a:pt x="0" y="1645920"/>
                  </a:lnTo>
                  <a:lnTo>
                    <a:pt x="0" y="1253600"/>
                  </a:lnTo>
                  <a:lnTo>
                    <a:pt x="727088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EEDC13E3-857D-9477-9A00-B7C954E0AC1E}"/>
                </a:ext>
              </a:extLst>
            </p:cNvPr>
            <p:cNvSpPr/>
            <p:nvPr/>
          </p:nvSpPr>
          <p:spPr>
            <a:xfrm>
              <a:off x="9555645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3C6960FF-CC09-D03C-C61C-F5741BB75C4C}"/>
                </a:ext>
              </a:extLst>
            </p:cNvPr>
            <p:cNvSpPr/>
            <p:nvPr/>
          </p:nvSpPr>
          <p:spPr>
            <a:xfrm rot="10800000">
              <a:off x="7646375" y="507491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D8780EE4-F102-86AE-915C-F1D31221FBA6}"/>
                </a:ext>
              </a:extLst>
            </p:cNvPr>
            <p:cNvSpPr/>
            <p:nvPr/>
          </p:nvSpPr>
          <p:spPr>
            <a:xfrm>
              <a:off x="6691725" y="5074928"/>
              <a:ext cx="1909257" cy="1645912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4AD46960-71A4-3933-082F-D1D7A731CAB4}"/>
                </a:ext>
              </a:extLst>
            </p:cNvPr>
            <p:cNvSpPr/>
            <p:nvPr/>
          </p:nvSpPr>
          <p:spPr>
            <a:xfrm rot="10800000">
              <a:off x="9555641" y="507492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6CE690BD-E8D7-63B2-CDBA-B97ABCE27BB2}"/>
                </a:ext>
              </a:extLst>
            </p:cNvPr>
            <p:cNvSpPr/>
            <p:nvPr/>
          </p:nvSpPr>
          <p:spPr>
            <a:xfrm rot="10800000">
              <a:off x="9555641" y="1783080"/>
              <a:ext cx="1909267" cy="1645920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8478488D-C75B-8AA0-1212-3EB75DDED060}"/>
                </a:ext>
              </a:extLst>
            </p:cNvPr>
            <p:cNvSpPr/>
            <p:nvPr/>
          </p:nvSpPr>
          <p:spPr>
            <a:xfrm>
              <a:off x="7646348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FF7449A-314E-5C57-F859-90CA12069C4B}"/>
                </a:ext>
              </a:extLst>
            </p:cNvPr>
            <p:cNvCxnSpPr/>
            <p:nvPr/>
          </p:nvCxnSpPr>
          <p:spPr>
            <a:xfrm flipH="1">
              <a:off x="7285065" y="765802"/>
              <a:ext cx="954634" cy="1645920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828331CF-1B86-37A6-59E9-35F2A6168356}"/>
                </a:ext>
              </a:extLst>
            </p:cNvPr>
            <p:cNvCxnSpPr/>
            <p:nvPr/>
          </p:nvCxnSpPr>
          <p:spPr>
            <a:xfrm flipH="1">
              <a:off x="1262392" y="2984043"/>
              <a:ext cx="304858" cy="525617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1671D9C6-1754-60FA-36DF-B14BEC9E0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t="24590"/>
            <a:stretch>
              <a:fillRect/>
            </a:stretch>
          </p:blipFill>
          <p:spPr>
            <a:xfrm>
              <a:off x="966539" y="1"/>
              <a:ext cx="3127519" cy="2032061"/>
            </a:xfrm>
            <a:custGeom>
              <a:avLst/>
              <a:gdLst>
                <a:gd name="connsiteX0" fmla="*/ 0 w 3127519"/>
                <a:gd name="connsiteY0" fmla="*/ 0 h 2032061"/>
                <a:gd name="connsiteX1" fmla="*/ 3127519 w 3127519"/>
                <a:gd name="connsiteY1" fmla="*/ 0 h 2032061"/>
                <a:gd name="connsiteX2" fmla="*/ 3127519 w 3127519"/>
                <a:gd name="connsiteY2" fmla="*/ 2032061 h 2032061"/>
                <a:gd name="connsiteX3" fmla="*/ 0 w 3127519"/>
                <a:gd name="connsiteY3" fmla="*/ 2032061 h 2032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27519" h="2032061">
                  <a:moveTo>
                    <a:pt x="0" y="0"/>
                  </a:moveTo>
                  <a:lnTo>
                    <a:pt x="3127519" y="0"/>
                  </a:lnTo>
                  <a:lnTo>
                    <a:pt x="3127519" y="2032061"/>
                  </a:lnTo>
                  <a:lnTo>
                    <a:pt x="0" y="2032061"/>
                  </a:lnTo>
                  <a:close/>
                </a:path>
              </a:pathLst>
            </a:cu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9D5D426-3CA5-F53E-2381-44C244ACB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 b="18265"/>
            <a:stretch>
              <a:fillRect/>
            </a:stretch>
          </p:blipFill>
          <p:spPr>
            <a:xfrm>
              <a:off x="16550" y="4281805"/>
              <a:ext cx="2975106" cy="2576195"/>
            </a:xfrm>
            <a:custGeom>
              <a:avLst/>
              <a:gdLst>
                <a:gd name="connsiteX0" fmla="*/ 0 w 2975106"/>
                <a:gd name="connsiteY0" fmla="*/ 0 h 2576195"/>
                <a:gd name="connsiteX1" fmla="*/ 2975106 w 2975106"/>
                <a:gd name="connsiteY1" fmla="*/ 0 h 2576195"/>
                <a:gd name="connsiteX2" fmla="*/ 2975106 w 2975106"/>
                <a:gd name="connsiteY2" fmla="*/ 2576195 h 2576195"/>
                <a:gd name="connsiteX3" fmla="*/ 0 w 2975106"/>
                <a:gd name="connsiteY3" fmla="*/ 2576195 h 2576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5106" h="2576195">
                  <a:moveTo>
                    <a:pt x="0" y="0"/>
                  </a:moveTo>
                  <a:lnTo>
                    <a:pt x="2975106" y="0"/>
                  </a:lnTo>
                  <a:lnTo>
                    <a:pt x="2975106" y="2576195"/>
                  </a:lnTo>
                  <a:lnTo>
                    <a:pt x="0" y="2576195"/>
                  </a:lnTo>
                  <a:close/>
                </a:path>
              </a:pathLst>
            </a:custGeom>
          </p:spPr>
        </p:pic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D5174B9A-BDAB-F599-28B1-EB6E6E4D70EC}"/>
              </a:ext>
            </a:extLst>
          </p:cNvPr>
          <p:cNvSpPr txBox="1"/>
          <p:nvPr/>
        </p:nvSpPr>
        <p:spPr>
          <a:xfrm>
            <a:off x="1681719" y="2825776"/>
            <a:ext cx="83688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幼圆" panose="02010509060101010101" pitchFamily="49" charset="-122"/>
                <a:ea typeface="幼圆" panose="02010509060101010101" pitchFamily="49" charset="-122"/>
              </a:rPr>
              <a:t>课题背景与意义</a:t>
            </a:r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B9C8BD2F-ED64-D4DA-4D07-A86BF43C0CCD}"/>
              </a:ext>
            </a:extLst>
          </p:cNvPr>
          <p:cNvSpPr/>
          <p:nvPr/>
        </p:nvSpPr>
        <p:spPr>
          <a:xfrm rot="17411441">
            <a:off x="7844103" y="2828446"/>
            <a:ext cx="157387" cy="397133"/>
          </a:xfrm>
          <a:prstGeom prst="triangle">
            <a:avLst/>
          </a:pr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F04D3DF5-D9C1-A138-198B-F0A5A23763CD}"/>
              </a:ext>
            </a:extLst>
          </p:cNvPr>
          <p:cNvSpPr/>
          <p:nvPr/>
        </p:nvSpPr>
        <p:spPr>
          <a:xfrm rot="13615302">
            <a:off x="7593454" y="2603404"/>
            <a:ext cx="105790" cy="511888"/>
          </a:xfrm>
          <a:prstGeom prst="triangle">
            <a:avLst/>
          </a:prstGeom>
          <a:solidFill>
            <a:srgbClr val="A5CF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DD1AFBD-F01C-9E3F-9AF4-EFED84B313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6785FF55-422B-3ABD-9714-F9F17C4C0005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E928EE5D-EEF8-1026-107C-D1C8F56BAF3F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8595601E-B4DE-972A-28C8-924A46A9B7AF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5E4C1F87-AE39-FCFD-442D-695284E1CACF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752092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" name="等腰三角形 2"/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课题背景与意义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3654" y="1420611"/>
            <a:ext cx="2749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课题背景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FCCCB6-AE60-196F-07DB-BFEA306692EE}"/>
              </a:ext>
            </a:extLst>
          </p:cNvPr>
          <p:cNvSpPr txBox="1"/>
          <p:nvPr/>
        </p:nvSpPr>
        <p:spPr>
          <a:xfrm>
            <a:off x="1074861" y="1974681"/>
            <a:ext cx="6097464" cy="1139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dirty="0"/>
              <a:t>当前，互联网已经成为金融产品推广和营销的主战场。从微信朋友圈的理财广告，到抖音快手上的投资大师，再到各类论坛中的</a:t>
            </a:r>
            <a:r>
              <a:rPr lang="en-US" altLang="zh-CN" dirty="0"/>
              <a:t>"</a:t>
            </a:r>
            <a:r>
              <a:rPr lang="zh-CN" altLang="zh-CN" dirty="0"/>
              <a:t>内幕消息</a:t>
            </a:r>
            <a:r>
              <a:rPr lang="en-US" altLang="zh-CN" dirty="0"/>
              <a:t>"</a:t>
            </a:r>
            <a:r>
              <a:rPr lang="zh-CN" altLang="zh-CN" dirty="0"/>
              <a:t>，金融信息无处不在。</a:t>
            </a:r>
            <a:endParaRPr lang="en-US" altLang="zh-CN" sz="16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770A7BDC-8DF3-6AA1-CCB6-BABADABA5586}"/>
              </a:ext>
            </a:extLst>
          </p:cNvPr>
          <p:cNvSpPr/>
          <p:nvPr/>
        </p:nvSpPr>
        <p:spPr>
          <a:xfrm>
            <a:off x="1823685" y="5716499"/>
            <a:ext cx="4000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0F2F5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理财广告</a:t>
            </a:r>
            <a:endParaRPr lang="en-US" sz="1600" dirty="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FB8045DD-4EE4-E78A-180E-CCAFEB5C59AF}"/>
              </a:ext>
            </a:extLst>
          </p:cNvPr>
          <p:cNvSpPr/>
          <p:nvPr/>
        </p:nvSpPr>
        <p:spPr>
          <a:xfrm>
            <a:off x="8120922" y="5810301"/>
            <a:ext cx="4000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0F2F5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投资大师</a:t>
            </a:r>
            <a:endParaRPr 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5F887FC-E63F-8A6B-C405-92C7FEF661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685" y="3429000"/>
            <a:ext cx="4205378" cy="210268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47C8871-19DD-A2D4-4D4E-F74083C21A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266" y="984840"/>
            <a:ext cx="2681450" cy="463853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B1976C8A-E06E-CB95-2A6B-58F724AD8432}"/>
              </a:ext>
            </a:extLst>
          </p:cNvPr>
          <p:cNvSpPr/>
          <p:nvPr/>
        </p:nvSpPr>
        <p:spPr>
          <a:xfrm>
            <a:off x="-412781" y="2750038"/>
            <a:ext cx="3492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zh-CN" altLang="en-US" sz="3600" b="1" dirty="0">
                <a:solidFill>
                  <a:srgbClr val="4A89D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虚假宣传</a:t>
            </a:r>
            <a:endParaRPr lang="en-US" sz="36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86A79BF-637F-F8E7-9BF8-2BCDA1BA00CD}"/>
              </a:ext>
            </a:extLst>
          </p:cNvPr>
          <p:cNvSpPr/>
          <p:nvPr/>
        </p:nvSpPr>
        <p:spPr>
          <a:xfrm>
            <a:off x="5230526" y="2560515"/>
            <a:ext cx="0" cy="965200"/>
          </a:xfrm>
          <a:prstGeom prst="line">
            <a:avLst/>
          </a:prstGeom>
          <a:noFill/>
          <a:ln w="20320">
            <a:solidFill>
              <a:srgbClr val="81B0E9"/>
            </a:solidFill>
            <a:prstDash val="solid"/>
            <a:headEnd type="none"/>
            <a:tailEnd type="none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D1891BF-F39F-073C-C504-FC1BC197246E}"/>
              </a:ext>
            </a:extLst>
          </p:cNvPr>
          <p:cNvSpPr/>
          <p:nvPr/>
        </p:nvSpPr>
        <p:spPr>
          <a:xfrm>
            <a:off x="2557664" y="2546838"/>
            <a:ext cx="0" cy="965200"/>
          </a:xfrm>
          <a:prstGeom prst="line">
            <a:avLst/>
          </a:prstGeom>
          <a:noFill/>
          <a:ln w="20320">
            <a:solidFill>
              <a:srgbClr val="81B0E9"/>
            </a:solidFill>
            <a:prstDash val="solid"/>
            <a:headEnd type="none"/>
            <a:tailEnd type="none"/>
          </a:ln>
        </p:spPr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E739C2E-47D0-EB1D-7FDA-A4EE9088DEE4}"/>
              </a:ext>
            </a:extLst>
          </p:cNvPr>
          <p:cNvSpPr/>
          <p:nvPr/>
        </p:nvSpPr>
        <p:spPr>
          <a:xfrm>
            <a:off x="2110551" y="2750038"/>
            <a:ext cx="34417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zh-CN" altLang="en-US" sz="3600" b="1" dirty="0">
                <a:solidFill>
                  <a:srgbClr val="4A89D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非法集资</a:t>
            </a:r>
            <a:endParaRPr lang="en-US" sz="36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46D8565-5005-7610-26C9-77BE8EBFE545}"/>
              </a:ext>
            </a:extLst>
          </p:cNvPr>
          <p:cNvSpPr/>
          <p:nvPr/>
        </p:nvSpPr>
        <p:spPr>
          <a:xfrm>
            <a:off x="5276389" y="2878071"/>
            <a:ext cx="2381931" cy="473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zh-CN" altLang="en-US" sz="3600" b="1" dirty="0">
                <a:solidFill>
                  <a:srgbClr val="4A89D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庞氏骗局</a:t>
            </a:r>
            <a:endParaRPr lang="en-US" sz="36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4C75F371-DE28-E91E-24D1-7C9A8C28083C}"/>
              </a:ext>
            </a:extLst>
          </p:cNvPr>
          <p:cNvSpPr/>
          <p:nvPr/>
        </p:nvSpPr>
        <p:spPr>
          <a:xfrm>
            <a:off x="569362" y="3985774"/>
            <a:ext cx="6770915" cy="1787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b="1" dirty="0">
                <a:ea typeface="MiSans"/>
              </a:rPr>
              <a:t>         </a:t>
            </a:r>
            <a:r>
              <a:rPr lang="zh-CN" altLang="zh-CN" dirty="0">
                <a:ea typeface="MiSans"/>
              </a:rPr>
              <a:t>网络金融舆情具有</a:t>
            </a:r>
            <a:r>
              <a:rPr lang="zh-CN" altLang="zh-CN" b="1" dirty="0">
                <a:ea typeface="MiSans"/>
              </a:rPr>
              <a:t>传播速度快、影响范围广、隐蔽性强</a:t>
            </a:r>
            <a:r>
              <a:rPr lang="zh-CN" altLang="zh-CN" dirty="0">
                <a:ea typeface="MiSans"/>
              </a:rPr>
              <a:t>的特点</a:t>
            </a:r>
            <a:r>
              <a:rPr lang="zh-CN" altLang="en-US" dirty="0">
                <a:ea typeface="MiSans"/>
              </a:rPr>
              <a:t>，且</a:t>
            </a:r>
            <a:r>
              <a:rPr lang="zh-CN" altLang="zh-CN" dirty="0">
                <a:ea typeface="MiSans"/>
              </a:rPr>
              <a:t>以多种形式存在：文字帖子，宣传图片，短视频</a:t>
            </a:r>
            <a:r>
              <a:rPr lang="zh-CN" altLang="en-US" dirty="0">
                <a:ea typeface="MiSans"/>
              </a:rPr>
              <a:t>等等</a:t>
            </a:r>
            <a:r>
              <a:rPr lang="zh-CN" altLang="zh-CN" dirty="0">
                <a:ea typeface="MiSans"/>
              </a:rPr>
              <a:t>。单纯依靠</a:t>
            </a:r>
            <a:r>
              <a:rPr lang="zh-CN" altLang="zh-CN" b="1" dirty="0">
                <a:ea typeface="MiSans"/>
              </a:rPr>
              <a:t>关键词过滤</a:t>
            </a:r>
            <a:r>
              <a:rPr lang="zh-CN" altLang="zh-CN" dirty="0">
                <a:ea typeface="MiSans"/>
              </a:rPr>
              <a:t>很难全面识别。 </a:t>
            </a:r>
          </a:p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64F2E634-DB47-D2B7-9F65-29AFD11219D8}"/>
              </a:ext>
            </a:extLst>
          </p:cNvPr>
          <p:cNvSpPr/>
          <p:nvPr/>
        </p:nvSpPr>
        <p:spPr>
          <a:xfrm>
            <a:off x="550100" y="1643256"/>
            <a:ext cx="62425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金融舆情</a:t>
            </a:r>
            <a:r>
              <a:rPr 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</a:t>
            </a:r>
            <a:r>
              <a:rPr lang="en-US" sz="3000" b="1" dirty="0" err="1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看不见的</a:t>
            </a:r>
            <a:r>
              <a:rPr lang="zh-CN" alt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风险</a:t>
            </a:r>
            <a:r>
              <a:rPr lang="en-US" sz="3000" b="1" dirty="0" err="1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黑洞</a:t>
            </a:r>
            <a:endParaRPr lang="en-US" sz="16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D145313-501E-9577-95B6-48C642F46656}"/>
              </a:ext>
            </a:extLst>
          </p:cNvPr>
          <p:cNvSpPr/>
          <p:nvPr/>
        </p:nvSpPr>
        <p:spPr>
          <a:xfrm>
            <a:off x="7939797" y="6113856"/>
            <a:ext cx="4000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0F2F5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庞氏骗局：拆东墙补西墙</a:t>
            </a:r>
            <a:endParaRPr lang="en-US" sz="160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6261369-7308-DAA0-2EC4-EACB6ACB24B8}"/>
              </a:ext>
            </a:extLst>
          </p:cNvPr>
          <p:cNvGrpSpPr/>
          <p:nvPr/>
        </p:nvGrpSpPr>
        <p:grpSpPr>
          <a:xfrm>
            <a:off x="151913" y="94044"/>
            <a:ext cx="11969509" cy="611075"/>
            <a:chOff x="151913" y="94044"/>
            <a:chExt cx="11969509" cy="611075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1295E295-96C2-5C2B-9A67-E3F765925548}"/>
                </a:ext>
              </a:extLst>
            </p:cNvPr>
            <p:cNvGrpSpPr/>
            <p:nvPr/>
          </p:nvGrpSpPr>
          <p:grpSpPr>
            <a:xfrm>
              <a:off x="151913" y="94044"/>
              <a:ext cx="730202" cy="611075"/>
              <a:chOff x="6541454" y="2317292"/>
              <a:chExt cx="730202" cy="611075"/>
            </a:xfrm>
          </p:grpSpPr>
          <p:sp>
            <p:nvSpPr>
              <p:cNvPr id="32" name="等腰三角形 31">
                <a:extLst>
                  <a:ext uri="{FF2B5EF4-FFF2-40B4-BE49-F238E27FC236}">
                    <a16:creationId xmlns:a16="http://schemas.microsoft.com/office/drawing/2014/main" id="{0D709B0A-29DD-32F0-A9EB-E19C45146E9F}"/>
                  </a:ext>
                </a:extLst>
              </p:cNvPr>
              <p:cNvSpPr/>
              <p:nvPr/>
            </p:nvSpPr>
            <p:spPr>
              <a:xfrm flipH="1">
                <a:off x="6646150" y="2389138"/>
                <a:ext cx="625506" cy="539229"/>
              </a:xfrm>
              <a:prstGeom prst="triangle">
                <a:avLst/>
              </a:prstGeom>
              <a:noFill/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等腰三角形 32">
                <a:extLst>
                  <a:ext uri="{FF2B5EF4-FFF2-40B4-BE49-F238E27FC236}">
                    <a16:creationId xmlns:a16="http://schemas.microsoft.com/office/drawing/2014/main" id="{54B6F0A5-0CF9-ED2B-E715-72298C17433A}"/>
                  </a:ext>
                </a:extLst>
              </p:cNvPr>
              <p:cNvSpPr/>
              <p:nvPr/>
            </p:nvSpPr>
            <p:spPr>
              <a:xfrm flipH="1">
                <a:off x="6541454" y="2317292"/>
                <a:ext cx="669894" cy="577495"/>
              </a:xfrm>
              <a:prstGeom prst="triangle">
                <a:avLst/>
              </a:prstGeom>
              <a:solidFill>
                <a:srgbClr val="A5CFE5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38BE35C-C940-DE22-D88C-F10F219C48DF}"/>
                </a:ext>
              </a:extLst>
            </p:cNvPr>
            <p:cNvSpPr txBox="1"/>
            <p:nvPr/>
          </p:nvSpPr>
          <p:spPr>
            <a:xfrm>
              <a:off x="239857" y="226664"/>
              <a:ext cx="620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0" name="矩形 2">
              <a:extLst>
                <a:ext uri="{FF2B5EF4-FFF2-40B4-BE49-F238E27FC236}">
                  <a16:creationId xmlns:a16="http://schemas.microsoft.com/office/drawing/2014/main" id="{90588838-1781-7DBB-5A31-A567E86A7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287" y="209577"/>
              <a:ext cx="405327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课题背景与意义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77341DEC-D640-D4D7-95D9-36B96C2C2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2694" y="94044"/>
              <a:ext cx="2598728" cy="577495"/>
            </a:xfrm>
            <a:prstGeom prst="rect">
              <a:avLst/>
            </a:prstGeom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BAD6983C-A8DB-F545-45CC-34B1BC6EF5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384" y="744144"/>
            <a:ext cx="3992913" cy="521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3192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1308-5F4B-C46B-F293-0F9DA7A9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1030414A-DC42-1E78-29EE-8D5DDD9342B4}"/>
              </a:ext>
            </a:extLst>
          </p:cNvPr>
          <p:cNvSpPr txBox="1"/>
          <p:nvPr/>
        </p:nvSpPr>
        <p:spPr>
          <a:xfrm>
            <a:off x="682667" y="1214941"/>
            <a:ext cx="5578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课题背景：多模态技术取得长足进步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1906B26-5F6B-F51E-B24F-26992A094D5B}"/>
              </a:ext>
            </a:extLst>
          </p:cNvPr>
          <p:cNvGrpSpPr/>
          <p:nvPr/>
        </p:nvGrpSpPr>
        <p:grpSpPr>
          <a:xfrm>
            <a:off x="151913" y="94044"/>
            <a:ext cx="11969509" cy="611075"/>
            <a:chOff x="151913" y="94044"/>
            <a:chExt cx="11969509" cy="611075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A1150EC9-96E7-0547-F820-7A42EA7CFF07}"/>
                </a:ext>
              </a:extLst>
            </p:cNvPr>
            <p:cNvGrpSpPr/>
            <p:nvPr/>
          </p:nvGrpSpPr>
          <p:grpSpPr>
            <a:xfrm>
              <a:off x="151913" y="94044"/>
              <a:ext cx="730202" cy="611075"/>
              <a:chOff x="6541454" y="2317292"/>
              <a:chExt cx="730202" cy="611075"/>
            </a:xfrm>
          </p:grpSpPr>
          <p:sp>
            <p:nvSpPr>
              <p:cNvPr id="3" name="等腰三角形 2">
                <a:extLst>
                  <a:ext uri="{FF2B5EF4-FFF2-40B4-BE49-F238E27FC236}">
                    <a16:creationId xmlns:a16="http://schemas.microsoft.com/office/drawing/2014/main" id="{0374D21B-7D47-E19D-ACF2-9BB4301EBDA3}"/>
                  </a:ext>
                </a:extLst>
              </p:cNvPr>
              <p:cNvSpPr/>
              <p:nvPr/>
            </p:nvSpPr>
            <p:spPr>
              <a:xfrm flipH="1">
                <a:off x="6646150" y="2389138"/>
                <a:ext cx="625506" cy="539229"/>
              </a:xfrm>
              <a:prstGeom prst="triangle">
                <a:avLst/>
              </a:prstGeom>
              <a:noFill/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等腰三角形 3">
                <a:extLst>
                  <a:ext uri="{FF2B5EF4-FFF2-40B4-BE49-F238E27FC236}">
                    <a16:creationId xmlns:a16="http://schemas.microsoft.com/office/drawing/2014/main" id="{B21054C9-F72B-825F-516E-8CE73AE519BC}"/>
                  </a:ext>
                </a:extLst>
              </p:cNvPr>
              <p:cNvSpPr/>
              <p:nvPr/>
            </p:nvSpPr>
            <p:spPr>
              <a:xfrm flipH="1">
                <a:off x="6541454" y="2317292"/>
                <a:ext cx="669894" cy="577495"/>
              </a:xfrm>
              <a:prstGeom prst="triangle">
                <a:avLst/>
              </a:prstGeom>
              <a:solidFill>
                <a:srgbClr val="A5CFE5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186C479-5FF1-3830-6DD2-A2E82CD156A7}"/>
                </a:ext>
              </a:extLst>
            </p:cNvPr>
            <p:cNvSpPr txBox="1"/>
            <p:nvPr/>
          </p:nvSpPr>
          <p:spPr>
            <a:xfrm>
              <a:off x="239857" y="226664"/>
              <a:ext cx="620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7" name="矩形 2">
              <a:extLst>
                <a:ext uri="{FF2B5EF4-FFF2-40B4-BE49-F238E27FC236}">
                  <a16:creationId xmlns:a16="http://schemas.microsoft.com/office/drawing/2014/main" id="{0D54EF8C-0BB6-2C99-3732-CA00FE36F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287" y="209577"/>
              <a:ext cx="405327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课题背景与意义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919E3678-6FF2-30E7-D7A8-8E35D5AC8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2694" y="94044"/>
              <a:ext cx="2598728" cy="577495"/>
            </a:xfrm>
            <a:prstGeom prst="rect">
              <a:avLst/>
            </a:prstGeom>
          </p:spPr>
        </p:pic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2B9F6D4-D418-C95E-73A6-90847D29C6C5}"/>
              </a:ext>
            </a:extLst>
          </p:cNvPr>
          <p:cNvGrpSpPr/>
          <p:nvPr/>
        </p:nvGrpSpPr>
        <p:grpSpPr>
          <a:xfrm>
            <a:off x="682667" y="2045330"/>
            <a:ext cx="5181600" cy="1540562"/>
            <a:chOff x="254000" y="3327400"/>
            <a:chExt cx="5181600" cy="1445505"/>
          </a:xfrm>
        </p:grpSpPr>
        <p:sp>
          <p:nvSpPr>
            <p:cNvPr id="14" name="Shape 2">
              <a:extLst>
                <a:ext uri="{FF2B5EF4-FFF2-40B4-BE49-F238E27FC236}">
                  <a16:creationId xmlns:a16="http://schemas.microsoft.com/office/drawing/2014/main" id="{52E9DAFA-DECF-02DD-C953-F4839C626969}"/>
                </a:ext>
              </a:extLst>
            </p:cNvPr>
            <p:cNvSpPr/>
            <p:nvPr/>
          </p:nvSpPr>
          <p:spPr>
            <a:xfrm>
              <a:off x="254000" y="33274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lnTo>
                    <a:pt x="254000" y="0"/>
                  </a:lnTo>
                  <a:cubicBezTo>
                    <a:pt x="394186" y="0"/>
                    <a:pt x="508000" y="113814"/>
                    <a:pt x="508000" y="254000"/>
                  </a:cubicBezTo>
                  <a:lnTo>
                    <a:pt x="508000" y="254000"/>
                  </a:lnTo>
                  <a:cubicBezTo>
                    <a:pt x="508000" y="394186"/>
                    <a:pt x="394186" y="508000"/>
                    <a:pt x="254000" y="508000"/>
                  </a:cubicBezTo>
                  <a:lnTo>
                    <a:pt x="254000" y="508000"/>
                  </a:lnTo>
                  <a:cubicBezTo>
                    <a:pt x="113814" y="508000"/>
                    <a:pt x="0" y="394186"/>
                    <a:pt x="0" y="254000"/>
                  </a:cubicBezTo>
                  <a:lnTo>
                    <a:pt x="0" y="254000"/>
                  </a:lnTo>
                  <a:cubicBezTo>
                    <a:pt x="0" y="113814"/>
                    <a:pt x="113814" y="0"/>
                    <a:pt x="254000" y="0"/>
                  </a:cubicBezTo>
                  <a:close/>
                </a:path>
              </a:pathLst>
            </a:custGeom>
            <a:solidFill>
              <a:srgbClr val="4A89DC"/>
            </a:solidFill>
          </p:spPr>
        </p:sp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2195CC5F-3086-8AD2-001E-34D43A125F20}"/>
                </a:ext>
              </a:extLst>
            </p:cNvPr>
            <p:cNvSpPr/>
            <p:nvPr/>
          </p:nvSpPr>
          <p:spPr>
            <a:xfrm>
              <a:off x="406400" y="347980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69850" y="9525"/>
                  </a:moveTo>
                  <a:cubicBezTo>
                    <a:pt x="69850" y="4247"/>
                    <a:pt x="65603" y="0"/>
                    <a:pt x="60325" y="0"/>
                  </a:cubicBezTo>
                  <a:cubicBezTo>
                    <a:pt x="55047" y="0"/>
                    <a:pt x="50800" y="4247"/>
                    <a:pt x="50800" y="9525"/>
                  </a:cubicBezTo>
                  <a:lnTo>
                    <a:pt x="50800" y="25400"/>
                  </a:lnTo>
                  <a:cubicBezTo>
                    <a:pt x="36790" y="25400"/>
                    <a:pt x="25400" y="36790"/>
                    <a:pt x="25400" y="50800"/>
                  </a:cubicBezTo>
                  <a:lnTo>
                    <a:pt x="9525" y="50800"/>
                  </a:lnTo>
                  <a:cubicBezTo>
                    <a:pt x="4247" y="50800"/>
                    <a:pt x="0" y="55047"/>
                    <a:pt x="0" y="60325"/>
                  </a:cubicBezTo>
                  <a:cubicBezTo>
                    <a:pt x="0" y="65603"/>
                    <a:pt x="4247" y="69850"/>
                    <a:pt x="9525" y="69850"/>
                  </a:cubicBezTo>
                  <a:lnTo>
                    <a:pt x="25400" y="69850"/>
                  </a:lnTo>
                  <a:lnTo>
                    <a:pt x="25400" y="92075"/>
                  </a:lnTo>
                  <a:lnTo>
                    <a:pt x="9525" y="92075"/>
                  </a:lnTo>
                  <a:cubicBezTo>
                    <a:pt x="4247" y="92075"/>
                    <a:pt x="0" y="96322"/>
                    <a:pt x="0" y="101600"/>
                  </a:cubicBezTo>
                  <a:cubicBezTo>
                    <a:pt x="0" y="106878"/>
                    <a:pt x="4247" y="111125"/>
                    <a:pt x="9525" y="111125"/>
                  </a:cubicBezTo>
                  <a:lnTo>
                    <a:pt x="25400" y="111125"/>
                  </a:lnTo>
                  <a:lnTo>
                    <a:pt x="25400" y="133350"/>
                  </a:lnTo>
                  <a:lnTo>
                    <a:pt x="9525" y="133350"/>
                  </a:lnTo>
                  <a:cubicBezTo>
                    <a:pt x="4247" y="133350"/>
                    <a:pt x="0" y="137597"/>
                    <a:pt x="0" y="142875"/>
                  </a:cubicBezTo>
                  <a:cubicBezTo>
                    <a:pt x="0" y="148153"/>
                    <a:pt x="4247" y="152400"/>
                    <a:pt x="9525" y="152400"/>
                  </a:cubicBezTo>
                  <a:lnTo>
                    <a:pt x="25400" y="152400"/>
                  </a:lnTo>
                  <a:cubicBezTo>
                    <a:pt x="25400" y="166410"/>
                    <a:pt x="36790" y="177800"/>
                    <a:pt x="50800" y="177800"/>
                  </a:cubicBezTo>
                  <a:lnTo>
                    <a:pt x="50800" y="193675"/>
                  </a:lnTo>
                  <a:cubicBezTo>
                    <a:pt x="50800" y="198953"/>
                    <a:pt x="55047" y="203200"/>
                    <a:pt x="60325" y="203200"/>
                  </a:cubicBezTo>
                  <a:cubicBezTo>
                    <a:pt x="65603" y="203200"/>
                    <a:pt x="69850" y="198953"/>
                    <a:pt x="69850" y="193675"/>
                  </a:cubicBezTo>
                  <a:lnTo>
                    <a:pt x="69850" y="177800"/>
                  </a:lnTo>
                  <a:lnTo>
                    <a:pt x="92075" y="177800"/>
                  </a:lnTo>
                  <a:lnTo>
                    <a:pt x="92075" y="193675"/>
                  </a:lnTo>
                  <a:cubicBezTo>
                    <a:pt x="92075" y="198953"/>
                    <a:pt x="96322" y="203200"/>
                    <a:pt x="101600" y="203200"/>
                  </a:cubicBezTo>
                  <a:cubicBezTo>
                    <a:pt x="106878" y="203200"/>
                    <a:pt x="111125" y="198953"/>
                    <a:pt x="111125" y="193675"/>
                  </a:cubicBezTo>
                  <a:lnTo>
                    <a:pt x="111125" y="177800"/>
                  </a:lnTo>
                  <a:lnTo>
                    <a:pt x="133350" y="177800"/>
                  </a:lnTo>
                  <a:lnTo>
                    <a:pt x="133350" y="193675"/>
                  </a:lnTo>
                  <a:cubicBezTo>
                    <a:pt x="133350" y="198953"/>
                    <a:pt x="137597" y="203200"/>
                    <a:pt x="142875" y="203200"/>
                  </a:cubicBezTo>
                  <a:cubicBezTo>
                    <a:pt x="148153" y="203200"/>
                    <a:pt x="152400" y="198953"/>
                    <a:pt x="152400" y="193675"/>
                  </a:cubicBezTo>
                  <a:lnTo>
                    <a:pt x="152400" y="177800"/>
                  </a:lnTo>
                  <a:cubicBezTo>
                    <a:pt x="166410" y="177800"/>
                    <a:pt x="177800" y="166410"/>
                    <a:pt x="177800" y="152400"/>
                  </a:cubicBezTo>
                  <a:lnTo>
                    <a:pt x="193675" y="152400"/>
                  </a:lnTo>
                  <a:cubicBezTo>
                    <a:pt x="198953" y="152400"/>
                    <a:pt x="203200" y="148153"/>
                    <a:pt x="203200" y="142875"/>
                  </a:cubicBezTo>
                  <a:cubicBezTo>
                    <a:pt x="203200" y="137597"/>
                    <a:pt x="198953" y="133350"/>
                    <a:pt x="193675" y="133350"/>
                  </a:cubicBezTo>
                  <a:lnTo>
                    <a:pt x="177800" y="133350"/>
                  </a:lnTo>
                  <a:lnTo>
                    <a:pt x="177800" y="111125"/>
                  </a:lnTo>
                  <a:lnTo>
                    <a:pt x="193675" y="111125"/>
                  </a:lnTo>
                  <a:cubicBezTo>
                    <a:pt x="198953" y="111125"/>
                    <a:pt x="203200" y="106878"/>
                    <a:pt x="203200" y="101600"/>
                  </a:cubicBezTo>
                  <a:cubicBezTo>
                    <a:pt x="203200" y="96322"/>
                    <a:pt x="198953" y="92075"/>
                    <a:pt x="193675" y="92075"/>
                  </a:cubicBezTo>
                  <a:lnTo>
                    <a:pt x="177800" y="92075"/>
                  </a:lnTo>
                  <a:lnTo>
                    <a:pt x="177800" y="69850"/>
                  </a:lnTo>
                  <a:lnTo>
                    <a:pt x="193675" y="69850"/>
                  </a:lnTo>
                  <a:cubicBezTo>
                    <a:pt x="198953" y="69850"/>
                    <a:pt x="203200" y="65603"/>
                    <a:pt x="203200" y="60325"/>
                  </a:cubicBezTo>
                  <a:cubicBezTo>
                    <a:pt x="203200" y="55047"/>
                    <a:pt x="198953" y="50800"/>
                    <a:pt x="193675" y="50800"/>
                  </a:cubicBezTo>
                  <a:lnTo>
                    <a:pt x="177800" y="50800"/>
                  </a:lnTo>
                  <a:cubicBezTo>
                    <a:pt x="177800" y="36790"/>
                    <a:pt x="166410" y="25400"/>
                    <a:pt x="152400" y="25400"/>
                  </a:cubicBezTo>
                  <a:lnTo>
                    <a:pt x="152400" y="9525"/>
                  </a:lnTo>
                  <a:cubicBezTo>
                    <a:pt x="152400" y="4247"/>
                    <a:pt x="148153" y="0"/>
                    <a:pt x="142875" y="0"/>
                  </a:cubicBezTo>
                  <a:cubicBezTo>
                    <a:pt x="137597" y="0"/>
                    <a:pt x="133350" y="4247"/>
                    <a:pt x="133350" y="9525"/>
                  </a:cubicBezTo>
                  <a:lnTo>
                    <a:pt x="133350" y="25400"/>
                  </a:lnTo>
                  <a:lnTo>
                    <a:pt x="111125" y="25400"/>
                  </a:lnTo>
                  <a:lnTo>
                    <a:pt x="111125" y="9525"/>
                  </a:lnTo>
                  <a:cubicBezTo>
                    <a:pt x="111125" y="4247"/>
                    <a:pt x="106878" y="0"/>
                    <a:pt x="101600" y="0"/>
                  </a:cubicBezTo>
                  <a:cubicBezTo>
                    <a:pt x="96322" y="0"/>
                    <a:pt x="92075" y="4247"/>
                    <a:pt x="92075" y="9525"/>
                  </a:cubicBezTo>
                  <a:lnTo>
                    <a:pt x="92075" y="25400"/>
                  </a:lnTo>
                  <a:lnTo>
                    <a:pt x="69850" y="25400"/>
                  </a:lnTo>
                  <a:lnTo>
                    <a:pt x="69850" y="9525"/>
                  </a:lnTo>
                  <a:close/>
                  <a:moveTo>
                    <a:pt x="63500" y="50800"/>
                  </a:moveTo>
                  <a:lnTo>
                    <a:pt x="139700" y="50800"/>
                  </a:lnTo>
                  <a:cubicBezTo>
                    <a:pt x="146725" y="50800"/>
                    <a:pt x="152400" y="56475"/>
                    <a:pt x="152400" y="63500"/>
                  </a:cubicBezTo>
                  <a:lnTo>
                    <a:pt x="152400" y="139700"/>
                  </a:lnTo>
                  <a:cubicBezTo>
                    <a:pt x="152400" y="146725"/>
                    <a:pt x="146725" y="152400"/>
                    <a:pt x="139700" y="152400"/>
                  </a:cubicBezTo>
                  <a:lnTo>
                    <a:pt x="63500" y="152400"/>
                  </a:lnTo>
                  <a:cubicBezTo>
                    <a:pt x="56475" y="152400"/>
                    <a:pt x="50800" y="146725"/>
                    <a:pt x="50800" y="139700"/>
                  </a:cubicBezTo>
                  <a:lnTo>
                    <a:pt x="50800" y="63500"/>
                  </a:lnTo>
                  <a:cubicBezTo>
                    <a:pt x="50800" y="56475"/>
                    <a:pt x="56475" y="50800"/>
                    <a:pt x="63500" y="50800"/>
                  </a:cubicBezTo>
                  <a:close/>
                  <a:moveTo>
                    <a:pt x="69850" y="69850"/>
                  </a:moveTo>
                  <a:lnTo>
                    <a:pt x="69850" y="133350"/>
                  </a:lnTo>
                  <a:lnTo>
                    <a:pt x="133350" y="133350"/>
                  </a:lnTo>
                  <a:lnTo>
                    <a:pt x="133350" y="69850"/>
                  </a:lnTo>
                  <a:lnTo>
                    <a:pt x="69850" y="698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0502FFA9-F384-F40E-DE25-08D0EB51C070}"/>
                </a:ext>
              </a:extLst>
            </p:cNvPr>
            <p:cNvSpPr/>
            <p:nvPr/>
          </p:nvSpPr>
          <p:spPr>
            <a:xfrm>
              <a:off x="914400" y="3327400"/>
              <a:ext cx="35306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600" b="1" dirty="0">
                  <a:solidFill>
                    <a:srgbClr val="4A89D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自然语言处理（</a:t>
              </a:r>
              <a:r>
                <a:rPr lang="en-US" altLang="zh-CN" sz="1600" b="1" dirty="0">
                  <a:solidFill>
                    <a:srgbClr val="4A89D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NPL</a:t>
              </a:r>
              <a:r>
                <a:rPr lang="zh-CN" altLang="en-US" sz="1600" b="1" dirty="0">
                  <a:solidFill>
                    <a:srgbClr val="4A89DC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）</a:t>
              </a:r>
              <a:endParaRPr lang="en-US" sz="1600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E588E2B7-F551-AE46-3C79-59E75267782A}"/>
                </a:ext>
              </a:extLst>
            </p:cNvPr>
            <p:cNvSpPr/>
            <p:nvPr/>
          </p:nvSpPr>
          <p:spPr>
            <a:xfrm>
              <a:off x="914400" y="3641392"/>
              <a:ext cx="3530600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zh-CN" altLang="en-US" sz="1400" dirty="0">
                  <a:solidFill>
                    <a:srgbClr val="0F2F5E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识别文字中的高收益承诺</a:t>
              </a:r>
              <a:endParaRPr lang="en-US" sz="1600" dirty="0"/>
            </a:p>
          </p:txBody>
        </p:sp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77CEC21A-2AF7-7E75-B9F2-D0C963059144}"/>
                </a:ext>
              </a:extLst>
            </p:cNvPr>
            <p:cNvSpPr/>
            <p:nvPr/>
          </p:nvSpPr>
          <p:spPr>
            <a:xfrm>
              <a:off x="254000" y="40894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lnTo>
                    <a:pt x="254000" y="0"/>
                  </a:lnTo>
                  <a:cubicBezTo>
                    <a:pt x="394186" y="0"/>
                    <a:pt x="508000" y="113814"/>
                    <a:pt x="508000" y="254000"/>
                  </a:cubicBezTo>
                  <a:lnTo>
                    <a:pt x="508000" y="254000"/>
                  </a:lnTo>
                  <a:cubicBezTo>
                    <a:pt x="508000" y="394186"/>
                    <a:pt x="394186" y="508000"/>
                    <a:pt x="254000" y="508000"/>
                  </a:cubicBezTo>
                  <a:lnTo>
                    <a:pt x="254000" y="508000"/>
                  </a:lnTo>
                  <a:cubicBezTo>
                    <a:pt x="113814" y="508000"/>
                    <a:pt x="0" y="394186"/>
                    <a:pt x="0" y="254000"/>
                  </a:cubicBezTo>
                  <a:lnTo>
                    <a:pt x="0" y="254000"/>
                  </a:lnTo>
                  <a:cubicBezTo>
                    <a:pt x="0" y="113814"/>
                    <a:pt x="113814" y="0"/>
                    <a:pt x="254000" y="0"/>
                  </a:cubicBezTo>
                  <a:close/>
                </a:path>
              </a:pathLst>
            </a:custGeom>
            <a:solidFill>
              <a:srgbClr val="4A89DC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9" name="Shape 7">
              <a:extLst>
                <a:ext uri="{FF2B5EF4-FFF2-40B4-BE49-F238E27FC236}">
                  <a16:creationId xmlns:a16="http://schemas.microsoft.com/office/drawing/2014/main" id="{82879F29-3F48-6F58-9086-C7AC3AE08C9A}"/>
                </a:ext>
              </a:extLst>
            </p:cNvPr>
            <p:cNvSpPr/>
            <p:nvPr/>
          </p:nvSpPr>
          <p:spPr>
            <a:xfrm>
              <a:off x="393700" y="4241800"/>
              <a:ext cx="228600" cy="203200"/>
            </a:xfrm>
            <a:custGeom>
              <a:avLst/>
              <a:gdLst/>
              <a:ahLst/>
              <a:cxnLst/>
              <a:rect l="l" t="t" r="r" b="b"/>
              <a:pathLst>
                <a:path w="228600" h="203200">
                  <a:moveTo>
                    <a:pt x="114300" y="-6350"/>
                  </a:moveTo>
                  <a:cubicBezTo>
                    <a:pt x="121325" y="-6350"/>
                    <a:pt x="127000" y="-675"/>
                    <a:pt x="127000" y="6350"/>
                  </a:cubicBezTo>
                  <a:lnTo>
                    <a:pt x="127000" y="13613"/>
                  </a:lnTo>
                  <a:cubicBezTo>
                    <a:pt x="165933" y="19169"/>
                    <a:pt x="196731" y="49967"/>
                    <a:pt x="202287" y="88900"/>
                  </a:cubicBezTo>
                  <a:lnTo>
                    <a:pt x="209550" y="88900"/>
                  </a:lnTo>
                  <a:cubicBezTo>
                    <a:pt x="216575" y="88900"/>
                    <a:pt x="222250" y="94575"/>
                    <a:pt x="222250" y="101600"/>
                  </a:cubicBezTo>
                  <a:cubicBezTo>
                    <a:pt x="222250" y="108625"/>
                    <a:pt x="216575" y="114300"/>
                    <a:pt x="209550" y="114300"/>
                  </a:cubicBezTo>
                  <a:lnTo>
                    <a:pt x="202287" y="114300"/>
                  </a:lnTo>
                  <a:cubicBezTo>
                    <a:pt x="196731" y="153233"/>
                    <a:pt x="165933" y="184031"/>
                    <a:pt x="127000" y="189587"/>
                  </a:cubicBezTo>
                  <a:lnTo>
                    <a:pt x="127000" y="196850"/>
                  </a:lnTo>
                  <a:cubicBezTo>
                    <a:pt x="127000" y="203875"/>
                    <a:pt x="121325" y="209550"/>
                    <a:pt x="114300" y="209550"/>
                  </a:cubicBezTo>
                  <a:cubicBezTo>
                    <a:pt x="107275" y="209550"/>
                    <a:pt x="101600" y="203875"/>
                    <a:pt x="101600" y="196850"/>
                  </a:cubicBezTo>
                  <a:lnTo>
                    <a:pt x="101600" y="189587"/>
                  </a:lnTo>
                  <a:cubicBezTo>
                    <a:pt x="62667" y="184031"/>
                    <a:pt x="31869" y="153233"/>
                    <a:pt x="26313" y="114300"/>
                  </a:cubicBezTo>
                  <a:lnTo>
                    <a:pt x="19050" y="114300"/>
                  </a:lnTo>
                  <a:cubicBezTo>
                    <a:pt x="12025" y="114300"/>
                    <a:pt x="6350" y="108625"/>
                    <a:pt x="6350" y="101600"/>
                  </a:cubicBezTo>
                  <a:cubicBezTo>
                    <a:pt x="6350" y="94575"/>
                    <a:pt x="12025" y="88900"/>
                    <a:pt x="19050" y="88900"/>
                  </a:cubicBezTo>
                  <a:lnTo>
                    <a:pt x="26313" y="88900"/>
                  </a:lnTo>
                  <a:cubicBezTo>
                    <a:pt x="31869" y="49967"/>
                    <a:pt x="62667" y="19169"/>
                    <a:pt x="101600" y="13613"/>
                  </a:cubicBezTo>
                  <a:lnTo>
                    <a:pt x="101600" y="6350"/>
                  </a:lnTo>
                  <a:cubicBezTo>
                    <a:pt x="101600" y="-675"/>
                    <a:pt x="107275" y="-6350"/>
                    <a:pt x="114300" y="-6350"/>
                  </a:cubicBezTo>
                  <a:close/>
                  <a:moveTo>
                    <a:pt x="52070" y="114300"/>
                  </a:moveTo>
                  <a:cubicBezTo>
                    <a:pt x="57110" y="139184"/>
                    <a:pt x="76716" y="158790"/>
                    <a:pt x="101600" y="163830"/>
                  </a:cubicBezTo>
                  <a:lnTo>
                    <a:pt x="101600" y="158750"/>
                  </a:lnTo>
                  <a:cubicBezTo>
                    <a:pt x="101600" y="151725"/>
                    <a:pt x="107275" y="146050"/>
                    <a:pt x="114300" y="146050"/>
                  </a:cubicBezTo>
                  <a:cubicBezTo>
                    <a:pt x="121325" y="146050"/>
                    <a:pt x="127000" y="151725"/>
                    <a:pt x="127000" y="158750"/>
                  </a:cubicBezTo>
                  <a:lnTo>
                    <a:pt x="127000" y="163830"/>
                  </a:lnTo>
                  <a:cubicBezTo>
                    <a:pt x="151884" y="158790"/>
                    <a:pt x="171490" y="139184"/>
                    <a:pt x="176530" y="114300"/>
                  </a:cubicBezTo>
                  <a:lnTo>
                    <a:pt x="171450" y="114300"/>
                  </a:lnTo>
                  <a:cubicBezTo>
                    <a:pt x="164425" y="114300"/>
                    <a:pt x="158750" y="108625"/>
                    <a:pt x="158750" y="101600"/>
                  </a:cubicBezTo>
                  <a:cubicBezTo>
                    <a:pt x="158750" y="94575"/>
                    <a:pt x="164425" y="88900"/>
                    <a:pt x="171450" y="88900"/>
                  </a:cubicBezTo>
                  <a:lnTo>
                    <a:pt x="176530" y="88900"/>
                  </a:lnTo>
                  <a:cubicBezTo>
                    <a:pt x="171490" y="64016"/>
                    <a:pt x="151884" y="44410"/>
                    <a:pt x="127000" y="39370"/>
                  </a:cubicBezTo>
                  <a:lnTo>
                    <a:pt x="127000" y="44450"/>
                  </a:lnTo>
                  <a:cubicBezTo>
                    <a:pt x="127000" y="51475"/>
                    <a:pt x="121325" y="57150"/>
                    <a:pt x="114300" y="57150"/>
                  </a:cubicBezTo>
                  <a:cubicBezTo>
                    <a:pt x="107275" y="57150"/>
                    <a:pt x="101600" y="51475"/>
                    <a:pt x="101600" y="44450"/>
                  </a:cubicBezTo>
                  <a:lnTo>
                    <a:pt x="101600" y="39370"/>
                  </a:lnTo>
                  <a:cubicBezTo>
                    <a:pt x="76716" y="44410"/>
                    <a:pt x="57110" y="64016"/>
                    <a:pt x="52070" y="88900"/>
                  </a:cubicBezTo>
                  <a:lnTo>
                    <a:pt x="57150" y="88900"/>
                  </a:lnTo>
                  <a:cubicBezTo>
                    <a:pt x="64175" y="88900"/>
                    <a:pt x="69850" y="94575"/>
                    <a:pt x="69850" y="101600"/>
                  </a:cubicBezTo>
                  <a:cubicBezTo>
                    <a:pt x="69850" y="108625"/>
                    <a:pt x="64175" y="114300"/>
                    <a:pt x="57150" y="114300"/>
                  </a:cubicBezTo>
                  <a:lnTo>
                    <a:pt x="52070" y="114300"/>
                  </a:lnTo>
                  <a:close/>
                  <a:moveTo>
                    <a:pt x="114300" y="82550"/>
                  </a:moveTo>
                  <a:cubicBezTo>
                    <a:pt x="124814" y="82550"/>
                    <a:pt x="133350" y="91086"/>
                    <a:pt x="133350" y="101600"/>
                  </a:cubicBezTo>
                  <a:cubicBezTo>
                    <a:pt x="133350" y="112114"/>
                    <a:pt x="124814" y="120650"/>
                    <a:pt x="114300" y="120650"/>
                  </a:cubicBezTo>
                  <a:cubicBezTo>
                    <a:pt x="103786" y="120650"/>
                    <a:pt x="95250" y="112114"/>
                    <a:pt x="95250" y="101600"/>
                  </a:cubicBezTo>
                  <a:cubicBezTo>
                    <a:pt x="95250" y="91086"/>
                    <a:pt x="103786" y="82550"/>
                    <a:pt x="114300" y="825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851F12DB-7D99-ABDB-F6F6-E5C7CAEFC498}"/>
                </a:ext>
              </a:extLst>
            </p:cNvPr>
            <p:cNvSpPr/>
            <p:nvPr/>
          </p:nvSpPr>
          <p:spPr>
            <a:xfrm>
              <a:off x="914400" y="4089400"/>
              <a:ext cx="45212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600" b="1" dirty="0">
                  <a:solidFill>
                    <a:srgbClr val="4A89CD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图像识别</a:t>
              </a:r>
              <a:endParaRPr lang="en-US" sz="1600" dirty="0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9060C88D-26FE-C54C-1A09-0416B312ADC8}"/>
                </a:ext>
              </a:extLst>
            </p:cNvPr>
            <p:cNvSpPr/>
            <p:nvPr/>
          </p:nvSpPr>
          <p:spPr>
            <a:xfrm>
              <a:off x="901700" y="4306532"/>
              <a:ext cx="4140235" cy="46637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zh-CN" altLang="en-US" sz="1400" dirty="0">
                  <a:solidFill>
                    <a:srgbClr val="0F2F5E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提取图片中的联系方式</a:t>
              </a:r>
              <a:endParaRPr lang="en-US" sz="1600" dirty="0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2853A486-912F-E8AE-DFB9-F315C0849C7C}"/>
              </a:ext>
            </a:extLst>
          </p:cNvPr>
          <p:cNvSpPr txBox="1"/>
          <p:nvPr/>
        </p:nvSpPr>
        <p:spPr>
          <a:xfrm>
            <a:off x="550100" y="4623817"/>
            <a:ext cx="5209646" cy="1502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0F2F5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构建一套多模态的网络金融舆情监测系统，对网络金融舆情进行多样式立体化监测，识别其中的金融风险信息并预警，对防范金融风险，保护群众财产安全具有重要意义</a:t>
            </a:r>
            <a:endParaRPr lang="en-US" altLang="zh-CN" sz="1600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0C11D69-AA43-60E4-679B-E8AE831307B1}"/>
              </a:ext>
            </a:extLst>
          </p:cNvPr>
          <p:cNvGrpSpPr/>
          <p:nvPr/>
        </p:nvGrpSpPr>
        <p:grpSpPr>
          <a:xfrm>
            <a:off x="675961" y="3669548"/>
            <a:ext cx="4191000" cy="612759"/>
            <a:chOff x="254000" y="3327400"/>
            <a:chExt cx="4191000" cy="588879"/>
          </a:xfrm>
        </p:grpSpPr>
        <p:sp>
          <p:nvSpPr>
            <p:cNvPr id="34" name="Shape 2">
              <a:extLst>
                <a:ext uri="{FF2B5EF4-FFF2-40B4-BE49-F238E27FC236}">
                  <a16:creationId xmlns:a16="http://schemas.microsoft.com/office/drawing/2014/main" id="{88335884-E7AD-3A4F-B6F1-546B004AE062}"/>
                </a:ext>
              </a:extLst>
            </p:cNvPr>
            <p:cNvSpPr/>
            <p:nvPr/>
          </p:nvSpPr>
          <p:spPr>
            <a:xfrm>
              <a:off x="254000" y="33274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lnTo>
                    <a:pt x="254000" y="0"/>
                  </a:lnTo>
                  <a:cubicBezTo>
                    <a:pt x="394186" y="0"/>
                    <a:pt x="508000" y="113814"/>
                    <a:pt x="508000" y="254000"/>
                  </a:cubicBezTo>
                  <a:lnTo>
                    <a:pt x="508000" y="254000"/>
                  </a:lnTo>
                  <a:cubicBezTo>
                    <a:pt x="508000" y="394186"/>
                    <a:pt x="394186" y="508000"/>
                    <a:pt x="254000" y="508000"/>
                  </a:cubicBezTo>
                  <a:lnTo>
                    <a:pt x="254000" y="508000"/>
                  </a:lnTo>
                  <a:cubicBezTo>
                    <a:pt x="113814" y="508000"/>
                    <a:pt x="0" y="394186"/>
                    <a:pt x="0" y="254000"/>
                  </a:cubicBezTo>
                  <a:lnTo>
                    <a:pt x="0" y="254000"/>
                  </a:lnTo>
                  <a:cubicBezTo>
                    <a:pt x="0" y="113814"/>
                    <a:pt x="113814" y="0"/>
                    <a:pt x="254000" y="0"/>
                  </a:cubicBezTo>
                  <a:close/>
                </a:path>
              </a:pathLst>
            </a:custGeom>
            <a:solidFill>
              <a:srgbClr val="4A89DC"/>
            </a:solidFill>
          </p:spPr>
        </p:sp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6A32BD59-B1E1-21AC-8D24-62DD3BD60436}"/>
                </a:ext>
              </a:extLst>
            </p:cNvPr>
            <p:cNvSpPr/>
            <p:nvPr/>
          </p:nvSpPr>
          <p:spPr>
            <a:xfrm>
              <a:off x="406400" y="347980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69850" y="9525"/>
                  </a:moveTo>
                  <a:cubicBezTo>
                    <a:pt x="69850" y="4247"/>
                    <a:pt x="65603" y="0"/>
                    <a:pt x="60325" y="0"/>
                  </a:cubicBezTo>
                  <a:cubicBezTo>
                    <a:pt x="55047" y="0"/>
                    <a:pt x="50800" y="4247"/>
                    <a:pt x="50800" y="9525"/>
                  </a:cubicBezTo>
                  <a:lnTo>
                    <a:pt x="50800" y="25400"/>
                  </a:lnTo>
                  <a:cubicBezTo>
                    <a:pt x="36790" y="25400"/>
                    <a:pt x="25400" y="36790"/>
                    <a:pt x="25400" y="50800"/>
                  </a:cubicBezTo>
                  <a:lnTo>
                    <a:pt x="9525" y="50800"/>
                  </a:lnTo>
                  <a:cubicBezTo>
                    <a:pt x="4247" y="50800"/>
                    <a:pt x="0" y="55047"/>
                    <a:pt x="0" y="60325"/>
                  </a:cubicBezTo>
                  <a:cubicBezTo>
                    <a:pt x="0" y="65603"/>
                    <a:pt x="4247" y="69850"/>
                    <a:pt x="9525" y="69850"/>
                  </a:cubicBezTo>
                  <a:lnTo>
                    <a:pt x="25400" y="69850"/>
                  </a:lnTo>
                  <a:lnTo>
                    <a:pt x="25400" y="92075"/>
                  </a:lnTo>
                  <a:lnTo>
                    <a:pt x="9525" y="92075"/>
                  </a:lnTo>
                  <a:cubicBezTo>
                    <a:pt x="4247" y="92075"/>
                    <a:pt x="0" y="96322"/>
                    <a:pt x="0" y="101600"/>
                  </a:cubicBezTo>
                  <a:cubicBezTo>
                    <a:pt x="0" y="106878"/>
                    <a:pt x="4247" y="111125"/>
                    <a:pt x="9525" y="111125"/>
                  </a:cubicBezTo>
                  <a:lnTo>
                    <a:pt x="25400" y="111125"/>
                  </a:lnTo>
                  <a:lnTo>
                    <a:pt x="25400" y="133350"/>
                  </a:lnTo>
                  <a:lnTo>
                    <a:pt x="9525" y="133350"/>
                  </a:lnTo>
                  <a:cubicBezTo>
                    <a:pt x="4247" y="133350"/>
                    <a:pt x="0" y="137597"/>
                    <a:pt x="0" y="142875"/>
                  </a:cubicBezTo>
                  <a:cubicBezTo>
                    <a:pt x="0" y="148153"/>
                    <a:pt x="4247" y="152400"/>
                    <a:pt x="9525" y="152400"/>
                  </a:cubicBezTo>
                  <a:lnTo>
                    <a:pt x="25400" y="152400"/>
                  </a:lnTo>
                  <a:cubicBezTo>
                    <a:pt x="25400" y="166410"/>
                    <a:pt x="36790" y="177800"/>
                    <a:pt x="50800" y="177800"/>
                  </a:cubicBezTo>
                  <a:lnTo>
                    <a:pt x="50800" y="193675"/>
                  </a:lnTo>
                  <a:cubicBezTo>
                    <a:pt x="50800" y="198953"/>
                    <a:pt x="55047" y="203200"/>
                    <a:pt x="60325" y="203200"/>
                  </a:cubicBezTo>
                  <a:cubicBezTo>
                    <a:pt x="65603" y="203200"/>
                    <a:pt x="69850" y="198953"/>
                    <a:pt x="69850" y="193675"/>
                  </a:cubicBezTo>
                  <a:lnTo>
                    <a:pt x="69850" y="177800"/>
                  </a:lnTo>
                  <a:lnTo>
                    <a:pt x="92075" y="177800"/>
                  </a:lnTo>
                  <a:lnTo>
                    <a:pt x="92075" y="193675"/>
                  </a:lnTo>
                  <a:cubicBezTo>
                    <a:pt x="92075" y="198953"/>
                    <a:pt x="96322" y="203200"/>
                    <a:pt x="101600" y="203200"/>
                  </a:cubicBezTo>
                  <a:cubicBezTo>
                    <a:pt x="106878" y="203200"/>
                    <a:pt x="111125" y="198953"/>
                    <a:pt x="111125" y="193675"/>
                  </a:cubicBezTo>
                  <a:lnTo>
                    <a:pt x="111125" y="177800"/>
                  </a:lnTo>
                  <a:lnTo>
                    <a:pt x="133350" y="177800"/>
                  </a:lnTo>
                  <a:lnTo>
                    <a:pt x="133350" y="193675"/>
                  </a:lnTo>
                  <a:cubicBezTo>
                    <a:pt x="133350" y="198953"/>
                    <a:pt x="137597" y="203200"/>
                    <a:pt x="142875" y="203200"/>
                  </a:cubicBezTo>
                  <a:cubicBezTo>
                    <a:pt x="148153" y="203200"/>
                    <a:pt x="152400" y="198953"/>
                    <a:pt x="152400" y="193675"/>
                  </a:cubicBezTo>
                  <a:lnTo>
                    <a:pt x="152400" y="177800"/>
                  </a:lnTo>
                  <a:cubicBezTo>
                    <a:pt x="166410" y="177800"/>
                    <a:pt x="177800" y="166410"/>
                    <a:pt x="177800" y="152400"/>
                  </a:cubicBezTo>
                  <a:lnTo>
                    <a:pt x="193675" y="152400"/>
                  </a:lnTo>
                  <a:cubicBezTo>
                    <a:pt x="198953" y="152400"/>
                    <a:pt x="203200" y="148153"/>
                    <a:pt x="203200" y="142875"/>
                  </a:cubicBezTo>
                  <a:cubicBezTo>
                    <a:pt x="203200" y="137597"/>
                    <a:pt x="198953" y="133350"/>
                    <a:pt x="193675" y="133350"/>
                  </a:cubicBezTo>
                  <a:lnTo>
                    <a:pt x="177800" y="133350"/>
                  </a:lnTo>
                  <a:lnTo>
                    <a:pt x="177800" y="111125"/>
                  </a:lnTo>
                  <a:lnTo>
                    <a:pt x="193675" y="111125"/>
                  </a:lnTo>
                  <a:cubicBezTo>
                    <a:pt x="198953" y="111125"/>
                    <a:pt x="203200" y="106878"/>
                    <a:pt x="203200" y="101600"/>
                  </a:cubicBezTo>
                  <a:cubicBezTo>
                    <a:pt x="203200" y="96322"/>
                    <a:pt x="198953" y="92075"/>
                    <a:pt x="193675" y="92075"/>
                  </a:cubicBezTo>
                  <a:lnTo>
                    <a:pt x="177800" y="92075"/>
                  </a:lnTo>
                  <a:lnTo>
                    <a:pt x="177800" y="69850"/>
                  </a:lnTo>
                  <a:lnTo>
                    <a:pt x="193675" y="69850"/>
                  </a:lnTo>
                  <a:cubicBezTo>
                    <a:pt x="198953" y="69850"/>
                    <a:pt x="203200" y="65603"/>
                    <a:pt x="203200" y="60325"/>
                  </a:cubicBezTo>
                  <a:cubicBezTo>
                    <a:pt x="203200" y="55047"/>
                    <a:pt x="198953" y="50800"/>
                    <a:pt x="193675" y="50800"/>
                  </a:cubicBezTo>
                  <a:lnTo>
                    <a:pt x="177800" y="50800"/>
                  </a:lnTo>
                  <a:cubicBezTo>
                    <a:pt x="177800" y="36790"/>
                    <a:pt x="166410" y="25400"/>
                    <a:pt x="152400" y="25400"/>
                  </a:cubicBezTo>
                  <a:lnTo>
                    <a:pt x="152400" y="9525"/>
                  </a:lnTo>
                  <a:cubicBezTo>
                    <a:pt x="152400" y="4247"/>
                    <a:pt x="148153" y="0"/>
                    <a:pt x="142875" y="0"/>
                  </a:cubicBezTo>
                  <a:cubicBezTo>
                    <a:pt x="137597" y="0"/>
                    <a:pt x="133350" y="4247"/>
                    <a:pt x="133350" y="9525"/>
                  </a:cubicBezTo>
                  <a:lnTo>
                    <a:pt x="133350" y="25400"/>
                  </a:lnTo>
                  <a:lnTo>
                    <a:pt x="111125" y="25400"/>
                  </a:lnTo>
                  <a:lnTo>
                    <a:pt x="111125" y="9525"/>
                  </a:lnTo>
                  <a:cubicBezTo>
                    <a:pt x="111125" y="4247"/>
                    <a:pt x="106878" y="0"/>
                    <a:pt x="101600" y="0"/>
                  </a:cubicBezTo>
                  <a:cubicBezTo>
                    <a:pt x="96322" y="0"/>
                    <a:pt x="92075" y="4247"/>
                    <a:pt x="92075" y="9525"/>
                  </a:cubicBezTo>
                  <a:lnTo>
                    <a:pt x="92075" y="25400"/>
                  </a:lnTo>
                  <a:lnTo>
                    <a:pt x="69850" y="25400"/>
                  </a:lnTo>
                  <a:lnTo>
                    <a:pt x="69850" y="9525"/>
                  </a:lnTo>
                  <a:close/>
                  <a:moveTo>
                    <a:pt x="63500" y="50800"/>
                  </a:moveTo>
                  <a:lnTo>
                    <a:pt x="139700" y="50800"/>
                  </a:lnTo>
                  <a:cubicBezTo>
                    <a:pt x="146725" y="50800"/>
                    <a:pt x="152400" y="56475"/>
                    <a:pt x="152400" y="63500"/>
                  </a:cubicBezTo>
                  <a:lnTo>
                    <a:pt x="152400" y="139700"/>
                  </a:lnTo>
                  <a:cubicBezTo>
                    <a:pt x="152400" y="146725"/>
                    <a:pt x="146725" y="152400"/>
                    <a:pt x="139700" y="152400"/>
                  </a:cubicBezTo>
                  <a:lnTo>
                    <a:pt x="63500" y="152400"/>
                  </a:lnTo>
                  <a:cubicBezTo>
                    <a:pt x="56475" y="152400"/>
                    <a:pt x="50800" y="146725"/>
                    <a:pt x="50800" y="139700"/>
                  </a:cubicBezTo>
                  <a:lnTo>
                    <a:pt x="50800" y="63500"/>
                  </a:lnTo>
                  <a:cubicBezTo>
                    <a:pt x="50800" y="56475"/>
                    <a:pt x="56475" y="50800"/>
                    <a:pt x="63500" y="50800"/>
                  </a:cubicBezTo>
                  <a:close/>
                  <a:moveTo>
                    <a:pt x="69850" y="69850"/>
                  </a:moveTo>
                  <a:lnTo>
                    <a:pt x="69850" y="133350"/>
                  </a:lnTo>
                  <a:lnTo>
                    <a:pt x="133350" y="133350"/>
                  </a:lnTo>
                  <a:lnTo>
                    <a:pt x="133350" y="69850"/>
                  </a:lnTo>
                  <a:lnTo>
                    <a:pt x="69850" y="698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64A7DD75-7D57-7D00-26DF-645983786D29}"/>
                </a:ext>
              </a:extLst>
            </p:cNvPr>
            <p:cNvSpPr/>
            <p:nvPr/>
          </p:nvSpPr>
          <p:spPr>
            <a:xfrm>
              <a:off x="914400" y="3327400"/>
              <a:ext cx="35306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zh-CN" altLang="en-US" sz="1600" b="1" dirty="0">
                  <a:solidFill>
                    <a:srgbClr val="4A89DC"/>
                  </a:solidFill>
                  <a:ea typeface="MiSans" pitchFamily="34" charset="-122"/>
                </a:rPr>
                <a:t>视频分析</a:t>
              </a:r>
              <a:endParaRPr lang="en-US" sz="1600" dirty="0"/>
            </a:p>
          </p:txBody>
        </p:sp>
        <p:sp>
          <p:nvSpPr>
            <p:cNvPr id="37" name="Text 5">
              <a:extLst>
                <a:ext uri="{FF2B5EF4-FFF2-40B4-BE49-F238E27FC236}">
                  <a16:creationId xmlns:a16="http://schemas.microsoft.com/office/drawing/2014/main" id="{E2B91C45-163D-CB66-A1A5-9C15E49B7BBA}"/>
                </a:ext>
              </a:extLst>
            </p:cNvPr>
            <p:cNvSpPr/>
            <p:nvPr/>
          </p:nvSpPr>
          <p:spPr>
            <a:xfrm>
              <a:off x="901700" y="3662279"/>
              <a:ext cx="3530600" cy="254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zh-CN" altLang="en-US" sz="1400" dirty="0">
                  <a:solidFill>
                    <a:srgbClr val="0F2F5E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检测营销话术</a:t>
              </a:r>
              <a:endParaRPr lang="en-US" sz="1600" dirty="0"/>
            </a:p>
          </p:txBody>
        </p:sp>
      </p:grpSp>
      <p:pic>
        <p:nvPicPr>
          <p:cNvPr id="41" name="图片 40">
            <a:extLst>
              <a:ext uri="{FF2B5EF4-FFF2-40B4-BE49-F238E27FC236}">
                <a16:creationId xmlns:a16="http://schemas.microsoft.com/office/drawing/2014/main" id="{DF5A4D64-EACF-CD82-4F53-306C8DD96F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009" y="1908373"/>
            <a:ext cx="6229020" cy="2980944"/>
          </a:xfrm>
          <a:prstGeom prst="rect">
            <a:avLst/>
          </a:prstGeom>
        </p:spPr>
      </p:pic>
      <p:sp>
        <p:nvSpPr>
          <p:cNvPr id="45" name="Text 11">
            <a:extLst>
              <a:ext uri="{FF2B5EF4-FFF2-40B4-BE49-F238E27FC236}">
                <a16:creationId xmlns:a16="http://schemas.microsoft.com/office/drawing/2014/main" id="{C872EE2B-9D64-15F5-8533-1B0CA9B3DBBD}"/>
              </a:ext>
            </a:extLst>
          </p:cNvPr>
          <p:cNvSpPr/>
          <p:nvPr/>
        </p:nvSpPr>
        <p:spPr>
          <a:xfrm>
            <a:off x="6821558" y="5121084"/>
            <a:ext cx="4000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0F2F5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多模态模型示例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1037230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8DAE6-CA9B-CA48-2B9F-92EAA8010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37BE3B80-2056-3E36-B9D1-499DFCCD9FA0}"/>
              </a:ext>
            </a:extLst>
          </p:cNvPr>
          <p:cNvGrpSpPr/>
          <p:nvPr/>
        </p:nvGrpSpPr>
        <p:grpSpPr>
          <a:xfrm>
            <a:off x="16550" y="0"/>
            <a:ext cx="12175450" cy="6858000"/>
            <a:chOff x="16550" y="0"/>
            <a:chExt cx="12175450" cy="6858000"/>
          </a:xfrm>
        </p:grpSpPr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642254B3-FDB1-8C04-03A7-5344D6448E9F}"/>
                </a:ext>
              </a:extLst>
            </p:cNvPr>
            <p:cNvSpPr/>
            <p:nvPr/>
          </p:nvSpPr>
          <p:spPr>
            <a:xfrm rot="10800000">
              <a:off x="6691746" y="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19A441A1-B53B-E740-A502-6C119F258E5A}"/>
                </a:ext>
              </a:extLst>
            </p:cNvPr>
            <p:cNvSpPr/>
            <p:nvPr/>
          </p:nvSpPr>
          <p:spPr>
            <a:xfrm rot="10800000">
              <a:off x="8601014" y="342899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63">
              <a:extLst>
                <a:ext uri="{FF2B5EF4-FFF2-40B4-BE49-F238E27FC236}">
                  <a16:creationId xmlns:a16="http://schemas.microsoft.com/office/drawing/2014/main" id="{6AB20792-2165-B1CF-BD6A-B665EF403564}"/>
                </a:ext>
              </a:extLst>
            </p:cNvPr>
            <p:cNvSpPr/>
            <p:nvPr/>
          </p:nvSpPr>
          <p:spPr>
            <a:xfrm rot="10800000">
              <a:off x="10510281" y="3429000"/>
              <a:ext cx="1681719" cy="1645920"/>
            </a:xfrm>
            <a:custGeom>
              <a:avLst/>
              <a:gdLst>
                <a:gd name="connsiteX0" fmla="*/ 1681719 w 1681719"/>
                <a:gd name="connsiteY0" fmla="*/ 1645920 h 1645920"/>
                <a:gd name="connsiteX1" fmla="*/ 0 w 1681719"/>
                <a:gd name="connsiteY1" fmla="*/ 1645920 h 1645920"/>
                <a:gd name="connsiteX2" fmla="*/ 0 w 1681719"/>
                <a:gd name="connsiteY2" fmla="*/ 1253596 h 1645920"/>
                <a:gd name="connsiteX3" fmla="*/ 727086 w 1681719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19" h="1645920">
                  <a:moveTo>
                    <a:pt x="1681719" y="1645920"/>
                  </a:moveTo>
                  <a:lnTo>
                    <a:pt x="0" y="1645920"/>
                  </a:lnTo>
                  <a:lnTo>
                    <a:pt x="0" y="1253596"/>
                  </a:lnTo>
                  <a:lnTo>
                    <a:pt x="727086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1">
              <a:extLst>
                <a:ext uri="{FF2B5EF4-FFF2-40B4-BE49-F238E27FC236}">
                  <a16:creationId xmlns:a16="http://schemas.microsoft.com/office/drawing/2014/main" id="{C811547F-EA43-D1C9-B321-7D41462A552E}"/>
                </a:ext>
              </a:extLst>
            </p:cNvPr>
            <p:cNvSpPr/>
            <p:nvPr/>
          </p:nvSpPr>
          <p:spPr>
            <a:xfrm>
              <a:off x="10510280" y="1783080"/>
              <a:ext cx="1681720" cy="1645920"/>
            </a:xfrm>
            <a:custGeom>
              <a:avLst/>
              <a:gdLst>
                <a:gd name="connsiteX0" fmla="*/ 954634 w 1681720"/>
                <a:gd name="connsiteY0" fmla="*/ 0 h 1645920"/>
                <a:gd name="connsiteX1" fmla="*/ 1681720 w 1681720"/>
                <a:gd name="connsiteY1" fmla="*/ 1253598 h 1645920"/>
                <a:gd name="connsiteX2" fmla="*/ 1681720 w 1681720"/>
                <a:gd name="connsiteY2" fmla="*/ 1645920 h 1645920"/>
                <a:gd name="connsiteX3" fmla="*/ 0 w 1681720"/>
                <a:gd name="connsiteY3" fmla="*/ 164592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0" h="1645920">
                  <a:moveTo>
                    <a:pt x="954634" y="0"/>
                  </a:moveTo>
                  <a:lnTo>
                    <a:pt x="1681720" y="1253598"/>
                  </a:lnTo>
                  <a:lnTo>
                    <a:pt x="1681720" y="1645920"/>
                  </a:lnTo>
                  <a:lnTo>
                    <a:pt x="0" y="164592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8AA26E30-3333-3D80-9E67-DF04039F3A30}"/>
                </a:ext>
              </a:extLst>
            </p:cNvPr>
            <p:cNvSpPr/>
            <p:nvPr/>
          </p:nvSpPr>
          <p:spPr>
            <a:xfrm>
              <a:off x="8600991" y="5078022"/>
              <a:ext cx="1909281" cy="1645933"/>
            </a:xfrm>
            <a:prstGeom prst="triangle">
              <a:avLst/>
            </a:prstGeom>
            <a:solidFill>
              <a:srgbClr val="A5CFE5">
                <a:alpha val="52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59">
              <a:extLst>
                <a:ext uri="{FF2B5EF4-FFF2-40B4-BE49-F238E27FC236}">
                  <a16:creationId xmlns:a16="http://schemas.microsoft.com/office/drawing/2014/main" id="{2268C0D1-D8F3-39A9-7E7C-E4ADAEC5B165}"/>
                </a:ext>
              </a:extLst>
            </p:cNvPr>
            <p:cNvSpPr/>
            <p:nvPr/>
          </p:nvSpPr>
          <p:spPr>
            <a:xfrm rot="10800000">
              <a:off x="10510279" y="137158"/>
              <a:ext cx="1681721" cy="1645920"/>
            </a:xfrm>
            <a:custGeom>
              <a:avLst/>
              <a:gdLst>
                <a:gd name="connsiteX0" fmla="*/ 1681721 w 1681721"/>
                <a:gd name="connsiteY0" fmla="*/ 1645920 h 1645920"/>
                <a:gd name="connsiteX1" fmla="*/ 0 w 1681721"/>
                <a:gd name="connsiteY1" fmla="*/ 1645920 h 1645920"/>
                <a:gd name="connsiteX2" fmla="*/ 0 w 1681721"/>
                <a:gd name="connsiteY2" fmla="*/ 1253600 h 1645920"/>
                <a:gd name="connsiteX3" fmla="*/ 727088 w 1681721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1" h="1645920">
                  <a:moveTo>
                    <a:pt x="1681721" y="1645920"/>
                  </a:moveTo>
                  <a:lnTo>
                    <a:pt x="0" y="1645920"/>
                  </a:lnTo>
                  <a:lnTo>
                    <a:pt x="0" y="1253600"/>
                  </a:lnTo>
                  <a:lnTo>
                    <a:pt x="727088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D9019F4E-6745-CCE6-1A18-645AAA13C59E}"/>
                </a:ext>
              </a:extLst>
            </p:cNvPr>
            <p:cNvSpPr/>
            <p:nvPr/>
          </p:nvSpPr>
          <p:spPr>
            <a:xfrm>
              <a:off x="9555645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57726E97-7CA5-17BC-C657-55C9E26CA7AE}"/>
                </a:ext>
              </a:extLst>
            </p:cNvPr>
            <p:cNvSpPr/>
            <p:nvPr/>
          </p:nvSpPr>
          <p:spPr>
            <a:xfrm rot="10800000">
              <a:off x="7646375" y="507491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97DD1032-086D-7B12-6289-DFCAB376C792}"/>
                </a:ext>
              </a:extLst>
            </p:cNvPr>
            <p:cNvSpPr/>
            <p:nvPr/>
          </p:nvSpPr>
          <p:spPr>
            <a:xfrm>
              <a:off x="6691725" y="5074928"/>
              <a:ext cx="1909257" cy="1645912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27331037-5C2D-A9CE-9FB6-F681B5D683CB}"/>
                </a:ext>
              </a:extLst>
            </p:cNvPr>
            <p:cNvSpPr/>
            <p:nvPr/>
          </p:nvSpPr>
          <p:spPr>
            <a:xfrm rot="10800000">
              <a:off x="9555641" y="507492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6A631139-DD16-854A-5B06-5F860BBAEB0E}"/>
                </a:ext>
              </a:extLst>
            </p:cNvPr>
            <p:cNvSpPr/>
            <p:nvPr/>
          </p:nvSpPr>
          <p:spPr>
            <a:xfrm rot="10800000">
              <a:off x="9555641" y="1783080"/>
              <a:ext cx="1909267" cy="1645920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E6D9EEE3-B3A1-222F-7B7C-043C31396A57}"/>
                </a:ext>
              </a:extLst>
            </p:cNvPr>
            <p:cNvSpPr/>
            <p:nvPr/>
          </p:nvSpPr>
          <p:spPr>
            <a:xfrm>
              <a:off x="7646348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E152AE8-7708-8BB7-3525-A9B949A35AFD}"/>
                </a:ext>
              </a:extLst>
            </p:cNvPr>
            <p:cNvCxnSpPr/>
            <p:nvPr/>
          </p:nvCxnSpPr>
          <p:spPr>
            <a:xfrm flipH="1">
              <a:off x="7285065" y="765802"/>
              <a:ext cx="954634" cy="1645920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729A2A2-176A-CE52-C977-4AB4CB98A74C}"/>
                </a:ext>
              </a:extLst>
            </p:cNvPr>
            <p:cNvCxnSpPr/>
            <p:nvPr/>
          </p:nvCxnSpPr>
          <p:spPr>
            <a:xfrm flipH="1">
              <a:off x="661651" y="2935908"/>
              <a:ext cx="304858" cy="525617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97FFC0D-1536-44A4-831D-6AFE1CAD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t="24590"/>
            <a:stretch>
              <a:fillRect/>
            </a:stretch>
          </p:blipFill>
          <p:spPr>
            <a:xfrm>
              <a:off x="966539" y="1"/>
              <a:ext cx="3127519" cy="2032061"/>
            </a:xfrm>
            <a:custGeom>
              <a:avLst/>
              <a:gdLst>
                <a:gd name="connsiteX0" fmla="*/ 0 w 3127519"/>
                <a:gd name="connsiteY0" fmla="*/ 0 h 2032061"/>
                <a:gd name="connsiteX1" fmla="*/ 3127519 w 3127519"/>
                <a:gd name="connsiteY1" fmla="*/ 0 h 2032061"/>
                <a:gd name="connsiteX2" fmla="*/ 3127519 w 3127519"/>
                <a:gd name="connsiteY2" fmla="*/ 2032061 h 2032061"/>
                <a:gd name="connsiteX3" fmla="*/ 0 w 3127519"/>
                <a:gd name="connsiteY3" fmla="*/ 2032061 h 2032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27519" h="2032061">
                  <a:moveTo>
                    <a:pt x="0" y="0"/>
                  </a:moveTo>
                  <a:lnTo>
                    <a:pt x="3127519" y="0"/>
                  </a:lnTo>
                  <a:lnTo>
                    <a:pt x="3127519" y="2032061"/>
                  </a:lnTo>
                  <a:lnTo>
                    <a:pt x="0" y="2032061"/>
                  </a:lnTo>
                  <a:close/>
                </a:path>
              </a:pathLst>
            </a:cu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5E78983-60B4-6286-1EE8-9AA3E6042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 b="18265"/>
            <a:stretch>
              <a:fillRect/>
            </a:stretch>
          </p:blipFill>
          <p:spPr>
            <a:xfrm>
              <a:off x="16550" y="4281805"/>
              <a:ext cx="2975106" cy="2576195"/>
            </a:xfrm>
            <a:custGeom>
              <a:avLst/>
              <a:gdLst>
                <a:gd name="connsiteX0" fmla="*/ 0 w 2975106"/>
                <a:gd name="connsiteY0" fmla="*/ 0 h 2576195"/>
                <a:gd name="connsiteX1" fmla="*/ 2975106 w 2975106"/>
                <a:gd name="connsiteY1" fmla="*/ 0 h 2576195"/>
                <a:gd name="connsiteX2" fmla="*/ 2975106 w 2975106"/>
                <a:gd name="connsiteY2" fmla="*/ 2576195 h 2576195"/>
                <a:gd name="connsiteX3" fmla="*/ 0 w 2975106"/>
                <a:gd name="connsiteY3" fmla="*/ 2576195 h 2576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5106" h="2576195">
                  <a:moveTo>
                    <a:pt x="0" y="0"/>
                  </a:moveTo>
                  <a:lnTo>
                    <a:pt x="2975106" y="0"/>
                  </a:lnTo>
                  <a:lnTo>
                    <a:pt x="2975106" y="2576195"/>
                  </a:lnTo>
                  <a:lnTo>
                    <a:pt x="0" y="2576195"/>
                  </a:lnTo>
                  <a:close/>
                </a:path>
              </a:pathLst>
            </a:cu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1E550B7-279D-1E3F-3050-D71B380E28B9}"/>
              </a:ext>
            </a:extLst>
          </p:cNvPr>
          <p:cNvSpPr txBox="1"/>
          <p:nvPr/>
        </p:nvSpPr>
        <p:spPr>
          <a:xfrm>
            <a:off x="966509" y="2820615"/>
            <a:ext cx="83688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幼圆" panose="02010509060101010101" pitchFamily="49" charset="-122"/>
                <a:ea typeface="幼圆" panose="02010509060101010101" pitchFamily="49" charset="-122"/>
              </a:rPr>
              <a:t>国内外研究现状</a:t>
            </a: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9AD86C5B-C147-0FFC-2567-D148F82DC826}"/>
              </a:ext>
            </a:extLst>
          </p:cNvPr>
          <p:cNvSpPr/>
          <p:nvPr/>
        </p:nvSpPr>
        <p:spPr>
          <a:xfrm rot="17411441">
            <a:off x="7076861" y="2785477"/>
            <a:ext cx="157387" cy="397133"/>
          </a:xfrm>
          <a:prstGeom prst="triangle">
            <a:avLst/>
          </a:pr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ABFCA8C4-504D-5710-585C-A786972AB783}"/>
              </a:ext>
            </a:extLst>
          </p:cNvPr>
          <p:cNvSpPr/>
          <p:nvPr/>
        </p:nvSpPr>
        <p:spPr>
          <a:xfrm rot="13615302">
            <a:off x="6826212" y="2560435"/>
            <a:ext cx="105790" cy="511888"/>
          </a:xfrm>
          <a:prstGeom prst="triangle">
            <a:avLst/>
          </a:prstGeom>
          <a:solidFill>
            <a:srgbClr val="A5CF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86242BF-FAA4-BD30-0301-B37728124C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1CC5942-C023-C1A2-3358-EE402523C244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79861139-BD61-D2CA-74F6-1A436B7B88D4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>
              <a:extLst>
                <a:ext uri="{FF2B5EF4-FFF2-40B4-BE49-F238E27FC236}">
                  <a16:creationId xmlns:a16="http://schemas.microsoft.com/office/drawing/2014/main" id="{CF5B0DF4-D58F-AD59-9A10-F022FCB05AE1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D1D9550-9939-8C0E-E49B-713E15FA7CDD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525081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9A228E7-D6D8-069A-178D-894DE7EADBF4}"/>
              </a:ext>
            </a:extLst>
          </p:cNvPr>
          <p:cNvSpPr/>
          <p:nvPr/>
        </p:nvSpPr>
        <p:spPr>
          <a:xfrm>
            <a:off x="0" y="1168400"/>
            <a:ext cx="12192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</a:t>
            </a:r>
            <a:r>
              <a:rPr lang="zh-CN" alt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内研究现状</a:t>
            </a:r>
            <a:r>
              <a:rPr 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</a:t>
            </a:r>
            <a:r>
              <a:rPr lang="zh-CN" alt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应用驱动</a:t>
            </a:r>
            <a:r>
              <a:rPr 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但</a:t>
            </a:r>
            <a:r>
              <a:rPr lang="zh-CN" alt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“硬性”创新</a:t>
            </a:r>
            <a:endParaRPr lang="en-US" sz="1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DEDA5F7-3277-B081-B2B2-29E061F45F64}"/>
              </a:ext>
            </a:extLst>
          </p:cNvPr>
          <p:cNvSpPr/>
          <p:nvPr/>
        </p:nvSpPr>
        <p:spPr>
          <a:xfrm>
            <a:off x="0" y="1778000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latin typeface="MiSans" pitchFamily="34" charset="0"/>
                <a:ea typeface="MiSans" pitchFamily="34" charset="-122"/>
                <a:cs typeface="MiSans" pitchFamily="34" charset="-120"/>
              </a:rPr>
              <a:t>2019</a:t>
            </a:r>
            <a:r>
              <a:rPr lang="zh-CN" altLang="en-US" sz="1800" dirty="0">
                <a:latin typeface="MiSans" pitchFamily="34" charset="0"/>
                <a:ea typeface="MiSans" pitchFamily="34" charset="-122"/>
                <a:cs typeface="MiSans" pitchFamily="34" charset="-120"/>
              </a:rPr>
              <a:t>年之前知网在多模态领域的年均发文量不足</a:t>
            </a:r>
            <a:r>
              <a:rPr lang="en-US" altLang="zh-CN" sz="1800" dirty="0">
                <a:latin typeface="MiSans" pitchFamily="34" charset="0"/>
                <a:ea typeface="MiSans" pitchFamily="34" charset="-122"/>
                <a:cs typeface="MiSans" pitchFamily="34" charset="-120"/>
              </a:rPr>
              <a:t>35</a:t>
            </a:r>
            <a:r>
              <a:rPr lang="zh-CN" altLang="en-US" sz="1800" dirty="0">
                <a:latin typeface="MiSans" pitchFamily="34" charset="0"/>
                <a:ea typeface="MiSans" pitchFamily="34" charset="-122"/>
                <a:cs typeface="MiSans" pitchFamily="34" charset="-120"/>
              </a:rPr>
              <a:t>篇，</a:t>
            </a:r>
            <a:r>
              <a:rPr lang="en-US" altLang="zh-CN" sz="1800" dirty="0">
                <a:latin typeface="MiSans" pitchFamily="34" charset="0"/>
                <a:ea typeface="MiSans" pitchFamily="34" charset="-122"/>
                <a:cs typeface="MiSans" pitchFamily="34" charset="-120"/>
              </a:rPr>
              <a:t>2020</a:t>
            </a:r>
            <a:r>
              <a:rPr lang="zh-CN" altLang="en-US" sz="1800" dirty="0">
                <a:latin typeface="MiSans" pitchFamily="34" charset="0"/>
                <a:ea typeface="MiSans" pitchFamily="34" charset="-122"/>
                <a:cs typeface="MiSans" pitchFamily="34" charset="-120"/>
              </a:rPr>
              <a:t>年后才开始高度关注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64AEDD5-7E40-8184-2187-8B8CAF127284}"/>
              </a:ext>
            </a:extLst>
          </p:cNvPr>
          <p:cNvSpPr/>
          <p:nvPr/>
        </p:nvSpPr>
        <p:spPr>
          <a:xfrm>
            <a:off x="970139" y="2606843"/>
            <a:ext cx="4673600" cy="3149600"/>
          </a:xfrm>
          <a:custGeom>
            <a:avLst/>
            <a:gdLst/>
            <a:ahLst/>
            <a:cxnLst/>
            <a:rect l="l" t="t" r="r" b="b"/>
            <a:pathLst>
              <a:path w="4673600" h="3149600">
                <a:moveTo>
                  <a:pt x="101606" y="0"/>
                </a:moveTo>
                <a:lnTo>
                  <a:pt x="4571994" y="0"/>
                </a:lnTo>
                <a:cubicBezTo>
                  <a:pt x="4628109" y="0"/>
                  <a:pt x="4673600" y="45491"/>
                  <a:pt x="4673600" y="101606"/>
                </a:cubicBezTo>
                <a:lnTo>
                  <a:pt x="4673600" y="3047994"/>
                </a:lnTo>
                <a:cubicBezTo>
                  <a:pt x="4673600" y="3104109"/>
                  <a:pt x="4628109" y="3149600"/>
                  <a:pt x="4571994" y="3149600"/>
                </a:cubicBezTo>
                <a:lnTo>
                  <a:pt x="101606" y="3149600"/>
                </a:lnTo>
                <a:cubicBezTo>
                  <a:pt x="45491" y="3149600"/>
                  <a:pt x="0" y="3104109"/>
                  <a:pt x="0" y="30479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3753B7">
              <a:alpha val="5098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4F0FC18-AA6C-E742-7494-79CB8825CCE0}"/>
              </a:ext>
            </a:extLst>
          </p:cNvPr>
          <p:cNvSpPr/>
          <p:nvPr/>
        </p:nvSpPr>
        <p:spPr>
          <a:xfrm>
            <a:off x="2900540" y="2807034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753B7">
              <a:alpha val="20000"/>
            </a:srgbClr>
          </a:solidFill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0616CF1-F7C9-79A2-A8B2-3B4249681D7C}"/>
              </a:ext>
            </a:extLst>
          </p:cNvPr>
          <p:cNvSpPr/>
          <p:nvPr/>
        </p:nvSpPr>
        <p:spPr>
          <a:xfrm>
            <a:off x="3270250" y="3022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3753B7"/>
          </a:solidFill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AFC0870-2632-1BE9-CE11-D23B238EA100}"/>
              </a:ext>
            </a:extLst>
          </p:cNvPr>
          <p:cNvSpPr/>
          <p:nvPr/>
        </p:nvSpPr>
        <p:spPr>
          <a:xfrm>
            <a:off x="2406650" y="3811336"/>
            <a:ext cx="172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应用驱动</a:t>
            </a: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3ED0737-2D62-80B8-50B8-2671991F0D64}"/>
              </a:ext>
            </a:extLst>
          </p:cNvPr>
          <p:cNvSpPr/>
          <p:nvPr/>
        </p:nvSpPr>
        <p:spPr>
          <a:xfrm>
            <a:off x="1182625" y="4181643"/>
            <a:ext cx="4379975" cy="13045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前沿技术与垂直领域深度融合</a:t>
            </a:r>
            <a:endParaRPr lang="en-US" altLang="zh-CN" sz="1600" dirty="0">
              <a:solidFill>
                <a:srgbClr val="333333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0" indent="0" algn="ctr">
              <a:lnSpc>
                <a:spcPct val="15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积极应对现实挑战，注重突破实际应用中的瓶颈</a:t>
            </a:r>
            <a:endParaRPr lang="en-US" altLang="zh-CN" sz="1600" dirty="0">
              <a:solidFill>
                <a:srgbClr val="333333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0" indent="0" algn="ctr">
              <a:lnSpc>
                <a:spcPct val="15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但</a:t>
            </a:r>
            <a:r>
              <a:rPr lang="zh-CN" alt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在金融舆情风险领域的应用几乎为</a:t>
            </a:r>
            <a:r>
              <a:rPr lang="en-US" altLang="zh-CN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F411FB3-9C10-9160-BBE9-FC681712D123}"/>
              </a:ext>
            </a:extLst>
          </p:cNvPr>
          <p:cNvSpPr/>
          <p:nvPr/>
        </p:nvSpPr>
        <p:spPr>
          <a:xfrm>
            <a:off x="6013449" y="2606843"/>
            <a:ext cx="4922775" cy="3149600"/>
          </a:xfrm>
          <a:custGeom>
            <a:avLst/>
            <a:gdLst/>
            <a:ahLst/>
            <a:cxnLst/>
            <a:rect l="l" t="t" r="r" b="b"/>
            <a:pathLst>
              <a:path w="4673600" h="3149600">
                <a:moveTo>
                  <a:pt x="101606" y="0"/>
                </a:moveTo>
                <a:lnTo>
                  <a:pt x="4571994" y="0"/>
                </a:lnTo>
                <a:cubicBezTo>
                  <a:pt x="4628109" y="0"/>
                  <a:pt x="4673600" y="45491"/>
                  <a:pt x="4673600" y="101606"/>
                </a:cubicBezTo>
                <a:lnTo>
                  <a:pt x="4673600" y="3047994"/>
                </a:lnTo>
                <a:cubicBezTo>
                  <a:pt x="4673600" y="3104109"/>
                  <a:pt x="4628109" y="3149600"/>
                  <a:pt x="4571994" y="3149600"/>
                </a:cubicBezTo>
                <a:lnTo>
                  <a:pt x="101606" y="3149600"/>
                </a:lnTo>
                <a:cubicBezTo>
                  <a:pt x="45491" y="3149600"/>
                  <a:pt x="0" y="3104109"/>
                  <a:pt x="0" y="30479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0A4B8F">
              <a:alpha val="5098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BD656CF0-B971-E671-E1ED-D524434C5308}"/>
              </a:ext>
            </a:extLst>
          </p:cNvPr>
          <p:cNvSpPr/>
          <p:nvPr/>
        </p:nvSpPr>
        <p:spPr>
          <a:xfrm>
            <a:off x="8026587" y="2812427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A4B8F">
              <a:alpha val="20000"/>
            </a:srgbClr>
          </a:solidFill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E4FDCCD-57C9-BCC2-B1D9-6E5C0CFDF321}"/>
              </a:ext>
            </a:extLst>
          </p:cNvPr>
          <p:cNvSpPr/>
          <p:nvPr/>
        </p:nvSpPr>
        <p:spPr>
          <a:xfrm>
            <a:off x="8350250" y="3022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A4B8F"/>
          </a:solidFill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6DBA44B-533F-7546-D156-FE51953B725E}"/>
              </a:ext>
            </a:extLst>
          </p:cNvPr>
          <p:cNvSpPr/>
          <p:nvPr/>
        </p:nvSpPr>
        <p:spPr>
          <a:xfrm>
            <a:off x="7235698" y="3860587"/>
            <a:ext cx="1968246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0A4B8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“硬性”创新</a:t>
            </a:r>
            <a:endParaRPr lang="en-US" sz="1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708C99C-C027-0B3F-53AB-2E83FD3C70BC}"/>
              </a:ext>
            </a:extLst>
          </p:cNvPr>
          <p:cNvSpPr/>
          <p:nvPr/>
        </p:nvSpPr>
        <p:spPr>
          <a:xfrm>
            <a:off x="5898073" y="4323909"/>
            <a:ext cx="5153525" cy="12874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ea typeface="MiSans"/>
              </a:rPr>
              <a:t>多数工作仍然基于</a:t>
            </a:r>
            <a:r>
              <a:rPr lang="en-US" altLang="zh-CN" sz="1600" dirty="0">
                <a:ea typeface="MiSans"/>
              </a:rPr>
              <a:t>Transformer</a:t>
            </a:r>
            <a:r>
              <a:rPr lang="zh-CN" altLang="en-US" sz="1600" dirty="0">
                <a:ea typeface="MiSans"/>
              </a:rPr>
              <a:t>、</a:t>
            </a:r>
            <a:r>
              <a:rPr lang="en-US" altLang="zh-CN" sz="1600" dirty="0">
                <a:ea typeface="MiSans"/>
              </a:rPr>
              <a:t>GRU</a:t>
            </a:r>
            <a:r>
              <a:rPr lang="zh-CN" altLang="en-US" sz="1600" dirty="0">
                <a:ea typeface="MiSans"/>
              </a:rPr>
              <a:t>等现有网络改进</a:t>
            </a:r>
            <a:endParaRPr lang="en-US" altLang="zh-CN" sz="1600" dirty="0">
              <a:ea typeface="MiSans"/>
            </a:endParaRPr>
          </a:p>
          <a:p>
            <a:pPr marL="0" indent="0" algn="ctr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ea typeface="MiSans"/>
              </a:rPr>
              <a:t>缺乏模型架构的原始创新</a:t>
            </a:r>
            <a:endParaRPr lang="en-US" altLang="zh-CN" sz="1600" dirty="0">
              <a:ea typeface="MiSans"/>
            </a:endParaRPr>
          </a:p>
          <a:p>
            <a:pPr marL="0" indent="0" algn="ctr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ea typeface="MiSans"/>
              </a:rPr>
              <a:t>技术整合大于理论突破</a:t>
            </a:r>
            <a:endParaRPr lang="en-US" altLang="zh-CN" sz="1600" dirty="0">
              <a:ea typeface="MiSans"/>
            </a:endParaRPr>
          </a:p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endParaRPr lang="en-US" sz="16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4A3B5EC-12D4-D36F-C401-9E779B465C43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7FC020E1-8401-E171-98B4-F44653C37405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2C3D0473-931B-4A60-7C18-467A74BCC656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695D1D8-8489-435F-BA20-DEDC35FB22AA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0" name="矩形 2">
            <a:extLst>
              <a:ext uri="{FF2B5EF4-FFF2-40B4-BE49-F238E27FC236}">
                <a16:creationId xmlns:a16="http://schemas.microsoft.com/office/drawing/2014/main" id="{D4F7B199-7C08-331B-9A1A-93289C7F8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国内外研究现状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73F7961-0081-9926-C6D0-C512BB1B0A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  <p:sp>
        <p:nvSpPr>
          <p:cNvPr id="73" name="Freeform 280">
            <a:extLst>
              <a:ext uri="{FF2B5EF4-FFF2-40B4-BE49-F238E27FC236}">
                <a16:creationId xmlns:a16="http://schemas.microsoft.com/office/drawing/2014/main" id="{6BEBAE0F-BFD9-20AE-2DBC-79E29759134E}"/>
              </a:ext>
            </a:extLst>
          </p:cNvPr>
          <p:cNvSpPr>
            <a:spLocks noEditPoints="1"/>
          </p:cNvSpPr>
          <p:nvPr/>
        </p:nvSpPr>
        <p:spPr bwMode="auto">
          <a:xfrm>
            <a:off x="3149599" y="3070945"/>
            <a:ext cx="314681" cy="314681"/>
          </a:xfrm>
          <a:custGeom>
            <a:avLst/>
            <a:gdLst>
              <a:gd name="T0" fmla="*/ 73 w 79"/>
              <a:gd name="T1" fmla="*/ 57 h 79"/>
              <a:gd name="T2" fmla="*/ 69 w 79"/>
              <a:gd name="T3" fmla="*/ 54 h 79"/>
              <a:gd name="T4" fmla="*/ 72 w 79"/>
              <a:gd name="T5" fmla="*/ 45 h 79"/>
              <a:gd name="T6" fmla="*/ 77 w 79"/>
              <a:gd name="T7" fmla="*/ 45 h 79"/>
              <a:gd name="T8" fmla="*/ 79 w 79"/>
              <a:gd name="T9" fmla="*/ 42 h 79"/>
              <a:gd name="T10" fmla="*/ 78 w 79"/>
              <a:gd name="T11" fmla="*/ 31 h 79"/>
              <a:gd name="T12" fmla="*/ 75 w 79"/>
              <a:gd name="T13" fmla="*/ 28 h 79"/>
              <a:gd name="T14" fmla="*/ 72 w 79"/>
              <a:gd name="T15" fmla="*/ 28 h 79"/>
              <a:gd name="T16" fmla="*/ 68 w 79"/>
              <a:gd name="T17" fmla="*/ 20 h 79"/>
              <a:gd name="T18" fmla="*/ 70 w 79"/>
              <a:gd name="T19" fmla="*/ 18 h 79"/>
              <a:gd name="T20" fmla="*/ 70 w 79"/>
              <a:gd name="T21" fmla="*/ 14 h 79"/>
              <a:gd name="T22" fmla="*/ 61 w 79"/>
              <a:gd name="T23" fmla="*/ 6 h 79"/>
              <a:gd name="T24" fmla="*/ 57 w 79"/>
              <a:gd name="T25" fmla="*/ 7 h 79"/>
              <a:gd name="T26" fmla="*/ 56 w 79"/>
              <a:gd name="T27" fmla="*/ 9 h 79"/>
              <a:gd name="T28" fmla="*/ 45 w 79"/>
              <a:gd name="T29" fmla="*/ 5 h 79"/>
              <a:gd name="T30" fmla="*/ 45 w 79"/>
              <a:gd name="T31" fmla="*/ 3 h 79"/>
              <a:gd name="T32" fmla="*/ 42 w 79"/>
              <a:gd name="T33" fmla="*/ 0 h 79"/>
              <a:gd name="T34" fmla="*/ 31 w 79"/>
              <a:gd name="T35" fmla="*/ 1 h 79"/>
              <a:gd name="T36" fmla="*/ 28 w 79"/>
              <a:gd name="T37" fmla="*/ 4 h 79"/>
              <a:gd name="T38" fmla="*/ 28 w 79"/>
              <a:gd name="T39" fmla="*/ 6 h 79"/>
              <a:gd name="T40" fmla="*/ 19 w 79"/>
              <a:gd name="T41" fmla="*/ 11 h 79"/>
              <a:gd name="T42" fmla="*/ 18 w 79"/>
              <a:gd name="T43" fmla="*/ 10 h 79"/>
              <a:gd name="T44" fmla="*/ 14 w 79"/>
              <a:gd name="T45" fmla="*/ 10 h 79"/>
              <a:gd name="T46" fmla="*/ 7 w 79"/>
              <a:gd name="T47" fmla="*/ 19 h 79"/>
              <a:gd name="T48" fmla="*/ 7 w 79"/>
              <a:gd name="T49" fmla="*/ 22 h 79"/>
              <a:gd name="T50" fmla="*/ 8 w 79"/>
              <a:gd name="T51" fmla="*/ 24 h 79"/>
              <a:gd name="T52" fmla="*/ 5 w 79"/>
              <a:gd name="T53" fmla="*/ 34 h 79"/>
              <a:gd name="T54" fmla="*/ 3 w 79"/>
              <a:gd name="T55" fmla="*/ 34 h 79"/>
              <a:gd name="T56" fmla="*/ 0 w 79"/>
              <a:gd name="T57" fmla="*/ 37 h 79"/>
              <a:gd name="T58" fmla="*/ 1 w 79"/>
              <a:gd name="T59" fmla="*/ 49 h 79"/>
              <a:gd name="T60" fmla="*/ 4 w 79"/>
              <a:gd name="T61" fmla="*/ 51 h 79"/>
              <a:gd name="T62" fmla="*/ 8 w 79"/>
              <a:gd name="T63" fmla="*/ 51 h 79"/>
              <a:gd name="T64" fmla="*/ 12 w 79"/>
              <a:gd name="T65" fmla="*/ 59 h 79"/>
              <a:gd name="T66" fmla="*/ 10 w 79"/>
              <a:gd name="T67" fmla="*/ 61 h 79"/>
              <a:gd name="T68" fmla="*/ 10 w 79"/>
              <a:gd name="T69" fmla="*/ 65 h 79"/>
              <a:gd name="T70" fmla="*/ 19 w 79"/>
              <a:gd name="T71" fmla="*/ 73 h 79"/>
              <a:gd name="T72" fmla="*/ 23 w 79"/>
              <a:gd name="T73" fmla="*/ 73 h 79"/>
              <a:gd name="T74" fmla="*/ 25 w 79"/>
              <a:gd name="T75" fmla="*/ 69 h 79"/>
              <a:gd name="T76" fmla="*/ 34 w 79"/>
              <a:gd name="T77" fmla="*/ 72 h 79"/>
              <a:gd name="T78" fmla="*/ 34 w 79"/>
              <a:gd name="T79" fmla="*/ 77 h 79"/>
              <a:gd name="T80" fmla="*/ 37 w 79"/>
              <a:gd name="T81" fmla="*/ 79 h 79"/>
              <a:gd name="T82" fmla="*/ 49 w 79"/>
              <a:gd name="T83" fmla="*/ 78 h 79"/>
              <a:gd name="T84" fmla="*/ 52 w 79"/>
              <a:gd name="T85" fmla="*/ 75 h 79"/>
              <a:gd name="T86" fmla="*/ 51 w 79"/>
              <a:gd name="T87" fmla="*/ 70 h 79"/>
              <a:gd name="T88" fmla="*/ 58 w 79"/>
              <a:gd name="T89" fmla="*/ 67 h 79"/>
              <a:gd name="T90" fmla="*/ 62 w 79"/>
              <a:gd name="T91" fmla="*/ 70 h 79"/>
              <a:gd name="T92" fmla="*/ 65 w 79"/>
              <a:gd name="T93" fmla="*/ 70 h 79"/>
              <a:gd name="T94" fmla="*/ 73 w 79"/>
              <a:gd name="T95" fmla="*/ 61 h 79"/>
              <a:gd name="T96" fmla="*/ 73 w 79"/>
              <a:gd name="T97" fmla="*/ 57 h 79"/>
              <a:gd name="T98" fmla="*/ 27 w 79"/>
              <a:gd name="T99" fmla="*/ 52 h 79"/>
              <a:gd name="T100" fmla="*/ 25 w 79"/>
              <a:gd name="T101" fmla="*/ 26 h 79"/>
              <a:gd name="T102" fmla="*/ 51 w 79"/>
              <a:gd name="T103" fmla="*/ 25 h 79"/>
              <a:gd name="T104" fmla="*/ 53 w 79"/>
              <a:gd name="T105" fmla="*/ 50 h 79"/>
              <a:gd name="T106" fmla="*/ 27 w 79"/>
              <a:gd name="T107" fmla="*/ 52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9" h="79">
                <a:moveTo>
                  <a:pt x="73" y="57"/>
                </a:moveTo>
                <a:cubicBezTo>
                  <a:pt x="69" y="54"/>
                  <a:pt x="69" y="54"/>
                  <a:pt x="69" y="54"/>
                </a:cubicBezTo>
                <a:cubicBezTo>
                  <a:pt x="71" y="51"/>
                  <a:pt x="72" y="48"/>
                  <a:pt x="72" y="45"/>
                </a:cubicBezTo>
                <a:cubicBezTo>
                  <a:pt x="77" y="45"/>
                  <a:pt x="77" y="45"/>
                  <a:pt x="77" y="45"/>
                </a:cubicBezTo>
                <a:cubicBezTo>
                  <a:pt x="78" y="45"/>
                  <a:pt x="79" y="44"/>
                  <a:pt x="79" y="42"/>
                </a:cubicBezTo>
                <a:cubicBezTo>
                  <a:pt x="78" y="31"/>
                  <a:pt x="78" y="31"/>
                  <a:pt x="78" y="31"/>
                </a:cubicBezTo>
                <a:cubicBezTo>
                  <a:pt x="78" y="29"/>
                  <a:pt x="77" y="28"/>
                  <a:pt x="75" y="28"/>
                </a:cubicBezTo>
                <a:cubicBezTo>
                  <a:pt x="72" y="28"/>
                  <a:pt x="72" y="28"/>
                  <a:pt x="72" y="28"/>
                </a:cubicBezTo>
                <a:cubicBezTo>
                  <a:pt x="71" y="26"/>
                  <a:pt x="70" y="23"/>
                  <a:pt x="68" y="20"/>
                </a:cubicBezTo>
                <a:cubicBezTo>
                  <a:pt x="70" y="18"/>
                  <a:pt x="70" y="18"/>
                  <a:pt x="70" y="18"/>
                </a:cubicBezTo>
                <a:cubicBezTo>
                  <a:pt x="71" y="17"/>
                  <a:pt x="71" y="15"/>
                  <a:pt x="70" y="14"/>
                </a:cubicBezTo>
                <a:cubicBezTo>
                  <a:pt x="61" y="6"/>
                  <a:pt x="61" y="6"/>
                  <a:pt x="61" y="6"/>
                </a:cubicBezTo>
                <a:cubicBezTo>
                  <a:pt x="60" y="5"/>
                  <a:pt x="58" y="6"/>
                  <a:pt x="57" y="7"/>
                </a:cubicBezTo>
                <a:cubicBezTo>
                  <a:pt x="56" y="9"/>
                  <a:pt x="56" y="9"/>
                  <a:pt x="56" y="9"/>
                </a:cubicBezTo>
                <a:cubicBezTo>
                  <a:pt x="52" y="7"/>
                  <a:pt x="49" y="6"/>
                  <a:pt x="45" y="5"/>
                </a:cubicBezTo>
                <a:cubicBezTo>
                  <a:pt x="45" y="3"/>
                  <a:pt x="45" y="3"/>
                  <a:pt x="45" y="3"/>
                </a:cubicBezTo>
                <a:cubicBezTo>
                  <a:pt x="45" y="1"/>
                  <a:pt x="44" y="0"/>
                  <a:pt x="42" y="0"/>
                </a:cubicBezTo>
                <a:cubicBezTo>
                  <a:pt x="31" y="1"/>
                  <a:pt x="31" y="1"/>
                  <a:pt x="31" y="1"/>
                </a:cubicBezTo>
                <a:cubicBezTo>
                  <a:pt x="29" y="2"/>
                  <a:pt x="28" y="3"/>
                  <a:pt x="28" y="4"/>
                </a:cubicBezTo>
                <a:cubicBezTo>
                  <a:pt x="28" y="6"/>
                  <a:pt x="28" y="6"/>
                  <a:pt x="28" y="6"/>
                </a:cubicBezTo>
                <a:cubicBezTo>
                  <a:pt x="25" y="7"/>
                  <a:pt x="22" y="9"/>
                  <a:pt x="19" y="11"/>
                </a:cubicBezTo>
                <a:cubicBezTo>
                  <a:pt x="18" y="10"/>
                  <a:pt x="18" y="10"/>
                  <a:pt x="18" y="10"/>
                </a:cubicBezTo>
                <a:cubicBezTo>
                  <a:pt x="17" y="9"/>
                  <a:pt x="15" y="9"/>
                  <a:pt x="14" y="10"/>
                </a:cubicBezTo>
                <a:cubicBezTo>
                  <a:pt x="7" y="19"/>
                  <a:pt x="7" y="19"/>
                  <a:pt x="7" y="19"/>
                </a:cubicBezTo>
                <a:cubicBezTo>
                  <a:pt x="6" y="20"/>
                  <a:pt x="6" y="21"/>
                  <a:pt x="7" y="22"/>
                </a:cubicBezTo>
                <a:cubicBezTo>
                  <a:pt x="8" y="24"/>
                  <a:pt x="8" y="24"/>
                  <a:pt x="8" y="24"/>
                </a:cubicBezTo>
                <a:cubicBezTo>
                  <a:pt x="7" y="27"/>
                  <a:pt x="6" y="31"/>
                  <a:pt x="5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1" y="35"/>
                  <a:pt x="0" y="36"/>
                  <a:pt x="0" y="37"/>
                </a:cubicBezTo>
                <a:cubicBezTo>
                  <a:pt x="1" y="49"/>
                  <a:pt x="1" y="49"/>
                  <a:pt x="1" y="49"/>
                </a:cubicBezTo>
                <a:cubicBezTo>
                  <a:pt x="2" y="50"/>
                  <a:pt x="3" y="52"/>
                  <a:pt x="4" y="51"/>
                </a:cubicBezTo>
                <a:cubicBezTo>
                  <a:pt x="8" y="51"/>
                  <a:pt x="8" y="51"/>
                  <a:pt x="8" y="51"/>
                </a:cubicBezTo>
                <a:cubicBezTo>
                  <a:pt x="9" y="54"/>
                  <a:pt x="10" y="56"/>
                  <a:pt x="12" y="59"/>
                </a:cubicBezTo>
                <a:cubicBezTo>
                  <a:pt x="10" y="61"/>
                  <a:pt x="10" y="61"/>
                  <a:pt x="10" y="61"/>
                </a:cubicBezTo>
                <a:cubicBezTo>
                  <a:pt x="9" y="63"/>
                  <a:pt x="9" y="64"/>
                  <a:pt x="10" y="65"/>
                </a:cubicBezTo>
                <a:cubicBezTo>
                  <a:pt x="19" y="73"/>
                  <a:pt x="19" y="73"/>
                  <a:pt x="19" y="73"/>
                </a:cubicBezTo>
                <a:cubicBezTo>
                  <a:pt x="20" y="74"/>
                  <a:pt x="22" y="74"/>
                  <a:pt x="23" y="73"/>
                </a:cubicBezTo>
                <a:cubicBezTo>
                  <a:pt x="25" y="69"/>
                  <a:pt x="25" y="69"/>
                  <a:pt x="25" y="69"/>
                </a:cubicBezTo>
                <a:cubicBezTo>
                  <a:pt x="28" y="71"/>
                  <a:pt x="31" y="72"/>
                  <a:pt x="34" y="72"/>
                </a:cubicBezTo>
                <a:cubicBezTo>
                  <a:pt x="34" y="77"/>
                  <a:pt x="34" y="77"/>
                  <a:pt x="34" y="77"/>
                </a:cubicBezTo>
                <a:cubicBezTo>
                  <a:pt x="35" y="78"/>
                  <a:pt x="36" y="79"/>
                  <a:pt x="37" y="79"/>
                </a:cubicBezTo>
                <a:cubicBezTo>
                  <a:pt x="49" y="78"/>
                  <a:pt x="49" y="78"/>
                  <a:pt x="49" y="78"/>
                </a:cubicBezTo>
                <a:cubicBezTo>
                  <a:pt x="51" y="78"/>
                  <a:pt x="52" y="77"/>
                  <a:pt x="52" y="75"/>
                </a:cubicBezTo>
                <a:cubicBezTo>
                  <a:pt x="51" y="70"/>
                  <a:pt x="51" y="70"/>
                  <a:pt x="51" y="70"/>
                </a:cubicBezTo>
                <a:cubicBezTo>
                  <a:pt x="53" y="69"/>
                  <a:pt x="56" y="68"/>
                  <a:pt x="58" y="67"/>
                </a:cubicBezTo>
                <a:cubicBezTo>
                  <a:pt x="62" y="70"/>
                  <a:pt x="62" y="70"/>
                  <a:pt x="62" y="70"/>
                </a:cubicBezTo>
                <a:cubicBezTo>
                  <a:pt x="63" y="71"/>
                  <a:pt x="64" y="71"/>
                  <a:pt x="65" y="70"/>
                </a:cubicBezTo>
                <a:cubicBezTo>
                  <a:pt x="73" y="61"/>
                  <a:pt x="73" y="61"/>
                  <a:pt x="73" y="61"/>
                </a:cubicBezTo>
                <a:cubicBezTo>
                  <a:pt x="74" y="60"/>
                  <a:pt x="74" y="58"/>
                  <a:pt x="73" y="57"/>
                </a:cubicBezTo>
                <a:close/>
                <a:moveTo>
                  <a:pt x="27" y="52"/>
                </a:moveTo>
                <a:cubicBezTo>
                  <a:pt x="20" y="46"/>
                  <a:pt x="19" y="34"/>
                  <a:pt x="25" y="26"/>
                </a:cubicBezTo>
                <a:cubicBezTo>
                  <a:pt x="32" y="19"/>
                  <a:pt x="43" y="18"/>
                  <a:pt x="51" y="25"/>
                </a:cubicBezTo>
                <a:cubicBezTo>
                  <a:pt x="59" y="31"/>
                  <a:pt x="60" y="43"/>
                  <a:pt x="53" y="50"/>
                </a:cubicBezTo>
                <a:cubicBezTo>
                  <a:pt x="46" y="58"/>
                  <a:pt x="35" y="59"/>
                  <a:pt x="27" y="52"/>
                </a:cubicBezTo>
                <a:close/>
              </a:path>
            </a:pathLst>
          </a:custGeom>
          <a:solidFill>
            <a:srgbClr val="8CD9E8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86588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8CDF01-54F0-DFF3-E4DF-205875BD7F27}"/>
              </a:ext>
            </a:extLst>
          </p:cNvPr>
          <p:cNvSpPr/>
          <p:nvPr/>
        </p:nvSpPr>
        <p:spPr>
          <a:xfrm>
            <a:off x="0" y="1117679"/>
            <a:ext cx="12192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zh-CN" alt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国外研究现状</a:t>
            </a:r>
            <a:r>
              <a:rPr 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</a:t>
            </a:r>
            <a:r>
              <a:rPr lang="zh-CN" alt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追求架构创新</a:t>
            </a:r>
            <a:r>
              <a:rPr 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zh-CN" altLang="en-US" sz="3600" dirty="0">
                <a:solidFill>
                  <a:srgbClr val="3753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EEBF9CE-6945-55AF-6240-362B41F6726F}"/>
              </a:ext>
            </a:extLst>
          </p:cNvPr>
          <p:cNvSpPr/>
          <p:nvPr/>
        </p:nvSpPr>
        <p:spPr>
          <a:xfrm>
            <a:off x="1158875" y="2540000"/>
            <a:ext cx="4673600" cy="3149600"/>
          </a:xfrm>
          <a:custGeom>
            <a:avLst/>
            <a:gdLst/>
            <a:ahLst/>
            <a:cxnLst/>
            <a:rect l="l" t="t" r="r" b="b"/>
            <a:pathLst>
              <a:path w="4673600" h="3149600">
                <a:moveTo>
                  <a:pt x="101606" y="0"/>
                </a:moveTo>
                <a:lnTo>
                  <a:pt x="4571994" y="0"/>
                </a:lnTo>
                <a:cubicBezTo>
                  <a:pt x="4628109" y="0"/>
                  <a:pt x="4673600" y="45491"/>
                  <a:pt x="4673600" y="101606"/>
                </a:cubicBezTo>
                <a:lnTo>
                  <a:pt x="4673600" y="3047994"/>
                </a:lnTo>
                <a:cubicBezTo>
                  <a:pt x="4673600" y="3104109"/>
                  <a:pt x="4628109" y="3149600"/>
                  <a:pt x="4571994" y="3149600"/>
                </a:cubicBezTo>
                <a:lnTo>
                  <a:pt x="101606" y="3149600"/>
                </a:lnTo>
                <a:cubicBezTo>
                  <a:pt x="45491" y="3149600"/>
                  <a:pt x="0" y="3104109"/>
                  <a:pt x="0" y="30479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7A2B8">
              <a:alpha val="5098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2F2126-C945-0719-DC35-262E22A8EB58}"/>
              </a:ext>
            </a:extLst>
          </p:cNvPr>
          <p:cNvSpPr/>
          <p:nvPr/>
        </p:nvSpPr>
        <p:spPr>
          <a:xfrm>
            <a:off x="3149600" y="2844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17A2B8">
              <a:alpha val="20000"/>
            </a:srgbClr>
          </a:solidFill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E714D3D-283B-61CC-54C5-C6DBAB73DDF9}"/>
              </a:ext>
            </a:extLst>
          </p:cNvPr>
          <p:cNvSpPr/>
          <p:nvPr/>
        </p:nvSpPr>
        <p:spPr>
          <a:xfrm>
            <a:off x="3270250" y="3022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17A2B8"/>
          </a:solidFill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B9E349-8526-E00D-01D5-F31D1D08C7B7}"/>
              </a:ext>
            </a:extLst>
          </p:cNvPr>
          <p:cNvSpPr/>
          <p:nvPr/>
        </p:nvSpPr>
        <p:spPr>
          <a:xfrm>
            <a:off x="2490216" y="3860800"/>
            <a:ext cx="2048256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17A2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追求架构创新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9ECBF4-EF02-989A-DE7F-06DCA3C0FA36}"/>
              </a:ext>
            </a:extLst>
          </p:cNvPr>
          <p:cNvSpPr/>
          <p:nvPr/>
        </p:nvSpPr>
        <p:spPr>
          <a:xfrm>
            <a:off x="1586706" y="4470400"/>
            <a:ext cx="4009422" cy="965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融合</a:t>
            </a:r>
            <a:r>
              <a:rPr lang="en-US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RGB</a:t>
            </a: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、光流和音频的多模态元学习框架</a:t>
            </a:r>
            <a:endParaRPr lang="en-US" altLang="zh-CN" sz="1600" dirty="0">
              <a:solidFill>
                <a:srgbClr val="333333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</a:rPr>
              <a:t>多模态遥感基础模型</a:t>
            </a:r>
            <a:r>
              <a:rPr lang="en-US" altLang="zh-CN" sz="16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</a:rPr>
              <a:t>SkySense</a:t>
            </a:r>
            <a:endParaRPr lang="en-US" altLang="zh-CN" sz="1600" dirty="0">
              <a:solidFill>
                <a:srgbClr val="333333"/>
              </a:solidFill>
              <a:latin typeface="MiSans" pitchFamily="34" charset="0"/>
              <a:ea typeface="MiSans" pitchFamily="34" charset="-122"/>
            </a:endParaRPr>
          </a:p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</a:rPr>
              <a:t>多模态奖励模型</a:t>
            </a:r>
            <a:r>
              <a:rPr lang="en-US" altLang="zh-CN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</a:rPr>
              <a:t>IXC-2.5-Reward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5A94239-9C39-2DC0-174B-D61AEDE38950}"/>
              </a:ext>
            </a:extLst>
          </p:cNvPr>
          <p:cNvSpPr/>
          <p:nvPr/>
        </p:nvSpPr>
        <p:spPr>
          <a:xfrm>
            <a:off x="6299200" y="2540000"/>
            <a:ext cx="4673600" cy="3149600"/>
          </a:xfrm>
          <a:custGeom>
            <a:avLst/>
            <a:gdLst/>
            <a:ahLst/>
            <a:cxnLst/>
            <a:rect l="l" t="t" r="r" b="b"/>
            <a:pathLst>
              <a:path w="4673600" h="3149600">
                <a:moveTo>
                  <a:pt x="101606" y="0"/>
                </a:moveTo>
                <a:lnTo>
                  <a:pt x="4571994" y="0"/>
                </a:lnTo>
                <a:cubicBezTo>
                  <a:pt x="4628109" y="0"/>
                  <a:pt x="4673600" y="45491"/>
                  <a:pt x="4673600" y="101606"/>
                </a:cubicBezTo>
                <a:lnTo>
                  <a:pt x="4673600" y="3047994"/>
                </a:lnTo>
                <a:cubicBezTo>
                  <a:pt x="4673600" y="3104109"/>
                  <a:pt x="4628109" y="3149600"/>
                  <a:pt x="4571994" y="3149600"/>
                </a:cubicBezTo>
                <a:lnTo>
                  <a:pt x="101606" y="3149600"/>
                </a:lnTo>
                <a:cubicBezTo>
                  <a:pt x="45491" y="3149600"/>
                  <a:pt x="0" y="3104109"/>
                  <a:pt x="0" y="30479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0A4B8F">
              <a:alpha val="5098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CE223BD-EA06-5BFD-A489-FCFA8CB63F76}"/>
              </a:ext>
            </a:extLst>
          </p:cNvPr>
          <p:cNvSpPr/>
          <p:nvPr/>
        </p:nvSpPr>
        <p:spPr>
          <a:xfrm>
            <a:off x="8229600" y="2844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A4B8F">
              <a:alpha val="20000"/>
            </a:srgbClr>
          </a:solidFill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07A15AA-04D6-2A7F-6B52-552F6B5A3973}"/>
              </a:ext>
            </a:extLst>
          </p:cNvPr>
          <p:cNvSpPr/>
          <p:nvPr/>
        </p:nvSpPr>
        <p:spPr>
          <a:xfrm>
            <a:off x="8350250" y="3022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A4B8F"/>
          </a:solidFill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4464368-C217-D1DB-5799-194094DC0FE0}"/>
              </a:ext>
            </a:extLst>
          </p:cNvPr>
          <p:cNvSpPr/>
          <p:nvPr/>
        </p:nvSpPr>
        <p:spPr>
          <a:xfrm>
            <a:off x="7598664" y="3860800"/>
            <a:ext cx="1900936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0A4B8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追求性能提升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5D62B23-B6F4-1E12-D060-F10CE8D3C778}"/>
              </a:ext>
            </a:extLst>
          </p:cNvPr>
          <p:cNvSpPr/>
          <p:nvPr/>
        </p:nvSpPr>
        <p:spPr>
          <a:xfrm>
            <a:off x="6916578" y="4419442"/>
            <a:ext cx="3893661" cy="965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创新训练机制、提升模型的可靠推理</a:t>
            </a:r>
            <a:endParaRPr lang="en-US" altLang="zh-CN" sz="1600" dirty="0">
              <a:solidFill>
                <a:srgbClr val="333333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</a:rPr>
              <a:t>揭示多模态特性引入的独特安全风险</a:t>
            </a:r>
            <a:endParaRPr lang="en-US" altLang="zh-CN" sz="1600" dirty="0">
              <a:solidFill>
                <a:srgbClr val="333333"/>
              </a:solidFill>
              <a:latin typeface="MiSans" pitchFamily="34" charset="0"/>
              <a:ea typeface="MiSans" pitchFamily="34" charset="-122"/>
            </a:endParaRPr>
          </a:p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zh-CN" alt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</a:rPr>
              <a:t>直面数据异构、模态鸿沟等核心挑战</a:t>
            </a:r>
            <a:endParaRPr lang="en-US" sz="160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C1A24E9-FCF6-5008-9E2B-B9AE4A2CD7FC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5C52B38D-BDDC-2592-F805-F690997D2250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CE090603-5D80-5950-9151-0AEE357C3BA2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5ABA4B01-D20D-964B-B00C-00AA4426D347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8" name="矩形 2">
            <a:extLst>
              <a:ext uri="{FF2B5EF4-FFF2-40B4-BE49-F238E27FC236}">
                <a16:creationId xmlns:a16="http://schemas.microsoft.com/office/drawing/2014/main" id="{0E6D3B36-D6B3-B34D-A8FA-9ECF4223D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国内外研究现状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D452A6C-2C1A-AEA4-A12D-3A3A646B18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  <p:sp>
        <p:nvSpPr>
          <p:cNvPr id="20" name="Freeform 280">
            <a:extLst>
              <a:ext uri="{FF2B5EF4-FFF2-40B4-BE49-F238E27FC236}">
                <a16:creationId xmlns:a16="http://schemas.microsoft.com/office/drawing/2014/main" id="{536DE5B9-377A-713E-EFB1-45BDAA2F6450}"/>
              </a:ext>
            </a:extLst>
          </p:cNvPr>
          <p:cNvSpPr>
            <a:spLocks noEditPoints="1"/>
          </p:cNvSpPr>
          <p:nvPr/>
        </p:nvSpPr>
        <p:spPr bwMode="auto">
          <a:xfrm>
            <a:off x="3395802" y="3109379"/>
            <a:ext cx="314681" cy="314681"/>
          </a:xfrm>
          <a:custGeom>
            <a:avLst/>
            <a:gdLst>
              <a:gd name="T0" fmla="*/ 73 w 79"/>
              <a:gd name="T1" fmla="*/ 57 h 79"/>
              <a:gd name="T2" fmla="*/ 69 w 79"/>
              <a:gd name="T3" fmla="*/ 54 h 79"/>
              <a:gd name="T4" fmla="*/ 72 w 79"/>
              <a:gd name="T5" fmla="*/ 45 h 79"/>
              <a:gd name="T6" fmla="*/ 77 w 79"/>
              <a:gd name="T7" fmla="*/ 45 h 79"/>
              <a:gd name="T8" fmla="*/ 79 w 79"/>
              <a:gd name="T9" fmla="*/ 42 h 79"/>
              <a:gd name="T10" fmla="*/ 78 w 79"/>
              <a:gd name="T11" fmla="*/ 31 h 79"/>
              <a:gd name="T12" fmla="*/ 75 w 79"/>
              <a:gd name="T13" fmla="*/ 28 h 79"/>
              <a:gd name="T14" fmla="*/ 72 w 79"/>
              <a:gd name="T15" fmla="*/ 28 h 79"/>
              <a:gd name="T16" fmla="*/ 68 w 79"/>
              <a:gd name="T17" fmla="*/ 20 h 79"/>
              <a:gd name="T18" fmla="*/ 70 w 79"/>
              <a:gd name="T19" fmla="*/ 18 h 79"/>
              <a:gd name="T20" fmla="*/ 70 w 79"/>
              <a:gd name="T21" fmla="*/ 14 h 79"/>
              <a:gd name="T22" fmla="*/ 61 w 79"/>
              <a:gd name="T23" fmla="*/ 6 h 79"/>
              <a:gd name="T24" fmla="*/ 57 w 79"/>
              <a:gd name="T25" fmla="*/ 7 h 79"/>
              <a:gd name="T26" fmla="*/ 56 w 79"/>
              <a:gd name="T27" fmla="*/ 9 h 79"/>
              <a:gd name="T28" fmla="*/ 45 w 79"/>
              <a:gd name="T29" fmla="*/ 5 h 79"/>
              <a:gd name="T30" fmla="*/ 45 w 79"/>
              <a:gd name="T31" fmla="*/ 3 h 79"/>
              <a:gd name="T32" fmla="*/ 42 w 79"/>
              <a:gd name="T33" fmla="*/ 0 h 79"/>
              <a:gd name="T34" fmla="*/ 31 w 79"/>
              <a:gd name="T35" fmla="*/ 1 h 79"/>
              <a:gd name="T36" fmla="*/ 28 w 79"/>
              <a:gd name="T37" fmla="*/ 4 h 79"/>
              <a:gd name="T38" fmla="*/ 28 w 79"/>
              <a:gd name="T39" fmla="*/ 6 h 79"/>
              <a:gd name="T40" fmla="*/ 19 w 79"/>
              <a:gd name="T41" fmla="*/ 11 h 79"/>
              <a:gd name="T42" fmla="*/ 18 w 79"/>
              <a:gd name="T43" fmla="*/ 10 h 79"/>
              <a:gd name="T44" fmla="*/ 14 w 79"/>
              <a:gd name="T45" fmla="*/ 10 h 79"/>
              <a:gd name="T46" fmla="*/ 7 w 79"/>
              <a:gd name="T47" fmla="*/ 19 h 79"/>
              <a:gd name="T48" fmla="*/ 7 w 79"/>
              <a:gd name="T49" fmla="*/ 22 h 79"/>
              <a:gd name="T50" fmla="*/ 8 w 79"/>
              <a:gd name="T51" fmla="*/ 24 h 79"/>
              <a:gd name="T52" fmla="*/ 5 w 79"/>
              <a:gd name="T53" fmla="*/ 34 h 79"/>
              <a:gd name="T54" fmla="*/ 3 w 79"/>
              <a:gd name="T55" fmla="*/ 34 h 79"/>
              <a:gd name="T56" fmla="*/ 0 w 79"/>
              <a:gd name="T57" fmla="*/ 37 h 79"/>
              <a:gd name="T58" fmla="*/ 1 w 79"/>
              <a:gd name="T59" fmla="*/ 49 h 79"/>
              <a:gd name="T60" fmla="*/ 4 w 79"/>
              <a:gd name="T61" fmla="*/ 51 h 79"/>
              <a:gd name="T62" fmla="*/ 8 w 79"/>
              <a:gd name="T63" fmla="*/ 51 h 79"/>
              <a:gd name="T64" fmla="*/ 12 w 79"/>
              <a:gd name="T65" fmla="*/ 59 h 79"/>
              <a:gd name="T66" fmla="*/ 10 w 79"/>
              <a:gd name="T67" fmla="*/ 61 h 79"/>
              <a:gd name="T68" fmla="*/ 10 w 79"/>
              <a:gd name="T69" fmla="*/ 65 h 79"/>
              <a:gd name="T70" fmla="*/ 19 w 79"/>
              <a:gd name="T71" fmla="*/ 73 h 79"/>
              <a:gd name="T72" fmla="*/ 23 w 79"/>
              <a:gd name="T73" fmla="*/ 73 h 79"/>
              <a:gd name="T74" fmla="*/ 25 w 79"/>
              <a:gd name="T75" fmla="*/ 69 h 79"/>
              <a:gd name="T76" fmla="*/ 34 w 79"/>
              <a:gd name="T77" fmla="*/ 72 h 79"/>
              <a:gd name="T78" fmla="*/ 34 w 79"/>
              <a:gd name="T79" fmla="*/ 77 h 79"/>
              <a:gd name="T80" fmla="*/ 37 w 79"/>
              <a:gd name="T81" fmla="*/ 79 h 79"/>
              <a:gd name="T82" fmla="*/ 49 w 79"/>
              <a:gd name="T83" fmla="*/ 78 h 79"/>
              <a:gd name="T84" fmla="*/ 52 w 79"/>
              <a:gd name="T85" fmla="*/ 75 h 79"/>
              <a:gd name="T86" fmla="*/ 51 w 79"/>
              <a:gd name="T87" fmla="*/ 70 h 79"/>
              <a:gd name="T88" fmla="*/ 58 w 79"/>
              <a:gd name="T89" fmla="*/ 67 h 79"/>
              <a:gd name="T90" fmla="*/ 62 w 79"/>
              <a:gd name="T91" fmla="*/ 70 h 79"/>
              <a:gd name="T92" fmla="*/ 65 w 79"/>
              <a:gd name="T93" fmla="*/ 70 h 79"/>
              <a:gd name="T94" fmla="*/ 73 w 79"/>
              <a:gd name="T95" fmla="*/ 61 h 79"/>
              <a:gd name="T96" fmla="*/ 73 w 79"/>
              <a:gd name="T97" fmla="*/ 57 h 79"/>
              <a:gd name="T98" fmla="*/ 27 w 79"/>
              <a:gd name="T99" fmla="*/ 52 h 79"/>
              <a:gd name="T100" fmla="*/ 25 w 79"/>
              <a:gd name="T101" fmla="*/ 26 h 79"/>
              <a:gd name="T102" fmla="*/ 51 w 79"/>
              <a:gd name="T103" fmla="*/ 25 h 79"/>
              <a:gd name="T104" fmla="*/ 53 w 79"/>
              <a:gd name="T105" fmla="*/ 50 h 79"/>
              <a:gd name="T106" fmla="*/ 27 w 79"/>
              <a:gd name="T107" fmla="*/ 52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9" h="79">
                <a:moveTo>
                  <a:pt x="73" y="57"/>
                </a:moveTo>
                <a:cubicBezTo>
                  <a:pt x="69" y="54"/>
                  <a:pt x="69" y="54"/>
                  <a:pt x="69" y="54"/>
                </a:cubicBezTo>
                <a:cubicBezTo>
                  <a:pt x="71" y="51"/>
                  <a:pt x="72" y="48"/>
                  <a:pt x="72" y="45"/>
                </a:cubicBezTo>
                <a:cubicBezTo>
                  <a:pt x="77" y="45"/>
                  <a:pt x="77" y="45"/>
                  <a:pt x="77" y="45"/>
                </a:cubicBezTo>
                <a:cubicBezTo>
                  <a:pt x="78" y="45"/>
                  <a:pt x="79" y="44"/>
                  <a:pt x="79" y="42"/>
                </a:cubicBezTo>
                <a:cubicBezTo>
                  <a:pt x="78" y="31"/>
                  <a:pt x="78" y="31"/>
                  <a:pt x="78" y="31"/>
                </a:cubicBezTo>
                <a:cubicBezTo>
                  <a:pt x="78" y="29"/>
                  <a:pt x="77" y="28"/>
                  <a:pt x="75" y="28"/>
                </a:cubicBezTo>
                <a:cubicBezTo>
                  <a:pt x="72" y="28"/>
                  <a:pt x="72" y="28"/>
                  <a:pt x="72" y="28"/>
                </a:cubicBezTo>
                <a:cubicBezTo>
                  <a:pt x="71" y="26"/>
                  <a:pt x="70" y="23"/>
                  <a:pt x="68" y="20"/>
                </a:cubicBezTo>
                <a:cubicBezTo>
                  <a:pt x="70" y="18"/>
                  <a:pt x="70" y="18"/>
                  <a:pt x="70" y="18"/>
                </a:cubicBezTo>
                <a:cubicBezTo>
                  <a:pt x="71" y="17"/>
                  <a:pt x="71" y="15"/>
                  <a:pt x="70" y="14"/>
                </a:cubicBezTo>
                <a:cubicBezTo>
                  <a:pt x="61" y="6"/>
                  <a:pt x="61" y="6"/>
                  <a:pt x="61" y="6"/>
                </a:cubicBezTo>
                <a:cubicBezTo>
                  <a:pt x="60" y="5"/>
                  <a:pt x="58" y="6"/>
                  <a:pt x="57" y="7"/>
                </a:cubicBezTo>
                <a:cubicBezTo>
                  <a:pt x="56" y="9"/>
                  <a:pt x="56" y="9"/>
                  <a:pt x="56" y="9"/>
                </a:cubicBezTo>
                <a:cubicBezTo>
                  <a:pt x="52" y="7"/>
                  <a:pt x="49" y="6"/>
                  <a:pt x="45" y="5"/>
                </a:cubicBezTo>
                <a:cubicBezTo>
                  <a:pt x="45" y="3"/>
                  <a:pt x="45" y="3"/>
                  <a:pt x="45" y="3"/>
                </a:cubicBezTo>
                <a:cubicBezTo>
                  <a:pt x="45" y="1"/>
                  <a:pt x="44" y="0"/>
                  <a:pt x="42" y="0"/>
                </a:cubicBezTo>
                <a:cubicBezTo>
                  <a:pt x="31" y="1"/>
                  <a:pt x="31" y="1"/>
                  <a:pt x="31" y="1"/>
                </a:cubicBezTo>
                <a:cubicBezTo>
                  <a:pt x="29" y="2"/>
                  <a:pt x="28" y="3"/>
                  <a:pt x="28" y="4"/>
                </a:cubicBezTo>
                <a:cubicBezTo>
                  <a:pt x="28" y="6"/>
                  <a:pt x="28" y="6"/>
                  <a:pt x="28" y="6"/>
                </a:cubicBezTo>
                <a:cubicBezTo>
                  <a:pt x="25" y="7"/>
                  <a:pt x="22" y="9"/>
                  <a:pt x="19" y="11"/>
                </a:cubicBezTo>
                <a:cubicBezTo>
                  <a:pt x="18" y="10"/>
                  <a:pt x="18" y="10"/>
                  <a:pt x="18" y="10"/>
                </a:cubicBezTo>
                <a:cubicBezTo>
                  <a:pt x="17" y="9"/>
                  <a:pt x="15" y="9"/>
                  <a:pt x="14" y="10"/>
                </a:cubicBezTo>
                <a:cubicBezTo>
                  <a:pt x="7" y="19"/>
                  <a:pt x="7" y="19"/>
                  <a:pt x="7" y="19"/>
                </a:cubicBezTo>
                <a:cubicBezTo>
                  <a:pt x="6" y="20"/>
                  <a:pt x="6" y="21"/>
                  <a:pt x="7" y="22"/>
                </a:cubicBezTo>
                <a:cubicBezTo>
                  <a:pt x="8" y="24"/>
                  <a:pt x="8" y="24"/>
                  <a:pt x="8" y="24"/>
                </a:cubicBezTo>
                <a:cubicBezTo>
                  <a:pt x="7" y="27"/>
                  <a:pt x="6" y="31"/>
                  <a:pt x="5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1" y="35"/>
                  <a:pt x="0" y="36"/>
                  <a:pt x="0" y="37"/>
                </a:cubicBezTo>
                <a:cubicBezTo>
                  <a:pt x="1" y="49"/>
                  <a:pt x="1" y="49"/>
                  <a:pt x="1" y="49"/>
                </a:cubicBezTo>
                <a:cubicBezTo>
                  <a:pt x="2" y="50"/>
                  <a:pt x="3" y="52"/>
                  <a:pt x="4" y="51"/>
                </a:cubicBezTo>
                <a:cubicBezTo>
                  <a:pt x="8" y="51"/>
                  <a:pt x="8" y="51"/>
                  <a:pt x="8" y="51"/>
                </a:cubicBezTo>
                <a:cubicBezTo>
                  <a:pt x="9" y="54"/>
                  <a:pt x="10" y="56"/>
                  <a:pt x="12" y="59"/>
                </a:cubicBezTo>
                <a:cubicBezTo>
                  <a:pt x="10" y="61"/>
                  <a:pt x="10" y="61"/>
                  <a:pt x="10" y="61"/>
                </a:cubicBezTo>
                <a:cubicBezTo>
                  <a:pt x="9" y="63"/>
                  <a:pt x="9" y="64"/>
                  <a:pt x="10" y="65"/>
                </a:cubicBezTo>
                <a:cubicBezTo>
                  <a:pt x="19" y="73"/>
                  <a:pt x="19" y="73"/>
                  <a:pt x="19" y="73"/>
                </a:cubicBezTo>
                <a:cubicBezTo>
                  <a:pt x="20" y="74"/>
                  <a:pt x="22" y="74"/>
                  <a:pt x="23" y="73"/>
                </a:cubicBezTo>
                <a:cubicBezTo>
                  <a:pt x="25" y="69"/>
                  <a:pt x="25" y="69"/>
                  <a:pt x="25" y="69"/>
                </a:cubicBezTo>
                <a:cubicBezTo>
                  <a:pt x="28" y="71"/>
                  <a:pt x="31" y="72"/>
                  <a:pt x="34" y="72"/>
                </a:cubicBezTo>
                <a:cubicBezTo>
                  <a:pt x="34" y="77"/>
                  <a:pt x="34" y="77"/>
                  <a:pt x="34" y="77"/>
                </a:cubicBezTo>
                <a:cubicBezTo>
                  <a:pt x="35" y="78"/>
                  <a:pt x="36" y="79"/>
                  <a:pt x="37" y="79"/>
                </a:cubicBezTo>
                <a:cubicBezTo>
                  <a:pt x="49" y="78"/>
                  <a:pt x="49" y="78"/>
                  <a:pt x="49" y="78"/>
                </a:cubicBezTo>
                <a:cubicBezTo>
                  <a:pt x="51" y="78"/>
                  <a:pt x="52" y="77"/>
                  <a:pt x="52" y="75"/>
                </a:cubicBezTo>
                <a:cubicBezTo>
                  <a:pt x="51" y="70"/>
                  <a:pt x="51" y="70"/>
                  <a:pt x="51" y="70"/>
                </a:cubicBezTo>
                <a:cubicBezTo>
                  <a:pt x="53" y="69"/>
                  <a:pt x="56" y="68"/>
                  <a:pt x="58" y="67"/>
                </a:cubicBezTo>
                <a:cubicBezTo>
                  <a:pt x="62" y="70"/>
                  <a:pt x="62" y="70"/>
                  <a:pt x="62" y="70"/>
                </a:cubicBezTo>
                <a:cubicBezTo>
                  <a:pt x="63" y="71"/>
                  <a:pt x="64" y="71"/>
                  <a:pt x="65" y="70"/>
                </a:cubicBezTo>
                <a:cubicBezTo>
                  <a:pt x="73" y="61"/>
                  <a:pt x="73" y="61"/>
                  <a:pt x="73" y="61"/>
                </a:cubicBezTo>
                <a:cubicBezTo>
                  <a:pt x="74" y="60"/>
                  <a:pt x="74" y="58"/>
                  <a:pt x="73" y="57"/>
                </a:cubicBezTo>
                <a:close/>
                <a:moveTo>
                  <a:pt x="27" y="52"/>
                </a:moveTo>
                <a:cubicBezTo>
                  <a:pt x="20" y="46"/>
                  <a:pt x="19" y="34"/>
                  <a:pt x="25" y="26"/>
                </a:cubicBezTo>
                <a:cubicBezTo>
                  <a:pt x="32" y="19"/>
                  <a:pt x="43" y="18"/>
                  <a:pt x="51" y="25"/>
                </a:cubicBezTo>
                <a:cubicBezTo>
                  <a:pt x="59" y="31"/>
                  <a:pt x="60" y="43"/>
                  <a:pt x="53" y="50"/>
                </a:cubicBezTo>
                <a:cubicBezTo>
                  <a:pt x="46" y="58"/>
                  <a:pt x="35" y="59"/>
                  <a:pt x="27" y="52"/>
                </a:cubicBezTo>
                <a:close/>
              </a:path>
            </a:pathLst>
          </a:custGeom>
          <a:solidFill>
            <a:srgbClr val="8CD9E8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477766AB-F0B2-B86D-A170-C17913087A84}"/>
              </a:ext>
            </a:extLst>
          </p:cNvPr>
          <p:cNvSpPr/>
          <p:nvPr/>
        </p:nvSpPr>
        <p:spPr>
          <a:xfrm>
            <a:off x="0" y="1803479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sz="1800" dirty="0">
                <a:latin typeface="MiSans" pitchFamily="34" charset="0"/>
                <a:ea typeface="MiSans" pitchFamily="34" charset="-122"/>
                <a:cs typeface="MiSans" pitchFamily="34" charset="-120"/>
              </a:rPr>
              <a:t>在农业、医疗、地球科学等垂直领域有应用探索、但</a:t>
            </a:r>
            <a:r>
              <a:rPr lang="zh-CN" altLang="en-US" sz="18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在金融舆情风险领域几乎无应用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4423417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7983A-A095-21B1-3FF2-9F7E78D7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E023A944-0290-0FC5-1B0A-880C3DCE95A4}"/>
              </a:ext>
            </a:extLst>
          </p:cNvPr>
          <p:cNvGrpSpPr/>
          <p:nvPr/>
        </p:nvGrpSpPr>
        <p:grpSpPr>
          <a:xfrm>
            <a:off x="16550" y="0"/>
            <a:ext cx="12175450" cy="6858000"/>
            <a:chOff x="16550" y="0"/>
            <a:chExt cx="12175450" cy="6858000"/>
          </a:xfrm>
        </p:grpSpPr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B953609D-AC24-256D-2352-56D271A18059}"/>
                </a:ext>
              </a:extLst>
            </p:cNvPr>
            <p:cNvSpPr/>
            <p:nvPr/>
          </p:nvSpPr>
          <p:spPr>
            <a:xfrm rot="10800000">
              <a:off x="6691746" y="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F5FEF8A4-A8FB-9B1F-0982-15836729EF70}"/>
                </a:ext>
              </a:extLst>
            </p:cNvPr>
            <p:cNvSpPr/>
            <p:nvPr/>
          </p:nvSpPr>
          <p:spPr>
            <a:xfrm rot="10800000">
              <a:off x="8601014" y="342899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63">
              <a:extLst>
                <a:ext uri="{FF2B5EF4-FFF2-40B4-BE49-F238E27FC236}">
                  <a16:creationId xmlns:a16="http://schemas.microsoft.com/office/drawing/2014/main" id="{63EC8A91-82F3-A5B0-554B-09AFC1ED53EC}"/>
                </a:ext>
              </a:extLst>
            </p:cNvPr>
            <p:cNvSpPr/>
            <p:nvPr/>
          </p:nvSpPr>
          <p:spPr>
            <a:xfrm rot="10800000">
              <a:off x="10510281" y="3429000"/>
              <a:ext cx="1681719" cy="1645920"/>
            </a:xfrm>
            <a:custGeom>
              <a:avLst/>
              <a:gdLst>
                <a:gd name="connsiteX0" fmla="*/ 1681719 w 1681719"/>
                <a:gd name="connsiteY0" fmla="*/ 1645920 h 1645920"/>
                <a:gd name="connsiteX1" fmla="*/ 0 w 1681719"/>
                <a:gd name="connsiteY1" fmla="*/ 1645920 h 1645920"/>
                <a:gd name="connsiteX2" fmla="*/ 0 w 1681719"/>
                <a:gd name="connsiteY2" fmla="*/ 1253596 h 1645920"/>
                <a:gd name="connsiteX3" fmla="*/ 727086 w 1681719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19" h="1645920">
                  <a:moveTo>
                    <a:pt x="1681719" y="1645920"/>
                  </a:moveTo>
                  <a:lnTo>
                    <a:pt x="0" y="1645920"/>
                  </a:lnTo>
                  <a:lnTo>
                    <a:pt x="0" y="1253596"/>
                  </a:lnTo>
                  <a:lnTo>
                    <a:pt x="727086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1">
              <a:extLst>
                <a:ext uri="{FF2B5EF4-FFF2-40B4-BE49-F238E27FC236}">
                  <a16:creationId xmlns:a16="http://schemas.microsoft.com/office/drawing/2014/main" id="{47EED67A-05C3-BBF9-88AE-7F7297C44CB7}"/>
                </a:ext>
              </a:extLst>
            </p:cNvPr>
            <p:cNvSpPr/>
            <p:nvPr/>
          </p:nvSpPr>
          <p:spPr>
            <a:xfrm>
              <a:off x="10510280" y="1783080"/>
              <a:ext cx="1681720" cy="1645920"/>
            </a:xfrm>
            <a:custGeom>
              <a:avLst/>
              <a:gdLst>
                <a:gd name="connsiteX0" fmla="*/ 954634 w 1681720"/>
                <a:gd name="connsiteY0" fmla="*/ 0 h 1645920"/>
                <a:gd name="connsiteX1" fmla="*/ 1681720 w 1681720"/>
                <a:gd name="connsiteY1" fmla="*/ 1253598 h 1645920"/>
                <a:gd name="connsiteX2" fmla="*/ 1681720 w 1681720"/>
                <a:gd name="connsiteY2" fmla="*/ 1645920 h 1645920"/>
                <a:gd name="connsiteX3" fmla="*/ 0 w 1681720"/>
                <a:gd name="connsiteY3" fmla="*/ 164592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0" h="1645920">
                  <a:moveTo>
                    <a:pt x="954634" y="0"/>
                  </a:moveTo>
                  <a:lnTo>
                    <a:pt x="1681720" y="1253598"/>
                  </a:lnTo>
                  <a:lnTo>
                    <a:pt x="1681720" y="1645920"/>
                  </a:lnTo>
                  <a:lnTo>
                    <a:pt x="0" y="164592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B1FB84B6-1451-7E4C-D27F-8F3DF41AA22B}"/>
                </a:ext>
              </a:extLst>
            </p:cNvPr>
            <p:cNvSpPr/>
            <p:nvPr/>
          </p:nvSpPr>
          <p:spPr>
            <a:xfrm>
              <a:off x="8600991" y="5078022"/>
              <a:ext cx="1909281" cy="1645933"/>
            </a:xfrm>
            <a:prstGeom prst="triangle">
              <a:avLst/>
            </a:prstGeom>
            <a:solidFill>
              <a:srgbClr val="A5CFE5">
                <a:alpha val="52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59">
              <a:extLst>
                <a:ext uri="{FF2B5EF4-FFF2-40B4-BE49-F238E27FC236}">
                  <a16:creationId xmlns:a16="http://schemas.microsoft.com/office/drawing/2014/main" id="{B5720E1C-A987-3832-8EF4-C6994FBD30CA}"/>
                </a:ext>
              </a:extLst>
            </p:cNvPr>
            <p:cNvSpPr/>
            <p:nvPr/>
          </p:nvSpPr>
          <p:spPr>
            <a:xfrm rot="10800000">
              <a:off x="10510279" y="137158"/>
              <a:ext cx="1681721" cy="1645920"/>
            </a:xfrm>
            <a:custGeom>
              <a:avLst/>
              <a:gdLst>
                <a:gd name="connsiteX0" fmla="*/ 1681721 w 1681721"/>
                <a:gd name="connsiteY0" fmla="*/ 1645920 h 1645920"/>
                <a:gd name="connsiteX1" fmla="*/ 0 w 1681721"/>
                <a:gd name="connsiteY1" fmla="*/ 1645920 h 1645920"/>
                <a:gd name="connsiteX2" fmla="*/ 0 w 1681721"/>
                <a:gd name="connsiteY2" fmla="*/ 1253600 h 1645920"/>
                <a:gd name="connsiteX3" fmla="*/ 727088 w 1681721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1" h="1645920">
                  <a:moveTo>
                    <a:pt x="1681721" y="1645920"/>
                  </a:moveTo>
                  <a:lnTo>
                    <a:pt x="0" y="1645920"/>
                  </a:lnTo>
                  <a:lnTo>
                    <a:pt x="0" y="1253600"/>
                  </a:lnTo>
                  <a:lnTo>
                    <a:pt x="727088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1F449471-372F-1924-CF01-4DA1F28154CC}"/>
                </a:ext>
              </a:extLst>
            </p:cNvPr>
            <p:cNvSpPr/>
            <p:nvPr/>
          </p:nvSpPr>
          <p:spPr>
            <a:xfrm>
              <a:off x="9555645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48046DF0-5D40-3220-DCDB-7D0DDE4B18E5}"/>
                </a:ext>
              </a:extLst>
            </p:cNvPr>
            <p:cNvSpPr/>
            <p:nvPr/>
          </p:nvSpPr>
          <p:spPr>
            <a:xfrm rot="10800000">
              <a:off x="7646375" y="507491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3283FEA5-AE6D-452E-A854-A161BA77F3EA}"/>
                </a:ext>
              </a:extLst>
            </p:cNvPr>
            <p:cNvSpPr/>
            <p:nvPr/>
          </p:nvSpPr>
          <p:spPr>
            <a:xfrm>
              <a:off x="6691725" y="5074928"/>
              <a:ext cx="1909257" cy="1645912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4CEF664E-504D-2E45-9E25-C32A62276501}"/>
                </a:ext>
              </a:extLst>
            </p:cNvPr>
            <p:cNvSpPr/>
            <p:nvPr/>
          </p:nvSpPr>
          <p:spPr>
            <a:xfrm rot="10800000">
              <a:off x="9555641" y="507492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4B6B1CB4-DFB3-FFDC-95FB-D8880EE41509}"/>
                </a:ext>
              </a:extLst>
            </p:cNvPr>
            <p:cNvSpPr/>
            <p:nvPr/>
          </p:nvSpPr>
          <p:spPr>
            <a:xfrm rot="10800000">
              <a:off x="9555641" y="1783080"/>
              <a:ext cx="1909267" cy="1645920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E2D6F93E-9980-4FD3-7EC6-1B2A94AD3E8F}"/>
                </a:ext>
              </a:extLst>
            </p:cNvPr>
            <p:cNvSpPr/>
            <p:nvPr/>
          </p:nvSpPr>
          <p:spPr>
            <a:xfrm>
              <a:off x="7646348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B412593-4ED4-2A1D-9A4B-D214EC704C1C}"/>
                </a:ext>
              </a:extLst>
            </p:cNvPr>
            <p:cNvCxnSpPr/>
            <p:nvPr/>
          </p:nvCxnSpPr>
          <p:spPr>
            <a:xfrm flipH="1">
              <a:off x="7285065" y="765802"/>
              <a:ext cx="954634" cy="1645920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AB40A4C-E391-B9CE-9A26-BF42E62663AF}"/>
                </a:ext>
              </a:extLst>
            </p:cNvPr>
            <p:cNvCxnSpPr/>
            <p:nvPr/>
          </p:nvCxnSpPr>
          <p:spPr>
            <a:xfrm flipH="1">
              <a:off x="661651" y="2935908"/>
              <a:ext cx="304858" cy="525617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B909C5F-B239-1755-25F1-A66F405F7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t="24590"/>
            <a:stretch>
              <a:fillRect/>
            </a:stretch>
          </p:blipFill>
          <p:spPr>
            <a:xfrm>
              <a:off x="966539" y="1"/>
              <a:ext cx="3127519" cy="2032061"/>
            </a:xfrm>
            <a:custGeom>
              <a:avLst/>
              <a:gdLst>
                <a:gd name="connsiteX0" fmla="*/ 0 w 3127519"/>
                <a:gd name="connsiteY0" fmla="*/ 0 h 2032061"/>
                <a:gd name="connsiteX1" fmla="*/ 3127519 w 3127519"/>
                <a:gd name="connsiteY1" fmla="*/ 0 h 2032061"/>
                <a:gd name="connsiteX2" fmla="*/ 3127519 w 3127519"/>
                <a:gd name="connsiteY2" fmla="*/ 2032061 h 2032061"/>
                <a:gd name="connsiteX3" fmla="*/ 0 w 3127519"/>
                <a:gd name="connsiteY3" fmla="*/ 2032061 h 2032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27519" h="2032061">
                  <a:moveTo>
                    <a:pt x="0" y="0"/>
                  </a:moveTo>
                  <a:lnTo>
                    <a:pt x="3127519" y="0"/>
                  </a:lnTo>
                  <a:lnTo>
                    <a:pt x="3127519" y="2032061"/>
                  </a:lnTo>
                  <a:lnTo>
                    <a:pt x="0" y="2032061"/>
                  </a:lnTo>
                  <a:close/>
                </a:path>
              </a:pathLst>
            </a:cu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4770B79-34AA-4CDC-C968-1E57690C1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 b="18265"/>
            <a:stretch>
              <a:fillRect/>
            </a:stretch>
          </p:blipFill>
          <p:spPr>
            <a:xfrm>
              <a:off x="16550" y="4281805"/>
              <a:ext cx="2975106" cy="2576195"/>
            </a:xfrm>
            <a:custGeom>
              <a:avLst/>
              <a:gdLst>
                <a:gd name="connsiteX0" fmla="*/ 0 w 2975106"/>
                <a:gd name="connsiteY0" fmla="*/ 0 h 2576195"/>
                <a:gd name="connsiteX1" fmla="*/ 2975106 w 2975106"/>
                <a:gd name="connsiteY1" fmla="*/ 0 h 2576195"/>
                <a:gd name="connsiteX2" fmla="*/ 2975106 w 2975106"/>
                <a:gd name="connsiteY2" fmla="*/ 2576195 h 2576195"/>
                <a:gd name="connsiteX3" fmla="*/ 0 w 2975106"/>
                <a:gd name="connsiteY3" fmla="*/ 2576195 h 2576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5106" h="2576195">
                  <a:moveTo>
                    <a:pt x="0" y="0"/>
                  </a:moveTo>
                  <a:lnTo>
                    <a:pt x="2975106" y="0"/>
                  </a:lnTo>
                  <a:lnTo>
                    <a:pt x="2975106" y="2576195"/>
                  </a:lnTo>
                  <a:lnTo>
                    <a:pt x="0" y="2576195"/>
                  </a:lnTo>
                  <a:close/>
                </a:path>
              </a:pathLst>
            </a:cu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842B718-83F5-6A91-9B25-DD87324ED48D}"/>
              </a:ext>
            </a:extLst>
          </p:cNvPr>
          <p:cNvSpPr txBox="1"/>
          <p:nvPr/>
        </p:nvSpPr>
        <p:spPr>
          <a:xfrm>
            <a:off x="966509" y="2680684"/>
            <a:ext cx="83688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幼圆" panose="02010509060101010101" pitchFamily="49" charset="-122"/>
                <a:ea typeface="幼圆" panose="02010509060101010101" pitchFamily="49" charset="-122"/>
              </a:rPr>
              <a:t>研究内容与目标</a:t>
            </a: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FA6FCEA7-7ECF-A9B3-869D-B3BBDE629D3C}"/>
              </a:ext>
            </a:extLst>
          </p:cNvPr>
          <p:cNvSpPr/>
          <p:nvPr/>
        </p:nvSpPr>
        <p:spPr>
          <a:xfrm rot="17411441">
            <a:off x="7076861" y="2785477"/>
            <a:ext cx="157387" cy="397133"/>
          </a:xfrm>
          <a:prstGeom prst="triangle">
            <a:avLst/>
          </a:pr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599F0C6F-CF99-4757-CDAE-D1302A5EA87B}"/>
              </a:ext>
            </a:extLst>
          </p:cNvPr>
          <p:cNvSpPr/>
          <p:nvPr/>
        </p:nvSpPr>
        <p:spPr>
          <a:xfrm rot="13615302">
            <a:off x="6826212" y="2560435"/>
            <a:ext cx="105790" cy="511888"/>
          </a:xfrm>
          <a:prstGeom prst="triangle">
            <a:avLst/>
          </a:prstGeom>
          <a:solidFill>
            <a:srgbClr val="A5CF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046C117-98B2-65FE-7EDF-670B6D09F4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169B79DE-C7E1-993D-0BDB-0905D4937395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DF32A03C-0443-241E-EA18-1C45F267D73B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7CA468C6-7CAF-36B8-C8D0-403315AF2CF5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EEA5504E-0AB4-B3E9-B2F8-A3EAC8EB82F9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414709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19:43-d3jnsbos8jdo4os5dm3g.jpg">
            <a:extLst>
              <a:ext uri="{FF2B5EF4-FFF2-40B4-BE49-F238E27FC236}">
                <a16:creationId xmlns:a16="http://schemas.microsoft.com/office/drawing/2014/main" id="{F4656CAF-1CD8-8996-9E94-5C95E4D59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AC3E902-22B1-81FD-3D65-C8892187F6C9}"/>
              </a:ext>
            </a:extLst>
          </p:cNvPr>
          <p:cNvSpPr/>
          <p:nvPr/>
        </p:nvSpPr>
        <p:spPr>
          <a:xfrm>
            <a:off x="254000" y="1036924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金融舆情风险监测系统整体</a:t>
            </a:r>
            <a:r>
              <a:rPr lang="en-US" sz="3000" b="1" dirty="0" err="1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布局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47A27C-CB02-9E59-5941-7C7B84E93AFA}"/>
              </a:ext>
            </a:extLst>
          </p:cNvPr>
          <p:cNvSpPr/>
          <p:nvPr/>
        </p:nvSpPr>
        <p:spPr>
          <a:xfrm>
            <a:off x="257124" y="1777508"/>
            <a:ext cx="543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1600" dirty="0">
                <a:solidFill>
                  <a:srgbClr val="0F2F5E"/>
                </a:solidFill>
                <a:ea typeface="MiSans" pitchFamily="34" charset="-122"/>
              </a:rPr>
              <a:t>采用“平台一体化”架构，系统可部署为独立的</a:t>
            </a:r>
            <a:r>
              <a:rPr lang="en-US" altLang="zh-CN" sz="1600" dirty="0">
                <a:solidFill>
                  <a:srgbClr val="0F2F5E"/>
                </a:solidFill>
                <a:ea typeface="MiSans" pitchFamily="34" charset="-122"/>
              </a:rPr>
              <a:t>Web</a:t>
            </a:r>
            <a:r>
              <a:rPr lang="zh-CN" altLang="en-US" sz="1600" dirty="0">
                <a:solidFill>
                  <a:srgbClr val="0F2F5E"/>
                </a:solidFill>
                <a:ea typeface="MiSans" pitchFamily="34" charset="-122"/>
              </a:rPr>
              <a:t>服务或桌面应用，实现从数据采集到风险可视化的全流程无缝集成。后端核心由三部分组成</a:t>
            </a:r>
            <a:endParaRPr lang="en-US" sz="1600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819F7F5-9C98-A0D1-4F7D-1AD291BDED13}"/>
              </a:ext>
            </a:extLst>
          </p:cNvPr>
          <p:cNvGrpSpPr/>
          <p:nvPr/>
        </p:nvGrpSpPr>
        <p:grpSpPr>
          <a:xfrm>
            <a:off x="923823" y="3292606"/>
            <a:ext cx="1259291" cy="1384488"/>
            <a:chOff x="1407708" y="2117354"/>
            <a:chExt cx="1259291" cy="1384488"/>
          </a:xfrm>
          <a:solidFill>
            <a:srgbClr val="8CD9E8"/>
          </a:solidFill>
        </p:grpSpPr>
        <p:sp>
          <p:nvSpPr>
            <p:cNvPr id="36" name="六边形 35">
              <a:extLst>
                <a:ext uri="{FF2B5EF4-FFF2-40B4-BE49-F238E27FC236}">
                  <a16:creationId xmlns:a16="http://schemas.microsoft.com/office/drawing/2014/main" id="{56848990-F599-DDB5-4D23-E05622B87B17}"/>
                </a:ext>
              </a:extLst>
            </p:cNvPr>
            <p:cNvSpPr/>
            <p:nvPr/>
          </p:nvSpPr>
          <p:spPr>
            <a:xfrm rot="5400000">
              <a:off x="1345110" y="2179952"/>
              <a:ext cx="1384488" cy="1259291"/>
            </a:xfrm>
            <a:prstGeom prst="hexagon">
              <a:avLst>
                <a:gd name="adj" fmla="val 26941"/>
                <a:gd name="vf" fmla="val 115470"/>
              </a:avLst>
            </a:prstGeom>
            <a:noFill/>
            <a:ln w="38100">
              <a:solidFill>
                <a:srgbClr val="8CD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3ABCF3DB-3D40-02DA-B9F2-259B4670A304}"/>
                </a:ext>
              </a:extLst>
            </p:cNvPr>
            <p:cNvGrpSpPr/>
            <p:nvPr/>
          </p:nvGrpSpPr>
          <p:grpSpPr>
            <a:xfrm>
              <a:off x="1733977" y="2499643"/>
              <a:ext cx="609173" cy="583930"/>
              <a:chOff x="8730799" y="2675316"/>
              <a:chExt cx="376169" cy="360581"/>
            </a:xfrm>
            <a:grpFill/>
          </p:grpSpPr>
          <p:sp>
            <p:nvSpPr>
              <p:cNvPr id="38" name="Freeform 243">
                <a:extLst>
                  <a:ext uri="{FF2B5EF4-FFF2-40B4-BE49-F238E27FC236}">
                    <a16:creationId xmlns:a16="http://schemas.microsoft.com/office/drawing/2014/main" id="{DA13CABD-3A4B-A6DD-4F4F-AC041CE2A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50058" y="2679474"/>
                <a:ext cx="156910" cy="150676"/>
              </a:xfrm>
              <a:custGeom>
                <a:avLst/>
                <a:gdLst>
                  <a:gd name="T0" fmla="*/ 21 w 64"/>
                  <a:gd name="T1" fmla="*/ 0 h 61"/>
                  <a:gd name="T2" fmla="*/ 0 w 64"/>
                  <a:gd name="T3" fmla="*/ 61 h 61"/>
                  <a:gd name="T4" fmla="*/ 64 w 64"/>
                  <a:gd name="T5" fmla="*/ 61 h 61"/>
                  <a:gd name="T6" fmla="*/ 21 w 64"/>
                  <a:gd name="T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61">
                    <a:moveTo>
                      <a:pt x="21" y="0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64" y="61"/>
                      <a:pt x="64" y="61"/>
                      <a:pt x="64" y="61"/>
                    </a:cubicBezTo>
                    <a:cubicBezTo>
                      <a:pt x="64" y="33"/>
                      <a:pt x="46" y="9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244">
                <a:extLst>
                  <a:ext uri="{FF2B5EF4-FFF2-40B4-BE49-F238E27FC236}">
                    <a16:creationId xmlns:a16="http://schemas.microsoft.com/office/drawing/2014/main" id="{9854E751-8737-1A26-F340-7EDB73664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30799" y="2675316"/>
                <a:ext cx="363698" cy="360581"/>
              </a:xfrm>
              <a:custGeom>
                <a:avLst/>
                <a:gdLst>
                  <a:gd name="T0" fmla="*/ 98 w 148"/>
                  <a:gd name="T1" fmla="*/ 4 h 147"/>
                  <a:gd name="T2" fmla="*/ 74 w 148"/>
                  <a:gd name="T3" fmla="*/ 0 h 147"/>
                  <a:gd name="T4" fmla="*/ 0 w 148"/>
                  <a:gd name="T5" fmla="*/ 74 h 147"/>
                  <a:gd name="T6" fmla="*/ 74 w 148"/>
                  <a:gd name="T7" fmla="*/ 147 h 147"/>
                  <a:gd name="T8" fmla="*/ 148 w 148"/>
                  <a:gd name="T9" fmla="*/ 74 h 147"/>
                  <a:gd name="T10" fmla="*/ 74 w 148"/>
                  <a:gd name="T11" fmla="*/ 74 h 147"/>
                  <a:gd name="T12" fmla="*/ 98 w 148"/>
                  <a:gd name="T13" fmla="*/ 4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8" h="147">
                    <a:moveTo>
                      <a:pt x="98" y="4"/>
                    </a:moveTo>
                    <a:cubicBezTo>
                      <a:pt x="91" y="1"/>
                      <a:pt x="83" y="0"/>
                      <a:pt x="74" y="0"/>
                    </a:cubicBezTo>
                    <a:cubicBezTo>
                      <a:pt x="33" y="0"/>
                      <a:pt x="0" y="33"/>
                      <a:pt x="0" y="74"/>
                    </a:cubicBezTo>
                    <a:cubicBezTo>
                      <a:pt x="0" y="114"/>
                      <a:pt x="33" y="147"/>
                      <a:pt x="74" y="147"/>
                    </a:cubicBezTo>
                    <a:cubicBezTo>
                      <a:pt x="115" y="147"/>
                      <a:pt x="148" y="114"/>
                      <a:pt x="148" y="74"/>
                    </a:cubicBezTo>
                    <a:cubicBezTo>
                      <a:pt x="74" y="74"/>
                      <a:pt x="74" y="74"/>
                      <a:pt x="74" y="74"/>
                    </a:cubicBezTo>
                    <a:lnTo>
                      <a:pt x="98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E1A28B"/>
                  </a:solidFill>
                </a:endParaRPr>
              </a:p>
            </p:txBody>
          </p:sp>
        </p:grp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0AC2F7C-6041-BBCB-0669-70EB74B65802}"/>
              </a:ext>
            </a:extLst>
          </p:cNvPr>
          <p:cNvGrpSpPr/>
          <p:nvPr/>
        </p:nvGrpSpPr>
        <p:grpSpPr>
          <a:xfrm>
            <a:off x="906311" y="5066118"/>
            <a:ext cx="1259291" cy="1384488"/>
            <a:chOff x="7979960" y="2117354"/>
            <a:chExt cx="1259291" cy="1384488"/>
          </a:xfrm>
          <a:solidFill>
            <a:srgbClr val="8CD9E8"/>
          </a:solidFill>
        </p:grpSpPr>
        <p:sp>
          <p:nvSpPr>
            <p:cNvPr id="41" name="六边形 40">
              <a:extLst>
                <a:ext uri="{FF2B5EF4-FFF2-40B4-BE49-F238E27FC236}">
                  <a16:creationId xmlns:a16="http://schemas.microsoft.com/office/drawing/2014/main" id="{E67D547C-56FF-0282-93A4-0DD07FEE8422}"/>
                </a:ext>
              </a:extLst>
            </p:cNvPr>
            <p:cNvSpPr/>
            <p:nvPr/>
          </p:nvSpPr>
          <p:spPr>
            <a:xfrm rot="5400000">
              <a:off x="7917362" y="2179952"/>
              <a:ext cx="1384488" cy="1259291"/>
            </a:xfrm>
            <a:prstGeom prst="hexagon">
              <a:avLst>
                <a:gd name="adj" fmla="val 26941"/>
                <a:gd name="vf" fmla="val 115470"/>
              </a:avLst>
            </a:prstGeom>
            <a:noFill/>
            <a:ln w="38100">
              <a:solidFill>
                <a:srgbClr val="8CD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14D9EE9F-EE57-21A2-7F4F-EA8D9CFC7F57}"/>
                </a:ext>
              </a:extLst>
            </p:cNvPr>
            <p:cNvGrpSpPr/>
            <p:nvPr/>
          </p:nvGrpSpPr>
          <p:grpSpPr>
            <a:xfrm>
              <a:off x="8222152" y="2433174"/>
              <a:ext cx="804374" cy="716869"/>
              <a:chOff x="8674686" y="3568976"/>
              <a:chExt cx="496707" cy="442672"/>
            </a:xfrm>
            <a:grpFill/>
          </p:grpSpPr>
          <p:sp>
            <p:nvSpPr>
              <p:cNvPr id="43" name="Freeform 279">
                <a:extLst>
                  <a:ext uri="{FF2B5EF4-FFF2-40B4-BE49-F238E27FC236}">
                    <a16:creationId xmlns:a16="http://schemas.microsoft.com/office/drawing/2014/main" id="{4A77458D-E727-8B6B-D9AF-296F6E22AC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674686" y="3568976"/>
                <a:ext cx="368894" cy="368894"/>
              </a:xfrm>
              <a:custGeom>
                <a:avLst/>
                <a:gdLst>
                  <a:gd name="T0" fmla="*/ 125 w 150"/>
                  <a:gd name="T1" fmla="*/ 125 h 150"/>
                  <a:gd name="T2" fmla="*/ 121 w 150"/>
                  <a:gd name="T3" fmla="*/ 118 h 150"/>
                  <a:gd name="T4" fmla="*/ 131 w 150"/>
                  <a:gd name="T5" fmla="*/ 104 h 150"/>
                  <a:gd name="T6" fmla="*/ 139 w 150"/>
                  <a:gd name="T7" fmla="*/ 106 h 150"/>
                  <a:gd name="T8" fmla="*/ 145 w 150"/>
                  <a:gd name="T9" fmla="*/ 102 h 150"/>
                  <a:gd name="T10" fmla="*/ 150 w 150"/>
                  <a:gd name="T11" fmla="*/ 80 h 150"/>
                  <a:gd name="T12" fmla="*/ 146 w 150"/>
                  <a:gd name="T13" fmla="*/ 74 h 150"/>
                  <a:gd name="T14" fmla="*/ 139 w 150"/>
                  <a:gd name="T15" fmla="*/ 73 h 150"/>
                  <a:gd name="T16" fmla="*/ 137 w 150"/>
                  <a:gd name="T17" fmla="*/ 56 h 150"/>
                  <a:gd name="T18" fmla="*/ 142 w 150"/>
                  <a:gd name="T19" fmla="*/ 53 h 150"/>
                  <a:gd name="T20" fmla="*/ 144 w 150"/>
                  <a:gd name="T21" fmla="*/ 46 h 150"/>
                  <a:gd name="T22" fmla="*/ 133 w 150"/>
                  <a:gd name="T23" fmla="*/ 27 h 150"/>
                  <a:gd name="T24" fmla="*/ 125 w 150"/>
                  <a:gd name="T25" fmla="*/ 25 h 150"/>
                  <a:gd name="T26" fmla="*/ 122 w 150"/>
                  <a:gd name="T27" fmla="*/ 28 h 150"/>
                  <a:gd name="T28" fmla="*/ 105 w 150"/>
                  <a:gd name="T29" fmla="*/ 15 h 150"/>
                  <a:gd name="T30" fmla="*/ 106 w 150"/>
                  <a:gd name="T31" fmla="*/ 12 h 150"/>
                  <a:gd name="T32" fmla="*/ 102 w 150"/>
                  <a:gd name="T33" fmla="*/ 5 h 150"/>
                  <a:gd name="T34" fmla="*/ 81 w 150"/>
                  <a:gd name="T35" fmla="*/ 1 h 150"/>
                  <a:gd name="T36" fmla="*/ 74 w 150"/>
                  <a:gd name="T37" fmla="*/ 5 h 150"/>
                  <a:gd name="T38" fmla="*/ 74 w 150"/>
                  <a:gd name="T39" fmla="*/ 8 h 150"/>
                  <a:gd name="T40" fmla="*/ 55 w 150"/>
                  <a:gd name="T41" fmla="*/ 11 h 150"/>
                  <a:gd name="T42" fmla="*/ 53 w 150"/>
                  <a:gd name="T43" fmla="*/ 8 h 150"/>
                  <a:gd name="T44" fmla="*/ 46 w 150"/>
                  <a:gd name="T45" fmla="*/ 6 h 150"/>
                  <a:gd name="T46" fmla="*/ 27 w 150"/>
                  <a:gd name="T47" fmla="*/ 18 h 150"/>
                  <a:gd name="T48" fmla="*/ 26 w 150"/>
                  <a:gd name="T49" fmla="*/ 25 h 150"/>
                  <a:gd name="T50" fmla="*/ 28 w 150"/>
                  <a:gd name="T51" fmla="*/ 28 h 150"/>
                  <a:gd name="T52" fmla="*/ 16 w 150"/>
                  <a:gd name="T53" fmla="*/ 45 h 150"/>
                  <a:gd name="T54" fmla="*/ 12 w 150"/>
                  <a:gd name="T55" fmla="*/ 44 h 150"/>
                  <a:gd name="T56" fmla="*/ 6 w 150"/>
                  <a:gd name="T57" fmla="*/ 48 h 150"/>
                  <a:gd name="T58" fmla="*/ 1 w 150"/>
                  <a:gd name="T59" fmla="*/ 70 h 150"/>
                  <a:gd name="T60" fmla="*/ 5 w 150"/>
                  <a:gd name="T61" fmla="*/ 76 h 150"/>
                  <a:gd name="T62" fmla="*/ 11 w 150"/>
                  <a:gd name="T63" fmla="*/ 77 h 150"/>
                  <a:gd name="T64" fmla="*/ 14 w 150"/>
                  <a:gd name="T65" fmla="*/ 94 h 150"/>
                  <a:gd name="T66" fmla="*/ 8 w 150"/>
                  <a:gd name="T67" fmla="*/ 97 h 150"/>
                  <a:gd name="T68" fmla="*/ 7 w 150"/>
                  <a:gd name="T69" fmla="*/ 104 h 150"/>
                  <a:gd name="T70" fmla="*/ 18 w 150"/>
                  <a:gd name="T71" fmla="*/ 123 h 150"/>
                  <a:gd name="T72" fmla="*/ 25 w 150"/>
                  <a:gd name="T73" fmla="*/ 125 h 150"/>
                  <a:gd name="T74" fmla="*/ 32 w 150"/>
                  <a:gd name="T75" fmla="*/ 121 h 150"/>
                  <a:gd name="T76" fmla="*/ 47 w 150"/>
                  <a:gd name="T77" fmla="*/ 130 h 150"/>
                  <a:gd name="T78" fmla="*/ 45 w 150"/>
                  <a:gd name="T79" fmla="*/ 139 h 150"/>
                  <a:gd name="T80" fmla="*/ 49 w 150"/>
                  <a:gd name="T81" fmla="*/ 145 h 150"/>
                  <a:gd name="T82" fmla="*/ 70 w 150"/>
                  <a:gd name="T83" fmla="*/ 150 h 150"/>
                  <a:gd name="T84" fmla="*/ 76 w 150"/>
                  <a:gd name="T85" fmla="*/ 146 h 150"/>
                  <a:gd name="T86" fmla="*/ 78 w 150"/>
                  <a:gd name="T87" fmla="*/ 137 h 150"/>
                  <a:gd name="T88" fmla="*/ 93 w 150"/>
                  <a:gd name="T89" fmla="*/ 134 h 150"/>
                  <a:gd name="T90" fmla="*/ 97 w 150"/>
                  <a:gd name="T91" fmla="*/ 142 h 150"/>
                  <a:gd name="T92" fmla="*/ 105 w 150"/>
                  <a:gd name="T93" fmla="*/ 144 h 150"/>
                  <a:gd name="T94" fmla="*/ 123 w 150"/>
                  <a:gd name="T95" fmla="*/ 132 h 150"/>
                  <a:gd name="T96" fmla="*/ 125 w 150"/>
                  <a:gd name="T97" fmla="*/ 125 h 150"/>
                  <a:gd name="T98" fmla="*/ 45 w 150"/>
                  <a:gd name="T99" fmla="*/ 90 h 150"/>
                  <a:gd name="T100" fmla="*/ 57 w 150"/>
                  <a:gd name="T101" fmla="*/ 43 h 150"/>
                  <a:gd name="T102" fmla="*/ 104 w 150"/>
                  <a:gd name="T103" fmla="*/ 54 h 150"/>
                  <a:gd name="T104" fmla="*/ 93 w 150"/>
                  <a:gd name="T105" fmla="*/ 102 h 150"/>
                  <a:gd name="T106" fmla="*/ 45 w 150"/>
                  <a:gd name="T107" fmla="*/ 9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0" h="150">
                    <a:moveTo>
                      <a:pt x="125" y="125"/>
                    </a:moveTo>
                    <a:cubicBezTo>
                      <a:pt x="121" y="118"/>
                      <a:pt x="121" y="118"/>
                      <a:pt x="121" y="118"/>
                    </a:cubicBezTo>
                    <a:cubicBezTo>
                      <a:pt x="125" y="114"/>
                      <a:pt x="128" y="109"/>
                      <a:pt x="131" y="104"/>
                    </a:cubicBezTo>
                    <a:cubicBezTo>
                      <a:pt x="139" y="106"/>
                      <a:pt x="139" y="106"/>
                      <a:pt x="139" y="106"/>
                    </a:cubicBezTo>
                    <a:cubicBezTo>
                      <a:pt x="142" y="106"/>
                      <a:pt x="144" y="105"/>
                      <a:pt x="145" y="102"/>
                    </a:cubicBezTo>
                    <a:cubicBezTo>
                      <a:pt x="150" y="80"/>
                      <a:pt x="150" y="80"/>
                      <a:pt x="150" y="80"/>
                    </a:cubicBezTo>
                    <a:cubicBezTo>
                      <a:pt x="150" y="77"/>
                      <a:pt x="149" y="75"/>
                      <a:pt x="146" y="74"/>
                    </a:cubicBezTo>
                    <a:cubicBezTo>
                      <a:pt x="139" y="73"/>
                      <a:pt x="139" y="73"/>
                      <a:pt x="139" y="73"/>
                    </a:cubicBezTo>
                    <a:cubicBezTo>
                      <a:pt x="139" y="67"/>
                      <a:pt x="139" y="61"/>
                      <a:pt x="137" y="56"/>
                    </a:cubicBezTo>
                    <a:cubicBezTo>
                      <a:pt x="142" y="53"/>
                      <a:pt x="142" y="53"/>
                      <a:pt x="142" y="53"/>
                    </a:cubicBezTo>
                    <a:cubicBezTo>
                      <a:pt x="145" y="51"/>
                      <a:pt x="146" y="48"/>
                      <a:pt x="144" y="46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1" y="25"/>
                      <a:pt x="128" y="24"/>
                      <a:pt x="125" y="25"/>
                    </a:cubicBezTo>
                    <a:cubicBezTo>
                      <a:pt x="122" y="28"/>
                      <a:pt x="122" y="28"/>
                      <a:pt x="122" y="28"/>
                    </a:cubicBezTo>
                    <a:cubicBezTo>
                      <a:pt x="117" y="23"/>
                      <a:pt x="111" y="18"/>
                      <a:pt x="105" y="15"/>
                    </a:cubicBezTo>
                    <a:cubicBezTo>
                      <a:pt x="106" y="12"/>
                      <a:pt x="106" y="12"/>
                      <a:pt x="106" y="12"/>
                    </a:cubicBezTo>
                    <a:cubicBezTo>
                      <a:pt x="107" y="9"/>
                      <a:pt x="105" y="6"/>
                      <a:pt x="102" y="5"/>
                    </a:cubicBezTo>
                    <a:cubicBezTo>
                      <a:pt x="81" y="1"/>
                      <a:pt x="81" y="1"/>
                      <a:pt x="81" y="1"/>
                    </a:cubicBezTo>
                    <a:cubicBezTo>
                      <a:pt x="78" y="0"/>
                      <a:pt x="75" y="2"/>
                      <a:pt x="74" y="5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67" y="8"/>
                      <a:pt x="61" y="9"/>
                      <a:pt x="55" y="11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2" y="6"/>
                      <a:pt x="49" y="5"/>
                      <a:pt x="46" y="6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5" y="19"/>
                      <a:pt x="24" y="23"/>
                      <a:pt x="26" y="25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23" y="33"/>
                      <a:pt x="19" y="39"/>
                      <a:pt x="16" y="45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9" y="44"/>
                      <a:pt x="6" y="46"/>
                      <a:pt x="6" y="48"/>
                    </a:cubicBezTo>
                    <a:cubicBezTo>
                      <a:pt x="1" y="70"/>
                      <a:pt x="1" y="70"/>
                      <a:pt x="1" y="70"/>
                    </a:cubicBezTo>
                    <a:cubicBezTo>
                      <a:pt x="0" y="73"/>
                      <a:pt x="2" y="75"/>
                      <a:pt x="5" y="76"/>
                    </a:cubicBezTo>
                    <a:cubicBezTo>
                      <a:pt x="11" y="77"/>
                      <a:pt x="11" y="77"/>
                      <a:pt x="11" y="77"/>
                    </a:cubicBezTo>
                    <a:cubicBezTo>
                      <a:pt x="11" y="83"/>
                      <a:pt x="12" y="88"/>
                      <a:pt x="14" y="94"/>
                    </a:cubicBezTo>
                    <a:cubicBezTo>
                      <a:pt x="8" y="97"/>
                      <a:pt x="8" y="97"/>
                      <a:pt x="8" y="97"/>
                    </a:cubicBezTo>
                    <a:cubicBezTo>
                      <a:pt x="6" y="99"/>
                      <a:pt x="5" y="102"/>
                      <a:pt x="7" y="104"/>
                    </a:cubicBezTo>
                    <a:cubicBezTo>
                      <a:pt x="18" y="123"/>
                      <a:pt x="18" y="123"/>
                      <a:pt x="18" y="123"/>
                    </a:cubicBezTo>
                    <a:cubicBezTo>
                      <a:pt x="20" y="125"/>
                      <a:pt x="23" y="126"/>
                      <a:pt x="25" y="125"/>
                    </a:cubicBezTo>
                    <a:cubicBezTo>
                      <a:pt x="32" y="121"/>
                      <a:pt x="32" y="121"/>
                      <a:pt x="32" y="121"/>
                    </a:cubicBezTo>
                    <a:cubicBezTo>
                      <a:pt x="37" y="124"/>
                      <a:pt x="41" y="128"/>
                      <a:pt x="47" y="130"/>
                    </a:cubicBezTo>
                    <a:cubicBezTo>
                      <a:pt x="45" y="139"/>
                      <a:pt x="45" y="139"/>
                      <a:pt x="45" y="139"/>
                    </a:cubicBezTo>
                    <a:cubicBezTo>
                      <a:pt x="44" y="141"/>
                      <a:pt x="46" y="144"/>
                      <a:pt x="49" y="145"/>
                    </a:cubicBezTo>
                    <a:cubicBezTo>
                      <a:pt x="70" y="150"/>
                      <a:pt x="70" y="150"/>
                      <a:pt x="70" y="150"/>
                    </a:cubicBezTo>
                    <a:cubicBezTo>
                      <a:pt x="73" y="150"/>
                      <a:pt x="76" y="148"/>
                      <a:pt x="76" y="146"/>
                    </a:cubicBezTo>
                    <a:cubicBezTo>
                      <a:pt x="78" y="137"/>
                      <a:pt x="78" y="137"/>
                      <a:pt x="78" y="137"/>
                    </a:cubicBezTo>
                    <a:cubicBezTo>
                      <a:pt x="83" y="136"/>
                      <a:pt x="88" y="136"/>
                      <a:pt x="93" y="134"/>
                    </a:cubicBezTo>
                    <a:cubicBezTo>
                      <a:pt x="97" y="142"/>
                      <a:pt x="97" y="142"/>
                      <a:pt x="97" y="142"/>
                    </a:cubicBezTo>
                    <a:cubicBezTo>
                      <a:pt x="99" y="144"/>
                      <a:pt x="102" y="145"/>
                      <a:pt x="105" y="144"/>
                    </a:cubicBezTo>
                    <a:cubicBezTo>
                      <a:pt x="123" y="132"/>
                      <a:pt x="123" y="132"/>
                      <a:pt x="123" y="132"/>
                    </a:cubicBezTo>
                    <a:cubicBezTo>
                      <a:pt x="126" y="131"/>
                      <a:pt x="127" y="128"/>
                      <a:pt x="125" y="125"/>
                    </a:cubicBezTo>
                    <a:close/>
                    <a:moveTo>
                      <a:pt x="45" y="90"/>
                    </a:moveTo>
                    <a:cubicBezTo>
                      <a:pt x="35" y="74"/>
                      <a:pt x="41" y="53"/>
                      <a:pt x="57" y="43"/>
                    </a:cubicBezTo>
                    <a:cubicBezTo>
                      <a:pt x="73" y="33"/>
                      <a:pt x="94" y="38"/>
                      <a:pt x="104" y="54"/>
                    </a:cubicBezTo>
                    <a:cubicBezTo>
                      <a:pt x="114" y="70"/>
                      <a:pt x="109" y="92"/>
                      <a:pt x="93" y="102"/>
                    </a:cubicBezTo>
                    <a:cubicBezTo>
                      <a:pt x="77" y="112"/>
                      <a:pt x="55" y="107"/>
                      <a:pt x="45" y="9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280">
                <a:extLst>
                  <a:ext uri="{FF2B5EF4-FFF2-40B4-BE49-F238E27FC236}">
                    <a16:creationId xmlns:a16="http://schemas.microsoft.com/office/drawing/2014/main" id="{9A2F755B-ECDC-9E77-35BD-9BA23E147E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977075" y="3817330"/>
                <a:ext cx="194318" cy="194318"/>
              </a:xfrm>
              <a:custGeom>
                <a:avLst/>
                <a:gdLst>
                  <a:gd name="T0" fmla="*/ 73 w 79"/>
                  <a:gd name="T1" fmla="*/ 57 h 79"/>
                  <a:gd name="T2" fmla="*/ 69 w 79"/>
                  <a:gd name="T3" fmla="*/ 54 h 79"/>
                  <a:gd name="T4" fmla="*/ 72 w 79"/>
                  <a:gd name="T5" fmla="*/ 45 h 79"/>
                  <a:gd name="T6" fmla="*/ 77 w 79"/>
                  <a:gd name="T7" fmla="*/ 45 h 79"/>
                  <a:gd name="T8" fmla="*/ 79 w 79"/>
                  <a:gd name="T9" fmla="*/ 42 h 79"/>
                  <a:gd name="T10" fmla="*/ 78 w 79"/>
                  <a:gd name="T11" fmla="*/ 31 h 79"/>
                  <a:gd name="T12" fmla="*/ 75 w 79"/>
                  <a:gd name="T13" fmla="*/ 28 h 79"/>
                  <a:gd name="T14" fmla="*/ 72 w 79"/>
                  <a:gd name="T15" fmla="*/ 28 h 79"/>
                  <a:gd name="T16" fmla="*/ 68 w 79"/>
                  <a:gd name="T17" fmla="*/ 20 h 79"/>
                  <a:gd name="T18" fmla="*/ 70 w 79"/>
                  <a:gd name="T19" fmla="*/ 18 h 79"/>
                  <a:gd name="T20" fmla="*/ 70 w 79"/>
                  <a:gd name="T21" fmla="*/ 14 h 79"/>
                  <a:gd name="T22" fmla="*/ 61 w 79"/>
                  <a:gd name="T23" fmla="*/ 6 h 79"/>
                  <a:gd name="T24" fmla="*/ 57 w 79"/>
                  <a:gd name="T25" fmla="*/ 7 h 79"/>
                  <a:gd name="T26" fmla="*/ 56 w 79"/>
                  <a:gd name="T27" fmla="*/ 9 h 79"/>
                  <a:gd name="T28" fmla="*/ 45 w 79"/>
                  <a:gd name="T29" fmla="*/ 5 h 79"/>
                  <a:gd name="T30" fmla="*/ 45 w 79"/>
                  <a:gd name="T31" fmla="*/ 3 h 79"/>
                  <a:gd name="T32" fmla="*/ 42 w 79"/>
                  <a:gd name="T33" fmla="*/ 0 h 79"/>
                  <a:gd name="T34" fmla="*/ 31 w 79"/>
                  <a:gd name="T35" fmla="*/ 1 h 79"/>
                  <a:gd name="T36" fmla="*/ 28 w 79"/>
                  <a:gd name="T37" fmla="*/ 4 h 79"/>
                  <a:gd name="T38" fmla="*/ 28 w 79"/>
                  <a:gd name="T39" fmla="*/ 6 h 79"/>
                  <a:gd name="T40" fmla="*/ 19 w 79"/>
                  <a:gd name="T41" fmla="*/ 11 h 79"/>
                  <a:gd name="T42" fmla="*/ 18 w 79"/>
                  <a:gd name="T43" fmla="*/ 10 h 79"/>
                  <a:gd name="T44" fmla="*/ 14 w 79"/>
                  <a:gd name="T45" fmla="*/ 10 h 79"/>
                  <a:gd name="T46" fmla="*/ 7 w 79"/>
                  <a:gd name="T47" fmla="*/ 19 h 79"/>
                  <a:gd name="T48" fmla="*/ 7 w 79"/>
                  <a:gd name="T49" fmla="*/ 22 h 79"/>
                  <a:gd name="T50" fmla="*/ 8 w 79"/>
                  <a:gd name="T51" fmla="*/ 24 h 79"/>
                  <a:gd name="T52" fmla="*/ 5 w 79"/>
                  <a:gd name="T53" fmla="*/ 34 h 79"/>
                  <a:gd name="T54" fmla="*/ 3 w 79"/>
                  <a:gd name="T55" fmla="*/ 34 h 79"/>
                  <a:gd name="T56" fmla="*/ 0 w 79"/>
                  <a:gd name="T57" fmla="*/ 37 h 79"/>
                  <a:gd name="T58" fmla="*/ 1 w 79"/>
                  <a:gd name="T59" fmla="*/ 49 h 79"/>
                  <a:gd name="T60" fmla="*/ 4 w 79"/>
                  <a:gd name="T61" fmla="*/ 51 h 79"/>
                  <a:gd name="T62" fmla="*/ 8 w 79"/>
                  <a:gd name="T63" fmla="*/ 51 h 79"/>
                  <a:gd name="T64" fmla="*/ 12 w 79"/>
                  <a:gd name="T65" fmla="*/ 59 h 79"/>
                  <a:gd name="T66" fmla="*/ 10 w 79"/>
                  <a:gd name="T67" fmla="*/ 61 h 79"/>
                  <a:gd name="T68" fmla="*/ 10 w 79"/>
                  <a:gd name="T69" fmla="*/ 65 h 79"/>
                  <a:gd name="T70" fmla="*/ 19 w 79"/>
                  <a:gd name="T71" fmla="*/ 73 h 79"/>
                  <a:gd name="T72" fmla="*/ 23 w 79"/>
                  <a:gd name="T73" fmla="*/ 73 h 79"/>
                  <a:gd name="T74" fmla="*/ 25 w 79"/>
                  <a:gd name="T75" fmla="*/ 69 h 79"/>
                  <a:gd name="T76" fmla="*/ 34 w 79"/>
                  <a:gd name="T77" fmla="*/ 72 h 79"/>
                  <a:gd name="T78" fmla="*/ 34 w 79"/>
                  <a:gd name="T79" fmla="*/ 77 h 79"/>
                  <a:gd name="T80" fmla="*/ 37 w 79"/>
                  <a:gd name="T81" fmla="*/ 79 h 79"/>
                  <a:gd name="T82" fmla="*/ 49 w 79"/>
                  <a:gd name="T83" fmla="*/ 78 h 79"/>
                  <a:gd name="T84" fmla="*/ 52 w 79"/>
                  <a:gd name="T85" fmla="*/ 75 h 79"/>
                  <a:gd name="T86" fmla="*/ 51 w 79"/>
                  <a:gd name="T87" fmla="*/ 70 h 79"/>
                  <a:gd name="T88" fmla="*/ 58 w 79"/>
                  <a:gd name="T89" fmla="*/ 67 h 79"/>
                  <a:gd name="T90" fmla="*/ 62 w 79"/>
                  <a:gd name="T91" fmla="*/ 70 h 79"/>
                  <a:gd name="T92" fmla="*/ 65 w 79"/>
                  <a:gd name="T93" fmla="*/ 70 h 79"/>
                  <a:gd name="T94" fmla="*/ 73 w 79"/>
                  <a:gd name="T95" fmla="*/ 61 h 79"/>
                  <a:gd name="T96" fmla="*/ 73 w 79"/>
                  <a:gd name="T97" fmla="*/ 57 h 79"/>
                  <a:gd name="T98" fmla="*/ 27 w 79"/>
                  <a:gd name="T99" fmla="*/ 52 h 79"/>
                  <a:gd name="T100" fmla="*/ 25 w 79"/>
                  <a:gd name="T101" fmla="*/ 26 h 79"/>
                  <a:gd name="T102" fmla="*/ 51 w 79"/>
                  <a:gd name="T103" fmla="*/ 25 h 79"/>
                  <a:gd name="T104" fmla="*/ 53 w 79"/>
                  <a:gd name="T105" fmla="*/ 50 h 79"/>
                  <a:gd name="T106" fmla="*/ 27 w 79"/>
                  <a:gd name="T107" fmla="*/ 5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9" h="79">
                    <a:moveTo>
                      <a:pt x="73" y="57"/>
                    </a:moveTo>
                    <a:cubicBezTo>
                      <a:pt x="69" y="54"/>
                      <a:pt x="69" y="54"/>
                      <a:pt x="69" y="54"/>
                    </a:cubicBezTo>
                    <a:cubicBezTo>
                      <a:pt x="71" y="51"/>
                      <a:pt x="72" y="48"/>
                      <a:pt x="72" y="45"/>
                    </a:cubicBezTo>
                    <a:cubicBezTo>
                      <a:pt x="77" y="45"/>
                      <a:pt x="77" y="45"/>
                      <a:pt x="77" y="45"/>
                    </a:cubicBezTo>
                    <a:cubicBezTo>
                      <a:pt x="78" y="45"/>
                      <a:pt x="79" y="44"/>
                      <a:pt x="79" y="42"/>
                    </a:cubicBezTo>
                    <a:cubicBezTo>
                      <a:pt x="78" y="31"/>
                      <a:pt x="78" y="31"/>
                      <a:pt x="78" y="31"/>
                    </a:cubicBezTo>
                    <a:cubicBezTo>
                      <a:pt x="78" y="29"/>
                      <a:pt x="77" y="28"/>
                      <a:pt x="75" y="28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1" y="26"/>
                      <a:pt x="70" y="23"/>
                      <a:pt x="68" y="20"/>
                    </a:cubicBezTo>
                    <a:cubicBezTo>
                      <a:pt x="70" y="18"/>
                      <a:pt x="70" y="18"/>
                      <a:pt x="70" y="18"/>
                    </a:cubicBezTo>
                    <a:cubicBezTo>
                      <a:pt x="71" y="17"/>
                      <a:pt x="71" y="15"/>
                      <a:pt x="70" y="14"/>
                    </a:cubicBezTo>
                    <a:cubicBezTo>
                      <a:pt x="61" y="6"/>
                      <a:pt x="61" y="6"/>
                      <a:pt x="61" y="6"/>
                    </a:cubicBezTo>
                    <a:cubicBezTo>
                      <a:pt x="60" y="5"/>
                      <a:pt x="58" y="6"/>
                      <a:pt x="57" y="7"/>
                    </a:cubicBezTo>
                    <a:cubicBezTo>
                      <a:pt x="56" y="9"/>
                      <a:pt x="56" y="9"/>
                      <a:pt x="56" y="9"/>
                    </a:cubicBezTo>
                    <a:cubicBezTo>
                      <a:pt x="52" y="7"/>
                      <a:pt x="49" y="6"/>
                      <a:pt x="45" y="5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2"/>
                      <a:pt x="28" y="3"/>
                      <a:pt x="28" y="4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5" y="7"/>
                      <a:pt x="22" y="9"/>
                      <a:pt x="19" y="11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7" y="9"/>
                      <a:pt x="15" y="9"/>
                      <a:pt x="14" y="10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6" y="20"/>
                      <a:pt x="6" y="21"/>
                      <a:pt x="7" y="2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7" y="27"/>
                      <a:pt x="6" y="31"/>
                      <a:pt x="5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1" y="35"/>
                      <a:pt x="0" y="36"/>
                      <a:pt x="0" y="37"/>
                    </a:cubicBezTo>
                    <a:cubicBezTo>
                      <a:pt x="1" y="49"/>
                      <a:pt x="1" y="49"/>
                      <a:pt x="1" y="49"/>
                    </a:cubicBezTo>
                    <a:cubicBezTo>
                      <a:pt x="2" y="50"/>
                      <a:pt x="3" y="52"/>
                      <a:pt x="4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9" y="54"/>
                      <a:pt x="10" y="56"/>
                      <a:pt x="12" y="59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3"/>
                      <a:pt x="9" y="64"/>
                      <a:pt x="10" y="65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4"/>
                      <a:pt x="22" y="74"/>
                      <a:pt x="23" y="73"/>
                    </a:cubicBezTo>
                    <a:cubicBezTo>
                      <a:pt x="25" y="69"/>
                      <a:pt x="25" y="69"/>
                      <a:pt x="25" y="69"/>
                    </a:cubicBezTo>
                    <a:cubicBezTo>
                      <a:pt x="28" y="71"/>
                      <a:pt x="31" y="72"/>
                      <a:pt x="34" y="72"/>
                    </a:cubicBezTo>
                    <a:cubicBezTo>
                      <a:pt x="34" y="77"/>
                      <a:pt x="34" y="77"/>
                      <a:pt x="34" y="77"/>
                    </a:cubicBezTo>
                    <a:cubicBezTo>
                      <a:pt x="35" y="78"/>
                      <a:pt x="36" y="79"/>
                      <a:pt x="37" y="79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51" y="78"/>
                      <a:pt x="52" y="77"/>
                      <a:pt x="52" y="75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3" y="69"/>
                      <a:pt x="56" y="68"/>
                      <a:pt x="58" y="67"/>
                    </a:cubicBezTo>
                    <a:cubicBezTo>
                      <a:pt x="62" y="70"/>
                      <a:pt x="62" y="70"/>
                      <a:pt x="62" y="70"/>
                    </a:cubicBezTo>
                    <a:cubicBezTo>
                      <a:pt x="63" y="71"/>
                      <a:pt x="64" y="71"/>
                      <a:pt x="65" y="70"/>
                    </a:cubicBezTo>
                    <a:cubicBezTo>
                      <a:pt x="73" y="61"/>
                      <a:pt x="73" y="61"/>
                      <a:pt x="73" y="61"/>
                    </a:cubicBezTo>
                    <a:cubicBezTo>
                      <a:pt x="74" y="60"/>
                      <a:pt x="74" y="58"/>
                      <a:pt x="73" y="57"/>
                    </a:cubicBezTo>
                    <a:close/>
                    <a:moveTo>
                      <a:pt x="27" y="52"/>
                    </a:moveTo>
                    <a:cubicBezTo>
                      <a:pt x="20" y="46"/>
                      <a:pt x="19" y="34"/>
                      <a:pt x="25" y="26"/>
                    </a:cubicBezTo>
                    <a:cubicBezTo>
                      <a:pt x="32" y="19"/>
                      <a:pt x="43" y="18"/>
                      <a:pt x="51" y="25"/>
                    </a:cubicBezTo>
                    <a:cubicBezTo>
                      <a:pt x="59" y="31"/>
                      <a:pt x="60" y="43"/>
                      <a:pt x="53" y="50"/>
                    </a:cubicBezTo>
                    <a:cubicBezTo>
                      <a:pt x="46" y="58"/>
                      <a:pt x="35" y="59"/>
                      <a:pt x="27" y="5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281">
                <a:extLst>
                  <a:ext uri="{FF2B5EF4-FFF2-40B4-BE49-F238E27FC236}">
                    <a16:creationId xmlns:a16="http://schemas.microsoft.com/office/drawing/2014/main" id="{837E6FB0-0EAC-7543-8566-28B1DDA55B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912648" y="3925398"/>
                <a:ext cx="71700" cy="68584"/>
              </a:xfrm>
              <a:custGeom>
                <a:avLst/>
                <a:gdLst>
                  <a:gd name="T0" fmla="*/ 27 w 29"/>
                  <a:gd name="T1" fmla="*/ 20 h 28"/>
                  <a:gd name="T2" fmla="*/ 25 w 29"/>
                  <a:gd name="T3" fmla="*/ 19 h 28"/>
                  <a:gd name="T4" fmla="*/ 26 w 29"/>
                  <a:gd name="T5" fmla="*/ 16 h 28"/>
                  <a:gd name="T6" fmla="*/ 28 w 29"/>
                  <a:gd name="T7" fmla="*/ 16 h 28"/>
                  <a:gd name="T8" fmla="*/ 29 w 29"/>
                  <a:gd name="T9" fmla="*/ 15 h 28"/>
                  <a:gd name="T10" fmla="*/ 29 w 29"/>
                  <a:gd name="T11" fmla="*/ 11 h 28"/>
                  <a:gd name="T12" fmla="*/ 27 w 29"/>
                  <a:gd name="T13" fmla="*/ 10 h 28"/>
                  <a:gd name="T14" fmla="*/ 26 w 29"/>
                  <a:gd name="T15" fmla="*/ 10 h 28"/>
                  <a:gd name="T16" fmla="*/ 25 w 29"/>
                  <a:gd name="T17" fmla="*/ 7 h 28"/>
                  <a:gd name="T18" fmla="*/ 26 w 29"/>
                  <a:gd name="T19" fmla="*/ 6 h 28"/>
                  <a:gd name="T20" fmla="*/ 25 w 29"/>
                  <a:gd name="T21" fmla="*/ 5 h 28"/>
                  <a:gd name="T22" fmla="*/ 22 w 29"/>
                  <a:gd name="T23" fmla="*/ 2 h 28"/>
                  <a:gd name="T24" fmla="*/ 21 w 29"/>
                  <a:gd name="T25" fmla="*/ 2 h 28"/>
                  <a:gd name="T26" fmla="*/ 20 w 29"/>
                  <a:gd name="T27" fmla="*/ 3 h 28"/>
                  <a:gd name="T28" fmla="*/ 17 w 29"/>
                  <a:gd name="T29" fmla="*/ 2 h 28"/>
                  <a:gd name="T30" fmla="*/ 17 w 29"/>
                  <a:gd name="T31" fmla="*/ 1 h 28"/>
                  <a:gd name="T32" fmla="*/ 15 w 29"/>
                  <a:gd name="T33" fmla="*/ 0 h 28"/>
                  <a:gd name="T34" fmla="*/ 11 w 29"/>
                  <a:gd name="T35" fmla="*/ 0 h 28"/>
                  <a:gd name="T36" fmla="*/ 10 w 29"/>
                  <a:gd name="T37" fmla="*/ 1 h 28"/>
                  <a:gd name="T38" fmla="*/ 10 w 29"/>
                  <a:gd name="T39" fmla="*/ 2 h 28"/>
                  <a:gd name="T40" fmla="*/ 7 w 29"/>
                  <a:gd name="T41" fmla="*/ 4 h 28"/>
                  <a:gd name="T42" fmla="*/ 7 w 29"/>
                  <a:gd name="T43" fmla="*/ 3 h 28"/>
                  <a:gd name="T44" fmla="*/ 5 w 29"/>
                  <a:gd name="T45" fmla="*/ 3 h 28"/>
                  <a:gd name="T46" fmla="*/ 3 w 29"/>
                  <a:gd name="T47" fmla="*/ 6 h 28"/>
                  <a:gd name="T48" fmla="*/ 3 w 29"/>
                  <a:gd name="T49" fmla="*/ 8 h 28"/>
                  <a:gd name="T50" fmla="*/ 3 w 29"/>
                  <a:gd name="T51" fmla="*/ 8 h 28"/>
                  <a:gd name="T52" fmla="*/ 2 w 29"/>
                  <a:gd name="T53" fmla="*/ 12 h 28"/>
                  <a:gd name="T54" fmla="*/ 1 w 29"/>
                  <a:gd name="T55" fmla="*/ 12 h 28"/>
                  <a:gd name="T56" fmla="*/ 0 w 29"/>
                  <a:gd name="T57" fmla="*/ 13 h 28"/>
                  <a:gd name="T58" fmla="*/ 1 w 29"/>
                  <a:gd name="T59" fmla="*/ 17 h 28"/>
                  <a:gd name="T60" fmla="*/ 2 w 29"/>
                  <a:gd name="T61" fmla="*/ 18 h 28"/>
                  <a:gd name="T62" fmla="*/ 3 w 29"/>
                  <a:gd name="T63" fmla="*/ 18 h 28"/>
                  <a:gd name="T64" fmla="*/ 4 w 29"/>
                  <a:gd name="T65" fmla="*/ 21 h 28"/>
                  <a:gd name="T66" fmla="*/ 4 w 29"/>
                  <a:gd name="T67" fmla="*/ 22 h 28"/>
                  <a:gd name="T68" fmla="*/ 4 w 29"/>
                  <a:gd name="T69" fmla="*/ 23 h 28"/>
                  <a:gd name="T70" fmla="*/ 7 w 29"/>
                  <a:gd name="T71" fmla="*/ 26 h 28"/>
                  <a:gd name="T72" fmla="*/ 8 w 29"/>
                  <a:gd name="T73" fmla="*/ 26 h 28"/>
                  <a:gd name="T74" fmla="*/ 9 w 29"/>
                  <a:gd name="T75" fmla="*/ 25 h 28"/>
                  <a:gd name="T76" fmla="*/ 13 w 29"/>
                  <a:gd name="T77" fmla="*/ 26 h 28"/>
                  <a:gd name="T78" fmla="*/ 13 w 29"/>
                  <a:gd name="T79" fmla="*/ 28 h 28"/>
                  <a:gd name="T80" fmla="*/ 14 w 29"/>
                  <a:gd name="T81" fmla="*/ 28 h 28"/>
                  <a:gd name="T82" fmla="*/ 18 w 29"/>
                  <a:gd name="T83" fmla="*/ 28 h 28"/>
                  <a:gd name="T84" fmla="*/ 19 w 29"/>
                  <a:gd name="T85" fmla="*/ 27 h 28"/>
                  <a:gd name="T86" fmla="*/ 19 w 29"/>
                  <a:gd name="T87" fmla="*/ 25 h 28"/>
                  <a:gd name="T88" fmla="*/ 21 w 29"/>
                  <a:gd name="T89" fmla="*/ 24 h 28"/>
                  <a:gd name="T90" fmla="*/ 23 w 29"/>
                  <a:gd name="T91" fmla="*/ 25 h 28"/>
                  <a:gd name="T92" fmla="*/ 24 w 29"/>
                  <a:gd name="T93" fmla="*/ 25 h 28"/>
                  <a:gd name="T94" fmla="*/ 27 w 29"/>
                  <a:gd name="T95" fmla="*/ 22 h 28"/>
                  <a:gd name="T96" fmla="*/ 27 w 29"/>
                  <a:gd name="T97" fmla="*/ 20 h 28"/>
                  <a:gd name="T98" fmla="*/ 10 w 29"/>
                  <a:gd name="T99" fmla="*/ 19 h 28"/>
                  <a:gd name="T100" fmla="*/ 9 w 29"/>
                  <a:gd name="T101" fmla="*/ 9 h 28"/>
                  <a:gd name="T102" fmla="*/ 19 w 29"/>
                  <a:gd name="T103" fmla="*/ 9 h 28"/>
                  <a:gd name="T104" fmla="*/ 19 w 29"/>
                  <a:gd name="T105" fmla="*/ 18 h 28"/>
                  <a:gd name="T106" fmla="*/ 10 w 29"/>
                  <a:gd name="T107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9" h="28">
                    <a:moveTo>
                      <a:pt x="27" y="20"/>
                    </a:moveTo>
                    <a:cubicBezTo>
                      <a:pt x="25" y="19"/>
                      <a:pt x="25" y="19"/>
                      <a:pt x="25" y="19"/>
                    </a:cubicBezTo>
                    <a:cubicBezTo>
                      <a:pt x="26" y="18"/>
                      <a:pt x="26" y="17"/>
                      <a:pt x="26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9" y="16"/>
                      <a:pt x="29" y="16"/>
                      <a:pt x="29" y="15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9"/>
                      <a:pt x="25" y="8"/>
                      <a:pt x="25" y="7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6" y="5"/>
                      <a:pt x="25" y="5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2" y="2"/>
                      <a:pt x="21" y="2"/>
                      <a:pt x="21" y="2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19" y="2"/>
                      <a:pt x="18" y="2"/>
                      <a:pt x="17" y="2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0"/>
                      <a:pt x="16" y="0"/>
                      <a:pt x="1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1"/>
                      <a:pt x="10" y="1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2"/>
                      <a:pt x="8" y="3"/>
                      <a:pt x="7" y="4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3"/>
                      <a:pt x="6" y="3"/>
                      <a:pt x="5" y="3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2" y="7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10"/>
                      <a:pt x="2" y="11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0" y="13"/>
                      <a:pt x="0" y="13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8"/>
                      <a:pt x="1" y="18"/>
                      <a:pt x="2" y="18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19"/>
                      <a:pt x="4" y="20"/>
                      <a:pt x="4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2"/>
                      <a:pt x="3" y="23"/>
                      <a:pt x="4" y="23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7"/>
                      <a:pt x="8" y="27"/>
                      <a:pt x="8" y="26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5"/>
                      <a:pt x="11" y="26"/>
                      <a:pt x="13" y="26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4" y="28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9" y="28"/>
                      <a:pt x="19" y="28"/>
                      <a:pt x="19" y="27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20" y="25"/>
                      <a:pt x="20" y="24"/>
                      <a:pt x="21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4" y="25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0"/>
                    </a:cubicBezTo>
                    <a:close/>
                    <a:moveTo>
                      <a:pt x="10" y="19"/>
                    </a:moveTo>
                    <a:cubicBezTo>
                      <a:pt x="7" y="16"/>
                      <a:pt x="7" y="12"/>
                      <a:pt x="9" y="9"/>
                    </a:cubicBezTo>
                    <a:cubicBezTo>
                      <a:pt x="12" y="7"/>
                      <a:pt x="16" y="6"/>
                      <a:pt x="19" y="9"/>
                    </a:cubicBezTo>
                    <a:cubicBezTo>
                      <a:pt x="22" y="11"/>
                      <a:pt x="22" y="15"/>
                      <a:pt x="19" y="18"/>
                    </a:cubicBezTo>
                    <a:cubicBezTo>
                      <a:pt x="17" y="21"/>
                      <a:pt x="13" y="21"/>
                      <a:pt x="10" y="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8E1D685-38D4-DF4B-674C-27CBF5569376}"/>
              </a:ext>
            </a:extLst>
          </p:cNvPr>
          <p:cNvGrpSpPr/>
          <p:nvPr/>
        </p:nvGrpSpPr>
        <p:grpSpPr>
          <a:xfrm>
            <a:off x="6989480" y="3351338"/>
            <a:ext cx="1259291" cy="1384488"/>
            <a:chOff x="5789210" y="2117354"/>
            <a:chExt cx="1259291" cy="1384488"/>
          </a:xfrm>
          <a:solidFill>
            <a:srgbClr val="8CD9E8"/>
          </a:solidFill>
        </p:grpSpPr>
        <p:sp>
          <p:nvSpPr>
            <p:cNvPr id="47" name="六边形 46">
              <a:extLst>
                <a:ext uri="{FF2B5EF4-FFF2-40B4-BE49-F238E27FC236}">
                  <a16:creationId xmlns:a16="http://schemas.microsoft.com/office/drawing/2014/main" id="{4F6C9376-1FEE-196B-2BCE-4BD509DD6145}"/>
                </a:ext>
              </a:extLst>
            </p:cNvPr>
            <p:cNvSpPr/>
            <p:nvPr/>
          </p:nvSpPr>
          <p:spPr>
            <a:xfrm rot="5400000">
              <a:off x="5726612" y="2179952"/>
              <a:ext cx="1384488" cy="1259291"/>
            </a:xfrm>
            <a:prstGeom prst="hexagon">
              <a:avLst>
                <a:gd name="adj" fmla="val 26941"/>
                <a:gd name="vf" fmla="val 115470"/>
              </a:avLst>
            </a:prstGeom>
            <a:noFill/>
            <a:ln w="38100">
              <a:solidFill>
                <a:srgbClr val="8CD9E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4893DCF3-AA13-D5BB-FC99-C2BAA76FBE95}"/>
                </a:ext>
              </a:extLst>
            </p:cNvPr>
            <p:cNvGrpSpPr/>
            <p:nvPr/>
          </p:nvGrpSpPr>
          <p:grpSpPr>
            <a:xfrm>
              <a:off x="6088873" y="2506377"/>
              <a:ext cx="592342" cy="703408"/>
              <a:chOff x="8706729" y="4528100"/>
              <a:chExt cx="365776" cy="434360"/>
            </a:xfrm>
            <a:grpFill/>
          </p:grpSpPr>
          <p:sp>
            <p:nvSpPr>
              <p:cNvPr id="49" name="Freeform 317">
                <a:extLst>
                  <a:ext uri="{FF2B5EF4-FFF2-40B4-BE49-F238E27FC236}">
                    <a16:creationId xmlns:a16="http://schemas.microsoft.com/office/drawing/2014/main" id="{2727EF84-72CC-67CE-71B0-E4FBE29594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06729" y="4528100"/>
                <a:ext cx="365776" cy="434360"/>
              </a:xfrm>
              <a:custGeom>
                <a:avLst/>
                <a:gdLst>
                  <a:gd name="T0" fmla="*/ 146 w 149"/>
                  <a:gd name="T1" fmla="*/ 162 h 177"/>
                  <a:gd name="T2" fmla="*/ 106 w 149"/>
                  <a:gd name="T3" fmla="*/ 109 h 177"/>
                  <a:gd name="T4" fmla="*/ 104 w 149"/>
                  <a:gd name="T5" fmla="*/ 107 h 177"/>
                  <a:gd name="T6" fmla="*/ 110 w 149"/>
                  <a:gd name="T7" fmla="*/ 31 h 177"/>
                  <a:gd name="T8" fmla="*/ 30 w 149"/>
                  <a:gd name="T9" fmla="*/ 20 h 177"/>
                  <a:gd name="T10" fmla="*/ 19 w 149"/>
                  <a:gd name="T11" fmla="*/ 101 h 177"/>
                  <a:gd name="T12" fmla="*/ 91 w 149"/>
                  <a:gd name="T13" fmla="*/ 117 h 177"/>
                  <a:gd name="T14" fmla="*/ 92 w 149"/>
                  <a:gd name="T15" fmla="*/ 119 h 177"/>
                  <a:gd name="T16" fmla="*/ 132 w 149"/>
                  <a:gd name="T17" fmla="*/ 172 h 177"/>
                  <a:gd name="T18" fmla="*/ 144 w 149"/>
                  <a:gd name="T19" fmla="*/ 174 h 177"/>
                  <a:gd name="T20" fmla="*/ 146 w 149"/>
                  <a:gd name="T21" fmla="*/ 162 h 177"/>
                  <a:gd name="T22" fmla="*/ 28 w 149"/>
                  <a:gd name="T23" fmla="*/ 94 h 177"/>
                  <a:gd name="T24" fmla="*/ 37 w 149"/>
                  <a:gd name="T25" fmla="*/ 28 h 177"/>
                  <a:gd name="T26" fmla="*/ 101 w 149"/>
                  <a:gd name="T27" fmla="*/ 37 h 177"/>
                  <a:gd name="T28" fmla="*/ 93 w 149"/>
                  <a:gd name="T29" fmla="*/ 103 h 177"/>
                  <a:gd name="T30" fmla="*/ 28 w 149"/>
                  <a:gd name="T31" fmla="*/ 94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9" h="177">
                    <a:moveTo>
                      <a:pt x="146" y="162"/>
                    </a:moveTo>
                    <a:cubicBezTo>
                      <a:pt x="106" y="109"/>
                      <a:pt x="106" y="109"/>
                      <a:pt x="106" y="109"/>
                    </a:cubicBezTo>
                    <a:cubicBezTo>
                      <a:pt x="105" y="108"/>
                      <a:pt x="105" y="108"/>
                      <a:pt x="104" y="107"/>
                    </a:cubicBezTo>
                    <a:cubicBezTo>
                      <a:pt x="125" y="87"/>
                      <a:pt x="128" y="54"/>
                      <a:pt x="110" y="31"/>
                    </a:cubicBezTo>
                    <a:cubicBezTo>
                      <a:pt x="91" y="5"/>
                      <a:pt x="55" y="0"/>
                      <a:pt x="30" y="20"/>
                    </a:cubicBezTo>
                    <a:cubicBezTo>
                      <a:pt x="5" y="39"/>
                      <a:pt x="0" y="75"/>
                      <a:pt x="19" y="101"/>
                    </a:cubicBezTo>
                    <a:cubicBezTo>
                      <a:pt x="37" y="123"/>
                      <a:pt x="67" y="130"/>
                      <a:pt x="91" y="117"/>
                    </a:cubicBezTo>
                    <a:cubicBezTo>
                      <a:pt x="91" y="117"/>
                      <a:pt x="92" y="118"/>
                      <a:pt x="92" y="119"/>
                    </a:cubicBezTo>
                    <a:cubicBezTo>
                      <a:pt x="132" y="172"/>
                      <a:pt x="132" y="172"/>
                      <a:pt x="132" y="172"/>
                    </a:cubicBezTo>
                    <a:cubicBezTo>
                      <a:pt x="135" y="176"/>
                      <a:pt x="140" y="177"/>
                      <a:pt x="144" y="174"/>
                    </a:cubicBezTo>
                    <a:cubicBezTo>
                      <a:pt x="148" y="171"/>
                      <a:pt x="149" y="166"/>
                      <a:pt x="146" y="162"/>
                    </a:cubicBezTo>
                    <a:close/>
                    <a:moveTo>
                      <a:pt x="28" y="94"/>
                    </a:moveTo>
                    <a:cubicBezTo>
                      <a:pt x="13" y="73"/>
                      <a:pt x="16" y="44"/>
                      <a:pt x="37" y="28"/>
                    </a:cubicBezTo>
                    <a:cubicBezTo>
                      <a:pt x="57" y="13"/>
                      <a:pt x="86" y="17"/>
                      <a:pt x="101" y="37"/>
                    </a:cubicBezTo>
                    <a:cubicBezTo>
                      <a:pt x="117" y="58"/>
                      <a:pt x="113" y="87"/>
                      <a:pt x="93" y="103"/>
                    </a:cubicBezTo>
                    <a:cubicBezTo>
                      <a:pt x="72" y="119"/>
                      <a:pt x="43" y="115"/>
                      <a:pt x="28" y="9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318">
                <a:extLst>
                  <a:ext uri="{FF2B5EF4-FFF2-40B4-BE49-F238E27FC236}">
                    <a16:creationId xmlns:a16="http://schemas.microsoft.com/office/drawing/2014/main" id="{2573DC81-39D4-510C-785A-E19F95C24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0913" y="4586292"/>
                <a:ext cx="73780" cy="51957"/>
              </a:xfrm>
              <a:custGeom>
                <a:avLst/>
                <a:gdLst>
                  <a:gd name="T0" fmla="*/ 29 w 30"/>
                  <a:gd name="T1" fmla="*/ 15 h 21"/>
                  <a:gd name="T2" fmla="*/ 29 w 30"/>
                  <a:gd name="T3" fmla="*/ 15 h 21"/>
                  <a:gd name="T4" fmla="*/ 6 w 30"/>
                  <a:gd name="T5" fmla="*/ 0 h 21"/>
                  <a:gd name="T6" fmla="*/ 6 w 30"/>
                  <a:gd name="T7" fmla="*/ 0 h 21"/>
                  <a:gd name="T8" fmla="*/ 4 w 30"/>
                  <a:gd name="T9" fmla="*/ 7 h 21"/>
                  <a:gd name="T10" fmla="*/ 23 w 30"/>
                  <a:gd name="T11" fmla="*/ 20 h 21"/>
                  <a:gd name="T12" fmla="*/ 24 w 30"/>
                  <a:gd name="T13" fmla="*/ 20 h 21"/>
                  <a:gd name="T14" fmla="*/ 29 w 30"/>
                  <a:gd name="T15" fmla="*/ 1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21">
                    <a:moveTo>
                      <a:pt x="29" y="15"/>
                    </a:moveTo>
                    <a:cubicBezTo>
                      <a:pt x="29" y="15"/>
                      <a:pt x="29" y="15"/>
                      <a:pt x="29" y="15"/>
                    </a:cubicBezTo>
                    <a:cubicBezTo>
                      <a:pt x="23" y="7"/>
                      <a:pt x="15" y="2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0" y="2"/>
                      <a:pt x="4" y="7"/>
                    </a:cubicBezTo>
                    <a:cubicBezTo>
                      <a:pt x="11" y="9"/>
                      <a:pt x="18" y="13"/>
                      <a:pt x="23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1"/>
                      <a:pt x="30" y="21"/>
                      <a:pt x="29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D52BBF8-E49E-BD1E-BFF6-8A3873F34FF3}"/>
              </a:ext>
            </a:extLst>
          </p:cNvPr>
          <p:cNvGrpSpPr/>
          <p:nvPr/>
        </p:nvGrpSpPr>
        <p:grpSpPr>
          <a:xfrm>
            <a:off x="2332945" y="3388521"/>
            <a:ext cx="3097300" cy="1192656"/>
            <a:chOff x="208743" y="4675888"/>
            <a:chExt cx="3097300" cy="1192656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E45EB73F-3481-A26D-A698-DC7608F370A2}"/>
                </a:ext>
              </a:extLst>
            </p:cNvPr>
            <p:cNvSpPr/>
            <p:nvPr/>
          </p:nvSpPr>
          <p:spPr>
            <a:xfrm>
              <a:off x="794617" y="5129880"/>
              <a:ext cx="251142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能够从微博、贴吧等三到五个主流平台自动采集金融相关的的多形式的舆情数据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094FDC3C-B597-68E0-31BF-7E6D1970618B}"/>
                </a:ext>
              </a:extLst>
            </p:cNvPr>
            <p:cNvSpPr/>
            <p:nvPr/>
          </p:nvSpPr>
          <p:spPr>
            <a:xfrm>
              <a:off x="208743" y="4675888"/>
              <a:ext cx="306566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多元舆情数据采集模块</a:t>
              </a:r>
              <a:endParaRPr lang="zh-CN" altLang="en-US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1B6357C-A441-AD93-2D08-247C2E039DD4}"/>
              </a:ext>
            </a:extLst>
          </p:cNvPr>
          <p:cNvGrpSpPr/>
          <p:nvPr/>
        </p:nvGrpSpPr>
        <p:grpSpPr>
          <a:xfrm>
            <a:off x="2803510" y="5156911"/>
            <a:ext cx="2604749" cy="1202899"/>
            <a:chOff x="701294" y="4529706"/>
            <a:chExt cx="2604749" cy="1202899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8A5054A9-8346-FC3B-5C90-A075636C64A3}"/>
                </a:ext>
              </a:extLst>
            </p:cNvPr>
            <p:cNvSpPr/>
            <p:nvPr/>
          </p:nvSpPr>
          <p:spPr>
            <a:xfrm>
              <a:off x="794617" y="4993941"/>
              <a:ext cx="251142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主要实现文本风险识别模型与图片内容监测模型的构建与训练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EE124FF1-1766-084E-3D6B-3F00CCFF3761}"/>
                </a:ext>
              </a:extLst>
            </p:cNvPr>
            <p:cNvSpPr/>
            <p:nvPr/>
          </p:nvSpPr>
          <p:spPr>
            <a:xfrm>
              <a:off x="701294" y="4529706"/>
              <a:ext cx="233047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多模态风险识别模块</a:t>
              </a:r>
              <a:endParaRPr lang="zh-CN" altLang="en-US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34701885-0B98-CD76-BDC1-D65AEC7E1A7F}"/>
              </a:ext>
            </a:extLst>
          </p:cNvPr>
          <p:cNvGrpSpPr/>
          <p:nvPr/>
        </p:nvGrpSpPr>
        <p:grpSpPr>
          <a:xfrm>
            <a:off x="8980897" y="3321338"/>
            <a:ext cx="2511426" cy="1541453"/>
            <a:chOff x="-2522908" y="4631688"/>
            <a:chExt cx="2511426" cy="1541453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FE8F387A-12DB-F18D-679B-C0CF0DEA853B}"/>
                </a:ext>
              </a:extLst>
            </p:cNvPr>
            <p:cNvSpPr/>
            <p:nvPr/>
          </p:nvSpPr>
          <p:spPr>
            <a:xfrm>
              <a:off x="-2522908" y="5095923"/>
              <a:ext cx="2511426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zh-CN" sz="1600" dirty="0">
                  <a:ea typeface="MiSans"/>
                </a:rPr>
                <a:t>将文本、图片等多模态信息的分析结果进行融合，对每条舆情进行</a:t>
              </a:r>
              <a:r>
                <a:rPr lang="zh-CN" altLang="en-US" sz="1600" dirty="0">
                  <a:ea typeface="MiSans"/>
                </a:rPr>
                <a:t>多维度</a:t>
              </a:r>
              <a:r>
                <a:rPr lang="zh-CN" altLang="zh-CN" sz="1600" dirty="0">
                  <a:ea typeface="MiSans"/>
                </a:rPr>
                <a:t>综合风险评分。</a:t>
              </a:r>
              <a:endPara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MiSans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D1F1490C-CB6D-21BB-A3C9-876A249E2A8B}"/>
                </a:ext>
              </a:extLst>
            </p:cNvPr>
            <p:cNvSpPr/>
            <p:nvPr/>
          </p:nvSpPr>
          <p:spPr>
            <a:xfrm>
              <a:off x="-2360646" y="4631688"/>
              <a:ext cx="207488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综合风险评估模块</a:t>
              </a:r>
              <a:endParaRPr lang="zh-CN" altLang="en-US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8740237-CC1E-A481-AFC8-CED2C3B60B11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41A28FED-F07B-30F6-87B9-09F57D70D916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6CE7D690-CDFC-5342-4464-9B8178D32BCB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44EC0A8-46A6-6D6E-FBBE-4F0B6ACA9058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4" name="矩形 2">
            <a:extLst>
              <a:ext uri="{FF2B5EF4-FFF2-40B4-BE49-F238E27FC236}">
                <a16:creationId xmlns:a16="http://schemas.microsoft.com/office/drawing/2014/main" id="{5160CE74-A294-BCD7-F2D3-F25DF530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研究内容与目标</a:t>
            </a: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E60F0E4D-91E8-4B38-9561-35450E7C3B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3684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19:43-d3jnsbos8jdo4os5dm3g.jpg">
            <a:extLst>
              <a:ext uri="{FF2B5EF4-FFF2-40B4-BE49-F238E27FC236}">
                <a16:creationId xmlns:a16="http://schemas.microsoft.com/office/drawing/2014/main" id="{60BAAF50-6398-9E8F-F2DC-2DDCC61CD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3D0C8E5-068D-04FE-AA1B-92F3E42F9E1E}"/>
              </a:ext>
            </a:extLst>
          </p:cNvPr>
          <p:cNvSpPr/>
          <p:nvPr/>
        </p:nvSpPr>
        <p:spPr>
          <a:xfrm>
            <a:off x="-70578" y="135398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研究目标：</a:t>
            </a:r>
            <a:r>
              <a:rPr lang="en-US" sz="3000" b="1" dirty="0" err="1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三大核心</a:t>
            </a:r>
            <a:r>
              <a:rPr lang="zh-CN" alt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</a:t>
            </a:r>
            <a:endParaRPr lang="en-US" sz="1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8967858-1D24-427D-1DE6-1DCCFA17E331}"/>
              </a:ext>
            </a:extLst>
          </p:cNvPr>
          <p:cNvSpPr/>
          <p:nvPr/>
        </p:nvSpPr>
        <p:spPr>
          <a:xfrm>
            <a:off x="0" y="1676400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5274B8B-8596-064A-14D6-11E2722BCA32}"/>
              </a:ext>
            </a:extLst>
          </p:cNvPr>
          <p:cNvSpPr/>
          <p:nvPr/>
        </p:nvSpPr>
        <p:spPr>
          <a:xfrm>
            <a:off x="346868" y="2438400"/>
            <a:ext cx="3695700" cy="2743200"/>
          </a:xfrm>
          <a:custGeom>
            <a:avLst/>
            <a:gdLst/>
            <a:ahLst/>
            <a:cxnLst/>
            <a:rect l="l" t="t" r="r" b="b"/>
            <a:pathLst>
              <a:path w="3695700" h="2743200">
                <a:moveTo>
                  <a:pt x="101608" y="0"/>
                </a:moveTo>
                <a:lnTo>
                  <a:pt x="3594092" y="0"/>
                </a:lnTo>
                <a:cubicBezTo>
                  <a:pt x="3650208" y="0"/>
                  <a:pt x="3695700" y="45492"/>
                  <a:pt x="3695700" y="101608"/>
                </a:cubicBezTo>
                <a:lnTo>
                  <a:pt x="3695700" y="2641592"/>
                </a:lnTo>
                <a:cubicBezTo>
                  <a:pt x="3695700" y="2697708"/>
                  <a:pt x="3650208" y="2743200"/>
                  <a:pt x="35940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813737-1299-6A28-C6AC-CF1B0A60E1E9}"/>
              </a:ext>
            </a:extLst>
          </p:cNvPr>
          <p:cNvSpPr/>
          <p:nvPr/>
        </p:nvSpPr>
        <p:spPr>
          <a:xfrm>
            <a:off x="1832927" y="27432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200620" y="0"/>
                </a:moveTo>
                <a:cubicBezTo>
                  <a:pt x="184785" y="0"/>
                  <a:pt x="172045" y="12740"/>
                  <a:pt x="172045" y="28575"/>
                </a:cubicBezTo>
                <a:cubicBezTo>
                  <a:pt x="172045" y="44410"/>
                  <a:pt x="184785" y="57150"/>
                  <a:pt x="200620" y="57150"/>
                </a:cubicBezTo>
                <a:lnTo>
                  <a:pt x="238720" y="57150"/>
                </a:lnTo>
                <a:lnTo>
                  <a:pt x="238720" y="87273"/>
                </a:lnTo>
                <a:cubicBezTo>
                  <a:pt x="110133" y="101441"/>
                  <a:pt x="10120" y="210503"/>
                  <a:pt x="10120" y="342900"/>
                </a:cubicBezTo>
                <a:cubicBezTo>
                  <a:pt x="10120" y="484942"/>
                  <a:pt x="125254" y="600075"/>
                  <a:pt x="267295" y="600075"/>
                </a:cubicBezTo>
                <a:cubicBezTo>
                  <a:pt x="409337" y="600075"/>
                  <a:pt x="524470" y="484942"/>
                  <a:pt x="524470" y="342900"/>
                </a:cubicBezTo>
                <a:cubicBezTo>
                  <a:pt x="524470" y="295513"/>
                  <a:pt x="511612" y="251103"/>
                  <a:pt x="489228" y="212884"/>
                </a:cubicBezTo>
                <a:lnTo>
                  <a:pt x="522803" y="179308"/>
                </a:lnTo>
                <a:cubicBezTo>
                  <a:pt x="537686" y="164425"/>
                  <a:pt x="537686" y="140256"/>
                  <a:pt x="522803" y="125373"/>
                </a:cubicBezTo>
                <a:cubicBezTo>
                  <a:pt x="507921" y="110490"/>
                  <a:pt x="483751" y="110490"/>
                  <a:pt x="468868" y="125373"/>
                </a:cubicBezTo>
                <a:lnTo>
                  <a:pt x="441007" y="153233"/>
                </a:lnTo>
                <a:cubicBezTo>
                  <a:pt x="401836" y="117277"/>
                  <a:pt x="351472" y="93345"/>
                  <a:pt x="295751" y="87154"/>
                </a:cubicBezTo>
                <a:lnTo>
                  <a:pt x="295751" y="57031"/>
                </a:lnTo>
                <a:lnTo>
                  <a:pt x="333851" y="57031"/>
                </a:lnTo>
                <a:cubicBezTo>
                  <a:pt x="349687" y="57031"/>
                  <a:pt x="362426" y="44291"/>
                  <a:pt x="362426" y="28456"/>
                </a:cubicBezTo>
                <a:cubicBezTo>
                  <a:pt x="362426" y="12621"/>
                  <a:pt x="349687" y="-119"/>
                  <a:pt x="333851" y="-119"/>
                </a:cubicBezTo>
                <a:lnTo>
                  <a:pt x="200501" y="-119"/>
                </a:lnTo>
                <a:close/>
                <a:moveTo>
                  <a:pt x="295870" y="219075"/>
                </a:moveTo>
                <a:lnTo>
                  <a:pt x="295870" y="342900"/>
                </a:lnTo>
                <a:cubicBezTo>
                  <a:pt x="295870" y="358735"/>
                  <a:pt x="283131" y="371475"/>
                  <a:pt x="267295" y="371475"/>
                </a:cubicBezTo>
                <a:cubicBezTo>
                  <a:pt x="251460" y="371475"/>
                  <a:pt x="238720" y="358735"/>
                  <a:pt x="238720" y="342900"/>
                </a:cubicBezTo>
                <a:lnTo>
                  <a:pt x="238720" y="219075"/>
                </a:lnTo>
                <a:cubicBezTo>
                  <a:pt x="238720" y="203240"/>
                  <a:pt x="251460" y="190500"/>
                  <a:pt x="267295" y="190500"/>
                </a:cubicBezTo>
                <a:cubicBezTo>
                  <a:pt x="283131" y="190500"/>
                  <a:pt x="295870" y="203240"/>
                  <a:pt x="295870" y="219075"/>
                </a:cubicBezTo>
                <a:close/>
              </a:path>
            </a:pathLst>
          </a:custGeom>
          <a:solidFill>
            <a:srgbClr val="4A89D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7B467D3-0CA3-C68A-CAB2-2268C0BF77AE}"/>
              </a:ext>
            </a:extLst>
          </p:cNvPr>
          <p:cNvSpPr/>
          <p:nvPr/>
        </p:nvSpPr>
        <p:spPr>
          <a:xfrm>
            <a:off x="677819" y="3855641"/>
            <a:ext cx="2843615" cy="5384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一套完整的网络金融舆情监测平台，包含数据采集、分析、展示三大模块</a:t>
            </a: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A17FDD0-2BB0-62D6-B6E8-73D4C085A722}"/>
              </a:ext>
            </a:extLst>
          </p:cNvPr>
          <p:cNvSpPr/>
          <p:nvPr/>
        </p:nvSpPr>
        <p:spPr>
          <a:xfrm>
            <a:off x="4296648" y="2457045"/>
            <a:ext cx="3695700" cy="2743200"/>
          </a:xfrm>
          <a:custGeom>
            <a:avLst/>
            <a:gdLst/>
            <a:ahLst/>
            <a:cxnLst/>
            <a:rect l="l" t="t" r="r" b="b"/>
            <a:pathLst>
              <a:path w="3695700" h="2743200">
                <a:moveTo>
                  <a:pt x="101608" y="0"/>
                </a:moveTo>
                <a:lnTo>
                  <a:pt x="3594092" y="0"/>
                </a:lnTo>
                <a:cubicBezTo>
                  <a:pt x="3650208" y="0"/>
                  <a:pt x="3695700" y="45492"/>
                  <a:pt x="3695700" y="101608"/>
                </a:cubicBezTo>
                <a:lnTo>
                  <a:pt x="3695700" y="2641592"/>
                </a:lnTo>
                <a:cubicBezTo>
                  <a:pt x="3695700" y="2697708"/>
                  <a:pt x="3650208" y="2743200"/>
                  <a:pt x="35940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2A29FBE-06BD-FCC2-6FE2-C8CF9AF1DABD}"/>
              </a:ext>
            </a:extLst>
          </p:cNvPr>
          <p:cNvSpPr/>
          <p:nvPr/>
        </p:nvSpPr>
        <p:spPr>
          <a:xfrm>
            <a:off x="5791041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4A89DC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197CAD6-EEEE-60BC-65FA-EA2035AFA1DE}"/>
              </a:ext>
            </a:extLst>
          </p:cNvPr>
          <p:cNvSpPr/>
          <p:nvPr/>
        </p:nvSpPr>
        <p:spPr>
          <a:xfrm>
            <a:off x="4057713" y="3638955"/>
            <a:ext cx="4290235" cy="10458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建立金融风险关键词库（</a:t>
            </a:r>
            <a:r>
              <a:rPr lang="en-US" altLang="zh-CN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500+</a:t>
            </a:r>
            <a:r>
              <a:rPr lang="zh-CN" altLang="en-US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条）</a:t>
            </a:r>
            <a:endParaRPr lang="en-US" altLang="zh-CN" b="1" dirty="0">
              <a:solidFill>
                <a:srgbClr val="0F2F5E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积累舆情样本数据（</a:t>
            </a:r>
            <a:r>
              <a:rPr lang="en-US" altLang="zh-CN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1000+</a:t>
            </a:r>
            <a:r>
              <a:rPr lang="zh-CN" altLang="en-US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条）</a:t>
            </a:r>
            <a:endParaRPr lang="en-US" altLang="zh-CN" b="1" dirty="0">
              <a:solidFill>
                <a:srgbClr val="0F2F5E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标注的训练数据集（用于模型训练）</a:t>
            </a:r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79CEF95-727D-3EBE-ADD4-E9D874ABB6B5}"/>
              </a:ext>
            </a:extLst>
          </p:cNvPr>
          <p:cNvSpPr/>
          <p:nvPr/>
        </p:nvSpPr>
        <p:spPr>
          <a:xfrm>
            <a:off x="5133975" y="4043680"/>
            <a:ext cx="2105724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endParaRPr lang="en-US" sz="16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868EFDC-7FD6-8FEB-D1FC-5A8A8400699B}"/>
              </a:ext>
            </a:extLst>
          </p:cNvPr>
          <p:cNvSpPr/>
          <p:nvPr/>
        </p:nvSpPr>
        <p:spPr>
          <a:xfrm>
            <a:off x="8231283" y="2438400"/>
            <a:ext cx="3695700" cy="2743200"/>
          </a:xfrm>
          <a:custGeom>
            <a:avLst/>
            <a:gdLst/>
            <a:ahLst/>
            <a:cxnLst/>
            <a:rect l="l" t="t" r="r" b="b"/>
            <a:pathLst>
              <a:path w="3695700" h="2743200">
                <a:moveTo>
                  <a:pt x="101608" y="0"/>
                </a:moveTo>
                <a:lnTo>
                  <a:pt x="3594092" y="0"/>
                </a:lnTo>
                <a:cubicBezTo>
                  <a:pt x="3650208" y="0"/>
                  <a:pt x="3695700" y="45492"/>
                  <a:pt x="3695700" y="101608"/>
                </a:cubicBezTo>
                <a:lnTo>
                  <a:pt x="3695700" y="2641592"/>
                </a:lnTo>
                <a:cubicBezTo>
                  <a:pt x="3695700" y="2697708"/>
                  <a:pt x="3650208" y="2743200"/>
                  <a:pt x="35940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2B25DE-6D51-7BD8-9D9A-602513C70964}"/>
              </a:ext>
            </a:extLst>
          </p:cNvPr>
          <p:cNvSpPr/>
          <p:nvPr/>
        </p:nvSpPr>
        <p:spPr>
          <a:xfrm>
            <a:off x="9749314" y="275320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99467" y="114300"/>
                </a:moveTo>
                <a:cubicBezTo>
                  <a:pt x="479703" y="114300"/>
                  <a:pt x="460534" y="119658"/>
                  <a:pt x="443746" y="129421"/>
                </a:cubicBezTo>
                <a:cubicBezTo>
                  <a:pt x="424934" y="110371"/>
                  <a:pt x="403027" y="94417"/>
                  <a:pt x="378857" y="82391"/>
                </a:cubicBezTo>
                <a:cubicBezTo>
                  <a:pt x="412433" y="53816"/>
                  <a:pt x="455176" y="38100"/>
                  <a:pt x="499467" y="38100"/>
                </a:cubicBezTo>
                <a:cubicBezTo>
                  <a:pt x="602337" y="38100"/>
                  <a:pt x="685800" y="121444"/>
                  <a:pt x="685800" y="224433"/>
                </a:cubicBezTo>
                <a:cubicBezTo>
                  <a:pt x="685800" y="273844"/>
                  <a:pt x="666155" y="321231"/>
                  <a:pt x="631269" y="356116"/>
                </a:cubicBezTo>
                <a:lnTo>
                  <a:pt x="546616" y="440769"/>
                </a:lnTo>
                <a:cubicBezTo>
                  <a:pt x="511731" y="475655"/>
                  <a:pt x="464344" y="495300"/>
                  <a:pt x="414933" y="495300"/>
                </a:cubicBezTo>
                <a:cubicBezTo>
                  <a:pt x="312063" y="495300"/>
                  <a:pt x="228600" y="411956"/>
                  <a:pt x="228600" y="308967"/>
                </a:cubicBezTo>
                <a:cubicBezTo>
                  <a:pt x="228600" y="307181"/>
                  <a:pt x="228600" y="305395"/>
                  <a:pt x="228719" y="303609"/>
                </a:cubicBezTo>
                <a:cubicBezTo>
                  <a:pt x="229314" y="282535"/>
                  <a:pt x="246817" y="265986"/>
                  <a:pt x="267891" y="266581"/>
                </a:cubicBezTo>
                <a:cubicBezTo>
                  <a:pt x="288965" y="267176"/>
                  <a:pt x="305514" y="284678"/>
                  <a:pt x="304919" y="305753"/>
                </a:cubicBezTo>
                <a:cubicBezTo>
                  <a:pt x="304919" y="306824"/>
                  <a:pt x="304919" y="307896"/>
                  <a:pt x="304919" y="308848"/>
                </a:cubicBezTo>
                <a:cubicBezTo>
                  <a:pt x="304919" y="369689"/>
                  <a:pt x="354211" y="418981"/>
                  <a:pt x="415052" y="418981"/>
                </a:cubicBezTo>
                <a:cubicBezTo>
                  <a:pt x="444222" y="418981"/>
                  <a:pt x="472202" y="407432"/>
                  <a:pt x="492919" y="386715"/>
                </a:cubicBezTo>
                <a:lnTo>
                  <a:pt x="577572" y="302062"/>
                </a:lnTo>
                <a:cubicBezTo>
                  <a:pt x="598170" y="281464"/>
                  <a:pt x="609838" y="253365"/>
                  <a:pt x="609838" y="224195"/>
                </a:cubicBezTo>
                <a:cubicBezTo>
                  <a:pt x="609838" y="163354"/>
                  <a:pt x="560546" y="114062"/>
                  <a:pt x="499705" y="114062"/>
                </a:cubicBezTo>
                <a:close/>
                <a:moveTo>
                  <a:pt x="327660" y="206335"/>
                </a:moveTo>
                <a:cubicBezTo>
                  <a:pt x="325398" y="205383"/>
                  <a:pt x="323136" y="204073"/>
                  <a:pt x="321112" y="202644"/>
                </a:cubicBezTo>
                <a:cubicBezTo>
                  <a:pt x="306110" y="194905"/>
                  <a:pt x="288965" y="190500"/>
                  <a:pt x="270986" y="190500"/>
                </a:cubicBezTo>
                <a:cubicBezTo>
                  <a:pt x="241816" y="190500"/>
                  <a:pt x="213836" y="202049"/>
                  <a:pt x="193119" y="222766"/>
                </a:cubicBezTo>
                <a:lnTo>
                  <a:pt x="108466" y="307419"/>
                </a:lnTo>
                <a:cubicBezTo>
                  <a:pt x="87868" y="328017"/>
                  <a:pt x="76200" y="356116"/>
                  <a:pt x="76200" y="385286"/>
                </a:cubicBezTo>
                <a:cubicBezTo>
                  <a:pt x="76200" y="446127"/>
                  <a:pt x="125492" y="495419"/>
                  <a:pt x="186333" y="495419"/>
                </a:cubicBezTo>
                <a:cubicBezTo>
                  <a:pt x="205978" y="495419"/>
                  <a:pt x="225147" y="490180"/>
                  <a:pt x="241935" y="480417"/>
                </a:cubicBezTo>
                <a:cubicBezTo>
                  <a:pt x="260747" y="499467"/>
                  <a:pt x="282654" y="515422"/>
                  <a:pt x="306943" y="527447"/>
                </a:cubicBezTo>
                <a:cubicBezTo>
                  <a:pt x="273368" y="555903"/>
                  <a:pt x="230743" y="571738"/>
                  <a:pt x="186333" y="571738"/>
                </a:cubicBezTo>
                <a:cubicBezTo>
                  <a:pt x="83463" y="571738"/>
                  <a:pt x="0" y="488394"/>
                  <a:pt x="0" y="385405"/>
                </a:cubicBezTo>
                <a:cubicBezTo>
                  <a:pt x="0" y="335994"/>
                  <a:pt x="19645" y="288607"/>
                  <a:pt x="54531" y="253722"/>
                </a:cubicBezTo>
                <a:lnTo>
                  <a:pt x="139184" y="169069"/>
                </a:lnTo>
                <a:cubicBezTo>
                  <a:pt x="174069" y="134183"/>
                  <a:pt x="221456" y="114538"/>
                  <a:pt x="270867" y="114538"/>
                </a:cubicBezTo>
                <a:cubicBezTo>
                  <a:pt x="373975" y="114538"/>
                  <a:pt x="457200" y="198596"/>
                  <a:pt x="457200" y="301347"/>
                </a:cubicBezTo>
                <a:cubicBezTo>
                  <a:pt x="457200" y="302895"/>
                  <a:pt x="457200" y="304443"/>
                  <a:pt x="457200" y="305991"/>
                </a:cubicBezTo>
                <a:cubicBezTo>
                  <a:pt x="456724" y="327065"/>
                  <a:pt x="439222" y="343614"/>
                  <a:pt x="418148" y="343138"/>
                </a:cubicBezTo>
                <a:cubicBezTo>
                  <a:pt x="397073" y="342662"/>
                  <a:pt x="380524" y="325160"/>
                  <a:pt x="381000" y="304086"/>
                </a:cubicBezTo>
                <a:cubicBezTo>
                  <a:pt x="381000" y="303133"/>
                  <a:pt x="381000" y="302300"/>
                  <a:pt x="381000" y="301347"/>
                </a:cubicBezTo>
                <a:cubicBezTo>
                  <a:pt x="381000" y="261223"/>
                  <a:pt x="359569" y="225981"/>
                  <a:pt x="327660" y="206573"/>
                </a:cubicBezTo>
                <a:close/>
              </a:path>
            </a:pathLst>
          </a:custGeom>
          <a:solidFill>
            <a:srgbClr val="4A89DC"/>
          </a:solidFill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7F398C4-4EEC-FFBF-2C78-BE8B3DDDE77B}"/>
              </a:ext>
            </a:extLst>
          </p:cNvPr>
          <p:cNvSpPr/>
          <p:nvPr/>
        </p:nvSpPr>
        <p:spPr>
          <a:xfrm>
            <a:off x="8475923" y="3512820"/>
            <a:ext cx="3206419" cy="1287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金融属性识别准确率</a:t>
            </a:r>
            <a:r>
              <a:rPr lang="en-US" altLang="zh-CN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&gt;=80%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zh-CN" altLang="en-US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风险等级分类准确率</a:t>
            </a:r>
            <a:r>
              <a:rPr lang="en-US" altLang="zh-CN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&gt;=75%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OCR</a:t>
            </a:r>
            <a:r>
              <a:rPr lang="zh-CN" altLang="en-US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文字识别准确率</a:t>
            </a:r>
            <a:r>
              <a:rPr lang="en-US" altLang="zh-CN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&gt;=85%</a:t>
            </a: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9B701BC-D2DC-3CF7-0B8A-98F54B06FED2}"/>
              </a:ext>
            </a:extLst>
          </p:cNvPr>
          <p:cNvSpPr/>
          <p:nvPr/>
        </p:nvSpPr>
        <p:spPr>
          <a:xfrm>
            <a:off x="253841" y="1732360"/>
            <a:ext cx="1168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600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AB294B8-F6AB-D27C-E4EA-9A13593E15A7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48" name="等腰三角形 47">
              <a:extLst>
                <a:ext uri="{FF2B5EF4-FFF2-40B4-BE49-F238E27FC236}">
                  <a16:creationId xmlns:a16="http://schemas.microsoft.com/office/drawing/2014/main" id="{0537C352-7C4F-7577-6B19-BAD42FE3FD05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等腰三角形 48">
              <a:extLst>
                <a:ext uri="{FF2B5EF4-FFF2-40B4-BE49-F238E27FC236}">
                  <a16:creationId xmlns:a16="http://schemas.microsoft.com/office/drawing/2014/main" id="{5C88AB87-D1FC-41EA-6C80-4425AFD67A28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9F2A76CB-E755-661F-AD7E-7658D5198497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1" name="矩形 2">
            <a:extLst>
              <a:ext uri="{FF2B5EF4-FFF2-40B4-BE49-F238E27FC236}">
                <a16:creationId xmlns:a16="http://schemas.microsoft.com/office/drawing/2014/main" id="{A2AB9E1B-4AC6-4D36-8AAB-0B95AE58F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研究内容与目标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AE5E02D8-D5FD-3C32-F898-3153BD2ADC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3381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FB72036E-90BD-C317-5D59-4D7478CA9BEA}"/>
              </a:ext>
            </a:extLst>
          </p:cNvPr>
          <p:cNvSpPr/>
          <p:nvPr/>
        </p:nvSpPr>
        <p:spPr>
          <a:xfrm>
            <a:off x="268796" y="4361924"/>
            <a:ext cx="3695700" cy="1930400"/>
          </a:xfrm>
          <a:custGeom>
            <a:avLst/>
            <a:gdLst/>
            <a:ahLst/>
            <a:cxnLst/>
            <a:rect l="l" t="t" r="r" b="b"/>
            <a:pathLst>
              <a:path w="3695700" h="1930400">
                <a:moveTo>
                  <a:pt x="101597" y="0"/>
                </a:moveTo>
                <a:lnTo>
                  <a:pt x="3594103" y="0"/>
                </a:lnTo>
                <a:cubicBezTo>
                  <a:pt x="3650213" y="0"/>
                  <a:pt x="3695700" y="45487"/>
                  <a:pt x="3695700" y="101597"/>
                </a:cubicBezTo>
                <a:lnTo>
                  <a:pt x="3695700" y="1828803"/>
                </a:lnTo>
                <a:cubicBezTo>
                  <a:pt x="3695700" y="1884913"/>
                  <a:pt x="3650213" y="1930400"/>
                  <a:pt x="3594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33C16DD5-3178-656D-115A-839D2F56505A}"/>
              </a:ext>
            </a:extLst>
          </p:cNvPr>
          <p:cNvSpPr/>
          <p:nvPr/>
        </p:nvSpPr>
        <p:spPr>
          <a:xfrm>
            <a:off x="773176" y="891529"/>
            <a:ext cx="11418824" cy="21830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研究难点：</a:t>
            </a:r>
            <a:endParaRPr lang="en-US" altLang="zh-CN" sz="3000" b="1" dirty="0">
              <a:solidFill>
                <a:srgbClr val="2E70CD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r>
              <a:rPr lang="zh-CN" alt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数据采集的稳定性（反爬虫机制）</a:t>
            </a:r>
            <a:endParaRPr lang="en-US" altLang="zh-CN" sz="3000" b="1" dirty="0">
              <a:solidFill>
                <a:srgbClr val="2E70CD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r>
              <a:rPr lang="zh-CN" alt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数据标注工作量大</a:t>
            </a:r>
            <a:endParaRPr lang="en-US" altLang="zh-CN" sz="3000" b="1" dirty="0">
              <a:solidFill>
                <a:srgbClr val="2E70CD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r>
              <a:rPr lang="zh-CN" alt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合理地综合文本、图像的分析结果</a:t>
            </a:r>
            <a:endParaRPr lang="en-US" sz="1600" dirty="0"/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509CAED1-9061-FB8B-12A1-E65D5A4C5AD6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108" name="等腰三角形 107">
              <a:extLst>
                <a:ext uri="{FF2B5EF4-FFF2-40B4-BE49-F238E27FC236}">
                  <a16:creationId xmlns:a16="http://schemas.microsoft.com/office/drawing/2014/main" id="{A661BE13-FDF2-3FA9-D125-1C5E06EBD45C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等腰三角形 108">
              <a:extLst>
                <a:ext uri="{FF2B5EF4-FFF2-40B4-BE49-F238E27FC236}">
                  <a16:creationId xmlns:a16="http://schemas.microsoft.com/office/drawing/2014/main" id="{F895CE15-2A1B-F9BE-94BC-A56E6323CFBC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5C3EB01-155E-34CC-7295-F4CBA946DB2A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1" name="矩形 2">
            <a:extLst>
              <a:ext uri="{FF2B5EF4-FFF2-40B4-BE49-F238E27FC236}">
                <a16:creationId xmlns:a16="http://schemas.microsoft.com/office/drawing/2014/main" id="{94B5F496-5961-9E2B-80C3-055427CCB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研究内容与目标</a:t>
            </a:r>
          </a:p>
        </p:txBody>
      </p:sp>
      <p:pic>
        <p:nvPicPr>
          <p:cNvPr id="112" name="图片 111">
            <a:extLst>
              <a:ext uri="{FF2B5EF4-FFF2-40B4-BE49-F238E27FC236}">
                <a16:creationId xmlns:a16="http://schemas.microsoft.com/office/drawing/2014/main" id="{6756968B-F945-792C-9B51-BA43A1EBC2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47455799-8912-BEF0-9BA8-B035040F8830}"/>
              </a:ext>
            </a:extLst>
          </p:cNvPr>
          <p:cNvSpPr/>
          <p:nvPr/>
        </p:nvSpPr>
        <p:spPr>
          <a:xfrm>
            <a:off x="1871027" y="45461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371475"/>
                </a:moveTo>
                <a:lnTo>
                  <a:pt x="0" y="185738"/>
                </a:lnTo>
                <a:lnTo>
                  <a:pt x="121622" y="185738"/>
                </a:lnTo>
                <a:cubicBezTo>
                  <a:pt x="133677" y="167700"/>
                  <a:pt x="150197" y="152876"/>
                  <a:pt x="169575" y="142875"/>
                </a:cubicBezTo>
                <a:lnTo>
                  <a:pt x="0" y="142875"/>
                </a:lnTo>
                <a:lnTo>
                  <a:pt x="0" y="112246"/>
                </a:lnTo>
                <a:cubicBezTo>
                  <a:pt x="0" y="80724"/>
                  <a:pt x="25628" y="55096"/>
                  <a:pt x="57150" y="55096"/>
                </a:cubicBezTo>
                <a:lnTo>
                  <a:pt x="57239" y="55096"/>
                </a:lnTo>
                <a:cubicBezTo>
                  <a:pt x="58311" y="40273"/>
                  <a:pt x="70634" y="28575"/>
                  <a:pt x="85725" y="28575"/>
                </a:cubicBezTo>
                <a:lnTo>
                  <a:pt x="114300" y="28575"/>
                </a:lnTo>
                <a:cubicBezTo>
                  <a:pt x="129391" y="28575"/>
                  <a:pt x="141714" y="40273"/>
                  <a:pt x="142786" y="55096"/>
                </a:cubicBezTo>
                <a:lnTo>
                  <a:pt x="171450" y="55096"/>
                </a:lnTo>
                <a:lnTo>
                  <a:pt x="217170" y="33844"/>
                </a:lnTo>
                <a:cubicBezTo>
                  <a:pt x="224671" y="30361"/>
                  <a:pt x="232886" y="28486"/>
                  <a:pt x="241191" y="28486"/>
                </a:cubicBezTo>
                <a:lnTo>
                  <a:pt x="400050" y="28575"/>
                </a:lnTo>
                <a:cubicBezTo>
                  <a:pt x="431572" y="28575"/>
                  <a:pt x="457200" y="54203"/>
                  <a:pt x="457200" y="85725"/>
                </a:cubicBezTo>
                <a:lnTo>
                  <a:pt x="457200" y="142875"/>
                </a:lnTo>
                <a:lnTo>
                  <a:pt x="287536" y="142875"/>
                </a:lnTo>
                <a:cubicBezTo>
                  <a:pt x="306913" y="152876"/>
                  <a:pt x="323433" y="167700"/>
                  <a:pt x="335488" y="185738"/>
                </a:cubicBezTo>
                <a:lnTo>
                  <a:pt x="457111" y="185738"/>
                </a:lnTo>
                <a:lnTo>
                  <a:pt x="457111" y="371475"/>
                </a:lnTo>
                <a:cubicBezTo>
                  <a:pt x="457111" y="402997"/>
                  <a:pt x="431483" y="428625"/>
                  <a:pt x="399961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close/>
                <a:moveTo>
                  <a:pt x="228600" y="171450"/>
                </a:moveTo>
                <a:cubicBezTo>
                  <a:pt x="197297" y="170440"/>
                  <a:pt x="167931" y="186563"/>
                  <a:pt x="151980" y="213516"/>
                </a:cubicBezTo>
                <a:cubicBezTo>
                  <a:pt x="136030" y="240469"/>
                  <a:pt x="136030" y="273971"/>
                  <a:pt x="151980" y="300923"/>
                </a:cubicBezTo>
                <a:cubicBezTo>
                  <a:pt x="167931" y="327876"/>
                  <a:pt x="197297" y="343999"/>
                  <a:pt x="228600" y="342989"/>
                </a:cubicBezTo>
                <a:cubicBezTo>
                  <a:pt x="259903" y="343999"/>
                  <a:pt x="289269" y="327876"/>
                  <a:pt x="305220" y="300923"/>
                </a:cubicBezTo>
                <a:cubicBezTo>
                  <a:pt x="321170" y="273971"/>
                  <a:pt x="321170" y="240469"/>
                  <a:pt x="305220" y="213516"/>
                </a:cubicBezTo>
                <a:cubicBezTo>
                  <a:pt x="289269" y="186563"/>
                  <a:pt x="259903" y="170440"/>
                  <a:pt x="228600" y="171450"/>
                </a:cubicBezTo>
                <a:close/>
              </a:path>
            </a:pathLst>
          </a:custGeom>
          <a:solidFill>
            <a:srgbClr val="4A89DC"/>
          </a:solidFill>
        </p:spPr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C30DFE3-1A74-936A-E48D-69EF294F1CAA}"/>
              </a:ext>
            </a:extLst>
          </p:cNvPr>
          <p:cNvSpPr/>
          <p:nvPr/>
        </p:nvSpPr>
        <p:spPr>
          <a:xfrm>
            <a:off x="954081" y="4877664"/>
            <a:ext cx="2450496" cy="125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zh-CN" dirty="0">
                <a:ea typeface="MiSans"/>
              </a:rPr>
              <a:t>设置合理的访问频率</a:t>
            </a:r>
            <a:endParaRPr lang="en-US" altLang="zh-CN" dirty="0">
              <a:ea typeface="MiSans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ea typeface="MiSans"/>
              </a:rPr>
              <a:t>优先选择对爬虫友好的平台</a:t>
            </a:r>
            <a:endParaRPr lang="en-US" altLang="zh-CN" sz="1600" dirty="0">
              <a:ea typeface="MiSans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ea typeface="MiSans"/>
              </a:rPr>
              <a:t>借助校内实验室的爬虫平台</a:t>
            </a:r>
            <a:endParaRPr lang="en-US" sz="1600" dirty="0">
              <a:ea typeface="MiSans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8488682-6F40-73B7-AD97-4B5B149645B4}"/>
              </a:ext>
            </a:extLst>
          </p:cNvPr>
          <p:cNvSpPr/>
          <p:nvPr/>
        </p:nvSpPr>
        <p:spPr>
          <a:xfrm>
            <a:off x="203200" y="5816170"/>
            <a:ext cx="379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2777D4BF-C391-63B8-6235-8626BC86C1F4}"/>
              </a:ext>
            </a:extLst>
          </p:cNvPr>
          <p:cNvSpPr/>
          <p:nvPr/>
        </p:nvSpPr>
        <p:spPr>
          <a:xfrm>
            <a:off x="4254483" y="4368370"/>
            <a:ext cx="3695700" cy="1930400"/>
          </a:xfrm>
          <a:custGeom>
            <a:avLst/>
            <a:gdLst/>
            <a:ahLst/>
            <a:cxnLst/>
            <a:rect l="l" t="t" r="r" b="b"/>
            <a:pathLst>
              <a:path w="3695700" h="1930400">
                <a:moveTo>
                  <a:pt x="101597" y="0"/>
                </a:moveTo>
                <a:lnTo>
                  <a:pt x="3594103" y="0"/>
                </a:lnTo>
                <a:cubicBezTo>
                  <a:pt x="3650213" y="0"/>
                  <a:pt x="3695700" y="45487"/>
                  <a:pt x="3695700" y="101597"/>
                </a:cubicBezTo>
                <a:lnTo>
                  <a:pt x="3695700" y="1828803"/>
                </a:lnTo>
                <a:cubicBezTo>
                  <a:pt x="3695700" y="1884913"/>
                  <a:pt x="3650213" y="1930400"/>
                  <a:pt x="3594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D27398BA-09A6-F5DE-D89A-3F97B0461EBE}"/>
              </a:ext>
            </a:extLst>
          </p:cNvPr>
          <p:cNvSpPr/>
          <p:nvPr/>
        </p:nvSpPr>
        <p:spPr>
          <a:xfrm>
            <a:off x="5838666" y="454617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4A89DC"/>
          </a:solidFill>
        </p:spPr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786AB216-41F4-A853-12BE-8E4C18CAD0D7}"/>
              </a:ext>
            </a:extLst>
          </p:cNvPr>
          <p:cNvSpPr/>
          <p:nvPr/>
        </p:nvSpPr>
        <p:spPr>
          <a:xfrm>
            <a:off x="4780149" y="5065789"/>
            <a:ext cx="2644368" cy="122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1600" dirty="0">
                <a:ea typeface="MiSans"/>
              </a:rPr>
              <a:t>使用开源的预训练模型进行</a:t>
            </a:r>
            <a:endParaRPr lang="en-US" altLang="zh-CN" sz="1600" dirty="0">
              <a:ea typeface="MiSans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600" dirty="0">
                <a:ea typeface="MiSans"/>
              </a:rPr>
              <a:t>零样本或少样本学习</a:t>
            </a:r>
            <a:endParaRPr lang="en-US" altLang="zh-CN" sz="1600" dirty="0">
              <a:ea typeface="MiSans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600" dirty="0">
                <a:ea typeface="MiSans"/>
              </a:rPr>
              <a:t>标注少量样本后进行微调</a:t>
            </a:r>
            <a:endParaRPr lang="en-US" altLang="zh-CN" sz="1600" dirty="0">
              <a:ea typeface="MiSans"/>
            </a:endParaRPr>
          </a:p>
          <a:p>
            <a:pPr marL="0" indent="0" algn="ctr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35B89A4F-C440-461A-26F5-BFF67E266986}"/>
              </a:ext>
            </a:extLst>
          </p:cNvPr>
          <p:cNvSpPr/>
          <p:nvPr/>
        </p:nvSpPr>
        <p:spPr>
          <a:xfrm>
            <a:off x="4199414" y="5562170"/>
            <a:ext cx="379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D2251629-6E62-383B-854C-A902072F42AC}"/>
              </a:ext>
            </a:extLst>
          </p:cNvPr>
          <p:cNvSpPr/>
          <p:nvPr/>
        </p:nvSpPr>
        <p:spPr>
          <a:xfrm>
            <a:off x="8195628" y="4361924"/>
            <a:ext cx="3695700" cy="1930400"/>
          </a:xfrm>
          <a:custGeom>
            <a:avLst/>
            <a:gdLst/>
            <a:ahLst/>
            <a:cxnLst/>
            <a:rect l="l" t="t" r="r" b="b"/>
            <a:pathLst>
              <a:path w="3695700" h="1930400">
                <a:moveTo>
                  <a:pt x="101597" y="0"/>
                </a:moveTo>
                <a:lnTo>
                  <a:pt x="3594103" y="0"/>
                </a:lnTo>
                <a:cubicBezTo>
                  <a:pt x="3650213" y="0"/>
                  <a:pt x="3695700" y="45487"/>
                  <a:pt x="3695700" y="101597"/>
                </a:cubicBezTo>
                <a:lnTo>
                  <a:pt x="3695700" y="1828803"/>
                </a:lnTo>
                <a:cubicBezTo>
                  <a:pt x="3695700" y="1884913"/>
                  <a:pt x="3650213" y="1930400"/>
                  <a:pt x="35941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3BE8ABBD-7230-F9CE-0915-2606442CB6A4}"/>
              </a:ext>
            </a:extLst>
          </p:cNvPr>
          <p:cNvSpPr/>
          <p:nvPr/>
        </p:nvSpPr>
        <p:spPr>
          <a:xfrm>
            <a:off x="9920764" y="454617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4A89DC"/>
          </a:solidFill>
        </p:spPr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F027E585-97E0-74C0-8914-C62A7DB7F154}"/>
              </a:ext>
            </a:extLst>
          </p:cNvPr>
          <p:cNvSpPr/>
          <p:nvPr/>
        </p:nvSpPr>
        <p:spPr>
          <a:xfrm>
            <a:off x="8558174" y="5094093"/>
            <a:ext cx="3192261" cy="8723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1600" dirty="0">
                <a:ea typeface="MiSans"/>
              </a:rPr>
              <a:t>采用加权平均的方式融合</a:t>
            </a:r>
            <a:endParaRPr lang="en-US" altLang="zh-CN" sz="1600" dirty="0">
              <a:ea typeface="MiSans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600" dirty="0">
                <a:ea typeface="MiSans"/>
              </a:rPr>
              <a:t>参考已有的风险评估模型</a:t>
            </a:r>
            <a:endParaRPr lang="en-US" altLang="zh-CN" sz="1600" dirty="0">
              <a:ea typeface="MiSans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600" dirty="0">
                <a:ea typeface="MiSans"/>
              </a:rPr>
              <a:t>合理设计权重，通过实验不断微调</a:t>
            </a:r>
            <a:endParaRPr lang="en-US" sz="1600" dirty="0">
              <a:ea typeface="MiSans"/>
            </a:endParaRPr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8D1185B8-F54D-0933-29C8-C43BBCBEFC8E}"/>
              </a:ext>
            </a:extLst>
          </p:cNvPr>
          <p:cNvSpPr/>
          <p:nvPr/>
        </p:nvSpPr>
        <p:spPr>
          <a:xfrm>
            <a:off x="773176" y="3557136"/>
            <a:ext cx="3695699" cy="714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可选择的解决措施：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319238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731A2-539B-865A-B09C-2E62BE12F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E82A73AB-9007-6214-8245-E9467CF70334}"/>
              </a:ext>
            </a:extLst>
          </p:cNvPr>
          <p:cNvGrpSpPr/>
          <p:nvPr/>
        </p:nvGrpSpPr>
        <p:grpSpPr>
          <a:xfrm>
            <a:off x="16550" y="0"/>
            <a:ext cx="12175450" cy="6858000"/>
            <a:chOff x="16550" y="0"/>
            <a:chExt cx="12175450" cy="6858000"/>
          </a:xfrm>
        </p:grpSpPr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7695C5CE-6D0F-5137-0647-A202C03C69FD}"/>
                </a:ext>
              </a:extLst>
            </p:cNvPr>
            <p:cNvSpPr/>
            <p:nvPr/>
          </p:nvSpPr>
          <p:spPr>
            <a:xfrm rot="10800000">
              <a:off x="6691746" y="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94A9CB46-0B9A-69E9-FC02-397815B0C27D}"/>
                </a:ext>
              </a:extLst>
            </p:cNvPr>
            <p:cNvSpPr/>
            <p:nvPr/>
          </p:nvSpPr>
          <p:spPr>
            <a:xfrm rot="10800000">
              <a:off x="8601014" y="342899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63">
              <a:extLst>
                <a:ext uri="{FF2B5EF4-FFF2-40B4-BE49-F238E27FC236}">
                  <a16:creationId xmlns:a16="http://schemas.microsoft.com/office/drawing/2014/main" id="{D79CABAB-07C5-0FD0-32BC-DA8383D60152}"/>
                </a:ext>
              </a:extLst>
            </p:cNvPr>
            <p:cNvSpPr/>
            <p:nvPr/>
          </p:nvSpPr>
          <p:spPr>
            <a:xfrm rot="10800000">
              <a:off x="10510281" y="3429000"/>
              <a:ext cx="1681719" cy="1645920"/>
            </a:xfrm>
            <a:custGeom>
              <a:avLst/>
              <a:gdLst>
                <a:gd name="connsiteX0" fmla="*/ 1681719 w 1681719"/>
                <a:gd name="connsiteY0" fmla="*/ 1645920 h 1645920"/>
                <a:gd name="connsiteX1" fmla="*/ 0 w 1681719"/>
                <a:gd name="connsiteY1" fmla="*/ 1645920 h 1645920"/>
                <a:gd name="connsiteX2" fmla="*/ 0 w 1681719"/>
                <a:gd name="connsiteY2" fmla="*/ 1253596 h 1645920"/>
                <a:gd name="connsiteX3" fmla="*/ 727086 w 1681719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19" h="1645920">
                  <a:moveTo>
                    <a:pt x="1681719" y="1645920"/>
                  </a:moveTo>
                  <a:lnTo>
                    <a:pt x="0" y="1645920"/>
                  </a:lnTo>
                  <a:lnTo>
                    <a:pt x="0" y="1253596"/>
                  </a:lnTo>
                  <a:lnTo>
                    <a:pt x="727086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1">
              <a:extLst>
                <a:ext uri="{FF2B5EF4-FFF2-40B4-BE49-F238E27FC236}">
                  <a16:creationId xmlns:a16="http://schemas.microsoft.com/office/drawing/2014/main" id="{12281D56-8324-7C9C-C2D3-172B2E7F594C}"/>
                </a:ext>
              </a:extLst>
            </p:cNvPr>
            <p:cNvSpPr/>
            <p:nvPr/>
          </p:nvSpPr>
          <p:spPr>
            <a:xfrm>
              <a:off x="10510280" y="1783080"/>
              <a:ext cx="1681720" cy="1645920"/>
            </a:xfrm>
            <a:custGeom>
              <a:avLst/>
              <a:gdLst>
                <a:gd name="connsiteX0" fmla="*/ 954634 w 1681720"/>
                <a:gd name="connsiteY0" fmla="*/ 0 h 1645920"/>
                <a:gd name="connsiteX1" fmla="*/ 1681720 w 1681720"/>
                <a:gd name="connsiteY1" fmla="*/ 1253598 h 1645920"/>
                <a:gd name="connsiteX2" fmla="*/ 1681720 w 1681720"/>
                <a:gd name="connsiteY2" fmla="*/ 1645920 h 1645920"/>
                <a:gd name="connsiteX3" fmla="*/ 0 w 1681720"/>
                <a:gd name="connsiteY3" fmla="*/ 164592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0" h="1645920">
                  <a:moveTo>
                    <a:pt x="954634" y="0"/>
                  </a:moveTo>
                  <a:lnTo>
                    <a:pt x="1681720" y="1253598"/>
                  </a:lnTo>
                  <a:lnTo>
                    <a:pt x="1681720" y="1645920"/>
                  </a:lnTo>
                  <a:lnTo>
                    <a:pt x="0" y="164592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5C5DEA51-DC14-82E1-2E9F-CF3FE8DC394C}"/>
                </a:ext>
              </a:extLst>
            </p:cNvPr>
            <p:cNvSpPr/>
            <p:nvPr/>
          </p:nvSpPr>
          <p:spPr>
            <a:xfrm>
              <a:off x="8600991" y="5078022"/>
              <a:ext cx="1909281" cy="1645933"/>
            </a:xfrm>
            <a:prstGeom prst="triangle">
              <a:avLst/>
            </a:prstGeom>
            <a:solidFill>
              <a:srgbClr val="A5CFE5">
                <a:alpha val="52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59">
              <a:extLst>
                <a:ext uri="{FF2B5EF4-FFF2-40B4-BE49-F238E27FC236}">
                  <a16:creationId xmlns:a16="http://schemas.microsoft.com/office/drawing/2014/main" id="{83FA2885-1C00-A05B-C0AC-DD0EEDB618BC}"/>
                </a:ext>
              </a:extLst>
            </p:cNvPr>
            <p:cNvSpPr/>
            <p:nvPr/>
          </p:nvSpPr>
          <p:spPr>
            <a:xfrm rot="10800000">
              <a:off x="10510279" y="137158"/>
              <a:ext cx="1681721" cy="1645920"/>
            </a:xfrm>
            <a:custGeom>
              <a:avLst/>
              <a:gdLst>
                <a:gd name="connsiteX0" fmla="*/ 1681721 w 1681721"/>
                <a:gd name="connsiteY0" fmla="*/ 1645920 h 1645920"/>
                <a:gd name="connsiteX1" fmla="*/ 0 w 1681721"/>
                <a:gd name="connsiteY1" fmla="*/ 1645920 h 1645920"/>
                <a:gd name="connsiteX2" fmla="*/ 0 w 1681721"/>
                <a:gd name="connsiteY2" fmla="*/ 1253600 h 1645920"/>
                <a:gd name="connsiteX3" fmla="*/ 727088 w 1681721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1" h="1645920">
                  <a:moveTo>
                    <a:pt x="1681721" y="1645920"/>
                  </a:moveTo>
                  <a:lnTo>
                    <a:pt x="0" y="1645920"/>
                  </a:lnTo>
                  <a:lnTo>
                    <a:pt x="0" y="1253600"/>
                  </a:lnTo>
                  <a:lnTo>
                    <a:pt x="727088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64FD04CA-CE31-D92A-6216-63B969080597}"/>
                </a:ext>
              </a:extLst>
            </p:cNvPr>
            <p:cNvSpPr/>
            <p:nvPr/>
          </p:nvSpPr>
          <p:spPr>
            <a:xfrm>
              <a:off x="9555645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F28AA61D-F77F-2F0B-56DE-C0B66677E200}"/>
                </a:ext>
              </a:extLst>
            </p:cNvPr>
            <p:cNvSpPr/>
            <p:nvPr/>
          </p:nvSpPr>
          <p:spPr>
            <a:xfrm rot="10800000">
              <a:off x="7646375" y="507491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9613BD98-6095-2304-51BC-C54225EAE282}"/>
                </a:ext>
              </a:extLst>
            </p:cNvPr>
            <p:cNvSpPr/>
            <p:nvPr/>
          </p:nvSpPr>
          <p:spPr>
            <a:xfrm>
              <a:off x="6691725" y="5074928"/>
              <a:ext cx="1909257" cy="1645912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39A5BA9C-15A6-6599-C95D-7D9574EC38BF}"/>
                </a:ext>
              </a:extLst>
            </p:cNvPr>
            <p:cNvSpPr/>
            <p:nvPr/>
          </p:nvSpPr>
          <p:spPr>
            <a:xfrm rot="10800000">
              <a:off x="9555641" y="507492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61676CB-16C0-6925-6F91-A5249A5A1F3D}"/>
                </a:ext>
              </a:extLst>
            </p:cNvPr>
            <p:cNvSpPr/>
            <p:nvPr/>
          </p:nvSpPr>
          <p:spPr>
            <a:xfrm rot="10800000">
              <a:off x="9555641" y="1783080"/>
              <a:ext cx="1909267" cy="1645920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203BFD1D-23E6-37E4-BC50-26BA1FE0663B}"/>
                </a:ext>
              </a:extLst>
            </p:cNvPr>
            <p:cNvSpPr/>
            <p:nvPr/>
          </p:nvSpPr>
          <p:spPr>
            <a:xfrm>
              <a:off x="7646348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9C78831-4D59-C122-8752-9E7318B3D7EE}"/>
                </a:ext>
              </a:extLst>
            </p:cNvPr>
            <p:cNvCxnSpPr/>
            <p:nvPr/>
          </p:nvCxnSpPr>
          <p:spPr>
            <a:xfrm flipH="1">
              <a:off x="7285065" y="765802"/>
              <a:ext cx="954634" cy="1645920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E6E595D-137E-95A4-0BAA-1B0138A82A16}"/>
                </a:ext>
              </a:extLst>
            </p:cNvPr>
            <p:cNvCxnSpPr/>
            <p:nvPr/>
          </p:nvCxnSpPr>
          <p:spPr>
            <a:xfrm flipH="1">
              <a:off x="661651" y="2935908"/>
              <a:ext cx="304858" cy="525617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7D4D412-080F-B4F4-DA9A-E712B25A1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t="24590"/>
            <a:stretch>
              <a:fillRect/>
            </a:stretch>
          </p:blipFill>
          <p:spPr>
            <a:xfrm>
              <a:off x="966539" y="1"/>
              <a:ext cx="3127519" cy="2032061"/>
            </a:xfrm>
            <a:custGeom>
              <a:avLst/>
              <a:gdLst>
                <a:gd name="connsiteX0" fmla="*/ 0 w 3127519"/>
                <a:gd name="connsiteY0" fmla="*/ 0 h 2032061"/>
                <a:gd name="connsiteX1" fmla="*/ 3127519 w 3127519"/>
                <a:gd name="connsiteY1" fmla="*/ 0 h 2032061"/>
                <a:gd name="connsiteX2" fmla="*/ 3127519 w 3127519"/>
                <a:gd name="connsiteY2" fmla="*/ 2032061 h 2032061"/>
                <a:gd name="connsiteX3" fmla="*/ 0 w 3127519"/>
                <a:gd name="connsiteY3" fmla="*/ 2032061 h 2032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27519" h="2032061">
                  <a:moveTo>
                    <a:pt x="0" y="0"/>
                  </a:moveTo>
                  <a:lnTo>
                    <a:pt x="3127519" y="0"/>
                  </a:lnTo>
                  <a:lnTo>
                    <a:pt x="3127519" y="2032061"/>
                  </a:lnTo>
                  <a:lnTo>
                    <a:pt x="0" y="2032061"/>
                  </a:lnTo>
                  <a:close/>
                </a:path>
              </a:pathLst>
            </a:cu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3C88A1F-2CC5-0301-D649-312D90A23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 b="18265"/>
            <a:stretch>
              <a:fillRect/>
            </a:stretch>
          </p:blipFill>
          <p:spPr>
            <a:xfrm>
              <a:off x="16550" y="4281805"/>
              <a:ext cx="2975106" cy="2576195"/>
            </a:xfrm>
            <a:custGeom>
              <a:avLst/>
              <a:gdLst>
                <a:gd name="connsiteX0" fmla="*/ 0 w 2975106"/>
                <a:gd name="connsiteY0" fmla="*/ 0 h 2576195"/>
                <a:gd name="connsiteX1" fmla="*/ 2975106 w 2975106"/>
                <a:gd name="connsiteY1" fmla="*/ 0 h 2576195"/>
                <a:gd name="connsiteX2" fmla="*/ 2975106 w 2975106"/>
                <a:gd name="connsiteY2" fmla="*/ 2576195 h 2576195"/>
                <a:gd name="connsiteX3" fmla="*/ 0 w 2975106"/>
                <a:gd name="connsiteY3" fmla="*/ 2576195 h 2576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5106" h="2576195">
                  <a:moveTo>
                    <a:pt x="0" y="0"/>
                  </a:moveTo>
                  <a:lnTo>
                    <a:pt x="2975106" y="0"/>
                  </a:lnTo>
                  <a:lnTo>
                    <a:pt x="2975106" y="2576195"/>
                  </a:lnTo>
                  <a:lnTo>
                    <a:pt x="0" y="2576195"/>
                  </a:lnTo>
                  <a:close/>
                </a:path>
              </a:pathLst>
            </a:cu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321B878-E10B-41A6-3543-36FB3FF35367}"/>
              </a:ext>
            </a:extLst>
          </p:cNvPr>
          <p:cNvSpPr txBox="1"/>
          <p:nvPr/>
        </p:nvSpPr>
        <p:spPr>
          <a:xfrm>
            <a:off x="814080" y="2811155"/>
            <a:ext cx="83688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幼圆" panose="02010509060101010101" pitchFamily="49" charset="-122"/>
                <a:ea typeface="幼圆" panose="02010509060101010101" pitchFamily="49" charset="-122"/>
              </a:rPr>
              <a:t>进度安排与预期成果</a:t>
            </a: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C94E7593-215B-E5CD-679D-ED8AC395B793}"/>
              </a:ext>
            </a:extLst>
          </p:cNvPr>
          <p:cNvSpPr/>
          <p:nvPr/>
        </p:nvSpPr>
        <p:spPr>
          <a:xfrm rot="17411441">
            <a:off x="8515827" y="2746801"/>
            <a:ext cx="157387" cy="397133"/>
          </a:xfrm>
          <a:prstGeom prst="triangle">
            <a:avLst/>
          </a:pr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5BA6E8BE-6386-50EE-9AF2-A364CCC6A241}"/>
              </a:ext>
            </a:extLst>
          </p:cNvPr>
          <p:cNvSpPr/>
          <p:nvPr/>
        </p:nvSpPr>
        <p:spPr>
          <a:xfrm rot="13615302">
            <a:off x="8265178" y="2521759"/>
            <a:ext cx="105790" cy="511888"/>
          </a:xfrm>
          <a:prstGeom prst="triangle">
            <a:avLst/>
          </a:prstGeom>
          <a:solidFill>
            <a:srgbClr val="A5CF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A3DC0AF-E9D3-9E1F-BBBC-4A53C71F50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7FD52BF-8596-2E15-4C4A-ABB20C7F8F36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B6B3B0AC-2B75-127E-5B9C-C958B7B89D16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>
              <a:extLst>
                <a:ext uri="{FF2B5EF4-FFF2-40B4-BE49-F238E27FC236}">
                  <a16:creationId xmlns:a16="http://schemas.microsoft.com/office/drawing/2014/main" id="{787780F9-4F60-793F-32A7-3231D1F79474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C74E916-76DA-CF60-EE37-78837FAD532B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757896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19:43-d3jnsbos8jdo4os5dm3g.jpg">
            <a:extLst>
              <a:ext uri="{FF2B5EF4-FFF2-40B4-BE49-F238E27FC236}">
                <a16:creationId xmlns:a16="http://schemas.microsoft.com/office/drawing/2014/main" id="{8A5EEF11-D954-DA72-3CA4-2DC915CB3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BA4263A-75A5-CE5B-1474-B4FBD4BC28C2}"/>
              </a:ext>
            </a:extLst>
          </p:cNvPr>
          <p:cNvSpPr/>
          <p:nvPr/>
        </p:nvSpPr>
        <p:spPr>
          <a:xfrm>
            <a:off x="95633" y="992475"/>
            <a:ext cx="3492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进度</a:t>
            </a:r>
            <a:r>
              <a:rPr lang="en-US" sz="4000" b="1" dirty="0" err="1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</a:t>
            </a:r>
            <a:r>
              <a:rPr lang="zh-CN" altLang="en-US" sz="4000" b="1" dirty="0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安排</a:t>
            </a:r>
            <a:endParaRPr lang="en-US" sz="2400" dirty="0"/>
          </a:p>
        </p:txBody>
      </p:sp>
      <p:sp>
        <p:nvSpPr>
          <p:cNvPr id="107" name="Text 5">
            <a:extLst>
              <a:ext uri="{FF2B5EF4-FFF2-40B4-BE49-F238E27FC236}">
                <a16:creationId xmlns:a16="http://schemas.microsoft.com/office/drawing/2014/main" id="{642201EA-8AC0-0201-876D-66890A56C3E3}"/>
              </a:ext>
            </a:extLst>
          </p:cNvPr>
          <p:cNvSpPr/>
          <p:nvPr/>
        </p:nvSpPr>
        <p:spPr>
          <a:xfrm>
            <a:off x="346559" y="1770611"/>
            <a:ext cx="10277325" cy="4640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2000" dirty="0">
                <a:ea typeface="MiSans"/>
              </a:rPr>
              <a:t>          第一阶段</a:t>
            </a:r>
            <a:endParaRPr lang="en-US" altLang="zh-CN" sz="2000" dirty="0">
              <a:ea typeface="MiSans"/>
            </a:endParaRPr>
          </a:p>
          <a:p>
            <a:r>
              <a:rPr lang="en-US" altLang="zh-CN" sz="2000" dirty="0">
                <a:ea typeface="MiSans"/>
              </a:rPr>
              <a:t>2025</a:t>
            </a:r>
            <a:r>
              <a:rPr lang="zh-CN" altLang="zh-CN" sz="2000" dirty="0">
                <a:ea typeface="MiSans"/>
              </a:rPr>
              <a:t>年</a:t>
            </a:r>
            <a:r>
              <a:rPr lang="en-US" altLang="zh-CN" sz="2000" dirty="0">
                <a:ea typeface="MiSans"/>
              </a:rPr>
              <a:t>10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24</a:t>
            </a:r>
            <a:r>
              <a:rPr lang="zh-CN" altLang="zh-CN" sz="2000" dirty="0">
                <a:ea typeface="MiSans"/>
              </a:rPr>
              <a:t>日</a:t>
            </a:r>
            <a:r>
              <a:rPr lang="en-US" altLang="zh-CN" sz="2000" dirty="0">
                <a:ea typeface="MiSans"/>
              </a:rPr>
              <a:t>-11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08</a:t>
            </a:r>
            <a:r>
              <a:rPr lang="zh-CN" altLang="zh-CN" sz="2000" dirty="0">
                <a:ea typeface="MiSans"/>
              </a:rPr>
              <a:t>日：确定题目，调用文献，完成需求分析与开题答辩</a:t>
            </a:r>
          </a:p>
          <a:p>
            <a:r>
              <a:rPr lang="en-US" altLang="zh-CN" sz="2000" dirty="0">
                <a:ea typeface="MiSans"/>
              </a:rPr>
              <a:t>2025</a:t>
            </a:r>
            <a:r>
              <a:rPr lang="zh-CN" altLang="zh-CN" sz="2000" dirty="0">
                <a:ea typeface="MiSans"/>
              </a:rPr>
              <a:t>年</a:t>
            </a:r>
            <a:r>
              <a:rPr lang="en-US" altLang="zh-CN" sz="2000" dirty="0">
                <a:ea typeface="MiSans"/>
              </a:rPr>
              <a:t>11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09</a:t>
            </a:r>
            <a:r>
              <a:rPr lang="zh-CN" altLang="zh-CN" sz="2000" dirty="0">
                <a:ea typeface="MiSans"/>
              </a:rPr>
              <a:t>日</a:t>
            </a:r>
            <a:r>
              <a:rPr lang="en-US" altLang="zh-CN" sz="2000" dirty="0">
                <a:ea typeface="MiSans"/>
              </a:rPr>
              <a:t>-11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30</a:t>
            </a:r>
            <a:r>
              <a:rPr lang="zh-CN" altLang="zh-CN" sz="2000" dirty="0">
                <a:ea typeface="MiSans"/>
              </a:rPr>
              <a:t>日：进一步细化需求分析，完善系统框架设计</a:t>
            </a:r>
            <a:r>
              <a:rPr lang="en-US" altLang="zh-CN" sz="2000" dirty="0">
                <a:ea typeface="MiSans"/>
              </a:rPr>
              <a:t> </a:t>
            </a:r>
          </a:p>
          <a:p>
            <a:endParaRPr lang="en-US" altLang="zh-CN" sz="2000" dirty="0">
              <a:ea typeface="MiSans"/>
            </a:endParaRPr>
          </a:p>
          <a:p>
            <a:r>
              <a:rPr lang="zh-CN" altLang="en-US" sz="2000" dirty="0">
                <a:ea typeface="MiSans"/>
              </a:rPr>
              <a:t>          第二阶段</a:t>
            </a:r>
            <a:endParaRPr lang="zh-CN" altLang="zh-CN" sz="2000" dirty="0">
              <a:ea typeface="MiSans"/>
            </a:endParaRPr>
          </a:p>
          <a:p>
            <a:r>
              <a:rPr lang="en-US" altLang="zh-CN" sz="2000" dirty="0">
                <a:ea typeface="MiSans"/>
              </a:rPr>
              <a:t>2025</a:t>
            </a:r>
            <a:r>
              <a:rPr lang="zh-CN" altLang="zh-CN" sz="2000" dirty="0">
                <a:ea typeface="MiSans"/>
              </a:rPr>
              <a:t>年</a:t>
            </a:r>
            <a:r>
              <a:rPr lang="en-US" altLang="zh-CN" sz="2000" dirty="0">
                <a:ea typeface="MiSans"/>
              </a:rPr>
              <a:t>12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01</a:t>
            </a:r>
            <a:r>
              <a:rPr lang="zh-CN" altLang="zh-CN" sz="2000" dirty="0">
                <a:ea typeface="MiSans"/>
              </a:rPr>
              <a:t>日</a:t>
            </a:r>
            <a:r>
              <a:rPr lang="en-US" altLang="zh-CN" sz="2000" dirty="0">
                <a:ea typeface="MiSans"/>
              </a:rPr>
              <a:t>-12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31</a:t>
            </a:r>
            <a:r>
              <a:rPr lang="zh-CN" altLang="zh-CN" sz="2000" dirty="0">
                <a:ea typeface="MiSans"/>
              </a:rPr>
              <a:t>日：实现数据采集模块，设计数据库存储结构有效存贮数据</a:t>
            </a:r>
          </a:p>
          <a:p>
            <a:r>
              <a:rPr lang="en-US" altLang="zh-CN" sz="2000" dirty="0">
                <a:ea typeface="MiSans"/>
              </a:rPr>
              <a:t>2026</a:t>
            </a:r>
            <a:r>
              <a:rPr lang="zh-CN" altLang="zh-CN" sz="2000" dirty="0">
                <a:ea typeface="MiSans"/>
              </a:rPr>
              <a:t>年</a:t>
            </a:r>
            <a:r>
              <a:rPr lang="en-US" altLang="zh-CN" sz="2000" dirty="0">
                <a:ea typeface="MiSans"/>
              </a:rPr>
              <a:t>1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01</a:t>
            </a:r>
            <a:r>
              <a:rPr lang="zh-CN" altLang="zh-CN" sz="2000" dirty="0">
                <a:ea typeface="MiSans"/>
              </a:rPr>
              <a:t>日</a:t>
            </a:r>
            <a:r>
              <a:rPr lang="en-US" altLang="zh-CN" sz="2000" dirty="0">
                <a:ea typeface="MiSans"/>
              </a:rPr>
              <a:t>-01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31</a:t>
            </a:r>
            <a:r>
              <a:rPr lang="zh-CN" altLang="zh-CN" sz="2000" dirty="0">
                <a:ea typeface="MiSans"/>
              </a:rPr>
              <a:t>日：实现文本分析模块构建，训练，搭建基本的后端框架</a:t>
            </a:r>
          </a:p>
          <a:p>
            <a:r>
              <a:rPr lang="en-US" altLang="zh-CN" sz="2000" dirty="0">
                <a:ea typeface="MiSans"/>
              </a:rPr>
              <a:t>2026</a:t>
            </a:r>
            <a:r>
              <a:rPr lang="zh-CN" altLang="zh-CN" sz="2000" dirty="0">
                <a:ea typeface="MiSans"/>
              </a:rPr>
              <a:t>年</a:t>
            </a:r>
            <a:r>
              <a:rPr lang="en-US" altLang="zh-CN" sz="2000" dirty="0">
                <a:ea typeface="MiSans"/>
              </a:rPr>
              <a:t>2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01</a:t>
            </a:r>
            <a:r>
              <a:rPr lang="zh-CN" altLang="zh-CN" sz="2000" dirty="0">
                <a:ea typeface="MiSans"/>
              </a:rPr>
              <a:t>日</a:t>
            </a:r>
            <a:r>
              <a:rPr lang="en-US" altLang="zh-CN" sz="2000" dirty="0">
                <a:ea typeface="MiSans"/>
              </a:rPr>
              <a:t>-02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28</a:t>
            </a:r>
            <a:r>
              <a:rPr lang="zh-CN" altLang="zh-CN" sz="2000" dirty="0">
                <a:ea typeface="MiSans"/>
              </a:rPr>
              <a:t>日：实现图像分析模块的构建，训练，实现基本的风险评估算法</a:t>
            </a:r>
          </a:p>
          <a:p>
            <a:r>
              <a:rPr lang="en-US" altLang="zh-CN" sz="2000" dirty="0">
                <a:ea typeface="MiSans"/>
              </a:rPr>
              <a:t>2026</a:t>
            </a:r>
            <a:r>
              <a:rPr lang="zh-CN" altLang="zh-CN" sz="2000" dirty="0">
                <a:ea typeface="MiSans"/>
              </a:rPr>
              <a:t>年</a:t>
            </a:r>
            <a:r>
              <a:rPr lang="en-US" altLang="zh-CN" sz="2000" dirty="0">
                <a:ea typeface="MiSans"/>
              </a:rPr>
              <a:t>3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01</a:t>
            </a:r>
            <a:r>
              <a:rPr lang="zh-CN" altLang="zh-CN" sz="2000" dirty="0">
                <a:ea typeface="MiSans"/>
              </a:rPr>
              <a:t>日</a:t>
            </a:r>
            <a:r>
              <a:rPr lang="en-US" altLang="zh-CN" sz="2000" dirty="0">
                <a:ea typeface="MiSans"/>
              </a:rPr>
              <a:t>-03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31</a:t>
            </a:r>
            <a:r>
              <a:rPr lang="zh-CN" altLang="zh-CN" sz="2000" dirty="0">
                <a:ea typeface="MiSans"/>
              </a:rPr>
              <a:t>日：搭建前端框架，设计接口与后端对接</a:t>
            </a:r>
            <a:endParaRPr lang="en-US" altLang="zh-CN" sz="2000" dirty="0">
              <a:ea typeface="MiSans"/>
            </a:endParaRPr>
          </a:p>
          <a:p>
            <a:endParaRPr lang="en-US" altLang="zh-CN" sz="2000" dirty="0">
              <a:ea typeface="MiSans"/>
            </a:endParaRPr>
          </a:p>
          <a:p>
            <a:r>
              <a:rPr lang="zh-CN" altLang="en-US" sz="2000" dirty="0">
                <a:ea typeface="MiSans"/>
              </a:rPr>
              <a:t>          第三阶段</a:t>
            </a:r>
            <a:endParaRPr lang="zh-CN" altLang="zh-CN" sz="2000" dirty="0">
              <a:ea typeface="MiSans"/>
            </a:endParaRPr>
          </a:p>
          <a:p>
            <a:r>
              <a:rPr lang="en-US" altLang="zh-CN" sz="2000" dirty="0">
                <a:ea typeface="MiSans"/>
              </a:rPr>
              <a:t>2026</a:t>
            </a:r>
            <a:r>
              <a:rPr lang="zh-CN" altLang="zh-CN" sz="2000" dirty="0">
                <a:ea typeface="MiSans"/>
              </a:rPr>
              <a:t>年</a:t>
            </a:r>
            <a:r>
              <a:rPr lang="en-US" altLang="zh-CN" sz="2000" dirty="0">
                <a:ea typeface="MiSans"/>
              </a:rPr>
              <a:t>4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01</a:t>
            </a:r>
            <a:r>
              <a:rPr lang="zh-CN" altLang="zh-CN" sz="2000" dirty="0">
                <a:ea typeface="MiSans"/>
              </a:rPr>
              <a:t>日</a:t>
            </a:r>
            <a:r>
              <a:rPr lang="en-US" altLang="zh-CN" sz="2000" dirty="0">
                <a:ea typeface="MiSans"/>
              </a:rPr>
              <a:t>-04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30</a:t>
            </a:r>
            <a:r>
              <a:rPr lang="zh-CN" altLang="zh-CN" sz="2000" dirty="0">
                <a:ea typeface="MiSans"/>
              </a:rPr>
              <a:t>日：实现前端可视化平台，编写论文</a:t>
            </a:r>
          </a:p>
          <a:p>
            <a:r>
              <a:rPr lang="en-US" altLang="zh-CN" sz="2000" dirty="0">
                <a:ea typeface="MiSans"/>
              </a:rPr>
              <a:t>2026</a:t>
            </a:r>
            <a:r>
              <a:rPr lang="zh-CN" altLang="zh-CN" sz="2000" dirty="0">
                <a:ea typeface="MiSans"/>
              </a:rPr>
              <a:t>年</a:t>
            </a:r>
            <a:r>
              <a:rPr lang="en-US" altLang="zh-CN" sz="2000" dirty="0">
                <a:ea typeface="MiSans"/>
              </a:rPr>
              <a:t>5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01</a:t>
            </a:r>
            <a:r>
              <a:rPr lang="zh-CN" altLang="zh-CN" sz="2000" dirty="0">
                <a:ea typeface="MiSans"/>
              </a:rPr>
              <a:t>日</a:t>
            </a:r>
            <a:r>
              <a:rPr lang="en-US" altLang="zh-CN" sz="2000" dirty="0">
                <a:ea typeface="MiSans"/>
              </a:rPr>
              <a:t>-05</a:t>
            </a:r>
            <a:r>
              <a:rPr lang="zh-CN" altLang="zh-CN" sz="2000" dirty="0">
                <a:ea typeface="MiSans"/>
              </a:rPr>
              <a:t>月</a:t>
            </a:r>
            <a:r>
              <a:rPr lang="en-US" altLang="zh-CN" sz="2000" dirty="0">
                <a:ea typeface="MiSans"/>
              </a:rPr>
              <a:t>31</a:t>
            </a:r>
            <a:r>
              <a:rPr lang="zh-CN" altLang="zh-CN" sz="2000" dirty="0">
                <a:ea typeface="MiSans"/>
              </a:rPr>
              <a:t>日：修改完善论文，完成毕业答辩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0" dirty="0">
              <a:solidFill>
                <a:srgbClr val="0F2F5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24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7CCA193-3FF8-8069-A787-6A2266D548EC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30370514-6AF9-8110-A509-C99B1C188C94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BB341B9D-66FA-0DC5-B150-308ED79EB3AA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B4C1A36-60A3-094A-7F1F-BD9EC5C81F8A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" name="矩形 2">
            <a:extLst>
              <a:ext uri="{FF2B5EF4-FFF2-40B4-BE49-F238E27FC236}">
                <a16:creationId xmlns:a16="http://schemas.microsoft.com/office/drawing/2014/main" id="{A782C74F-4C54-DB4F-CBE5-776C7A9DF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进度安排与预期成果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7A12A4F-C4B1-4E71-AE0C-EBE57AE676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  <p:sp>
        <p:nvSpPr>
          <p:cNvPr id="14" name="Shape 3">
            <a:extLst>
              <a:ext uri="{FF2B5EF4-FFF2-40B4-BE49-F238E27FC236}">
                <a16:creationId xmlns:a16="http://schemas.microsoft.com/office/drawing/2014/main" id="{D637DDC7-EDD6-C4E3-21B0-5EAEA95D6A87}"/>
              </a:ext>
            </a:extLst>
          </p:cNvPr>
          <p:cNvSpPr/>
          <p:nvPr/>
        </p:nvSpPr>
        <p:spPr>
          <a:xfrm>
            <a:off x="494864" y="1737031"/>
            <a:ext cx="281173" cy="2909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89DC"/>
          </a:solidFill>
          <a:ln w="5080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25C234E7-44CB-0E47-33CF-C4C2E7463B2A}"/>
              </a:ext>
            </a:extLst>
          </p:cNvPr>
          <p:cNvSpPr/>
          <p:nvPr/>
        </p:nvSpPr>
        <p:spPr>
          <a:xfrm>
            <a:off x="494864" y="4770994"/>
            <a:ext cx="281173" cy="2909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89DC"/>
          </a:solidFill>
          <a:ln w="5080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5CFCA535-7558-3504-3ACE-925595112964}"/>
              </a:ext>
            </a:extLst>
          </p:cNvPr>
          <p:cNvSpPr/>
          <p:nvPr/>
        </p:nvSpPr>
        <p:spPr>
          <a:xfrm>
            <a:off x="516503" y="2929357"/>
            <a:ext cx="281173" cy="2909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89DC"/>
          </a:solidFill>
          <a:ln w="5080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48771108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https://kimi-img.moonshot.cn/pub/slides/slides_tmpl/image/25-10-09-17:19:43-d3jnsbos8jdo4os5dm3g.jpg">
            <a:extLst>
              <a:ext uri="{FF2B5EF4-FFF2-40B4-BE49-F238E27FC236}">
                <a16:creationId xmlns:a16="http://schemas.microsoft.com/office/drawing/2014/main" id="{37BB90C5-637B-15B7-051E-4014F9EF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B23D08CB-C3A4-D62B-B313-E2CFAD2A647C}"/>
              </a:ext>
            </a:extLst>
          </p:cNvPr>
          <p:cNvSpPr/>
          <p:nvPr/>
        </p:nvSpPr>
        <p:spPr>
          <a:xfrm>
            <a:off x="264160" y="2935222"/>
            <a:ext cx="3695700" cy="2413000"/>
          </a:xfrm>
          <a:custGeom>
            <a:avLst/>
            <a:gdLst/>
            <a:ahLst/>
            <a:cxnLst/>
            <a:rect l="l" t="t" r="r" b="b"/>
            <a:pathLst>
              <a:path w="3695700" h="2413000">
                <a:moveTo>
                  <a:pt x="101611" y="0"/>
                </a:moveTo>
                <a:lnTo>
                  <a:pt x="3594089" y="0"/>
                </a:lnTo>
                <a:cubicBezTo>
                  <a:pt x="3650207" y="0"/>
                  <a:pt x="3695700" y="45493"/>
                  <a:pt x="3695700" y="101611"/>
                </a:cubicBezTo>
                <a:lnTo>
                  <a:pt x="3695700" y="2311389"/>
                </a:lnTo>
                <a:cubicBezTo>
                  <a:pt x="3695700" y="2367507"/>
                  <a:pt x="3650207" y="2413000"/>
                  <a:pt x="3594089" y="2413000"/>
                </a:cubicBezTo>
                <a:lnTo>
                  <a:pt x="101611" y="2413000"/>
                </a:lnTo>
                <a:cubicBezTo>
                  <a:pt x="45493" y="2413000"/>
                  <a:pt x="0" y="2367507"/>
                  <a:pt x="0" y="2311389"/>
                </a:cubicBezTo>
                <a:lnTo>
                  <a:pt x="0" y="101611"/>
                </a:lnTo>
                <a:cubicBezTo>
                  <a:pt x="0" y="45493"/>
                  <a:pt x="45493" y="0"/>
                  <a:pt x="101611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C4B56141-243F-D586-25DF-E553CDD40C74}"/>
              </a:ext>
            </a:extLst>
          </p:cNvPr>
          <p:cNvSpPr/>
          <p:nvPr/>
        </p:nvSpPr>
        <p:spPr>
          <a:xfrm>
            <a:off x="1718627" y="3185158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4A89DC"/>
          </a:solidFill>
        </p:spPr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D14998C-1748-B4F9-E95D-5B7865E3C10D}"/>
              </a:ext>
            </a:extLst>
          </p:cNvPr>
          <p:cNvSpPr/>
          <p:nvPr/>
        </p:nvSpPr>
        <p:spPr>
          <a:xfrm>
            <a:off x="1337628" y="4028442"/>
            <a:ext cx="152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软件</a:t>
            </a:r>
            <a:r>
              <a:rPr lang="en-US" sz="2000" b="1" dirty="0" err="1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成果</a:t>
            </a:r>
            <a:endParaRPr lang="en-US" sz="16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9BC3CC86-1552-1E39-A0A5-9229995A5FB2}"/>
              </a:ext>
            </a:extLst>
          </p:cNvPr>
          <p:cNvSpPr/>
          <p:nvPr/>
        </p:nvSpPr>
        <p:spPr>
          <a:xfrm>
            <a:off x="901278" y="4471296"/>
            <a:ext cx="2314751" cy="6999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一套完整的网络金融舆情监测平台，包含数据采集、分析、展示三大模块</a:t>
            </a:r>
            <a:endParaRPr lang="en-US" altLang="zh-CN" sz="11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3BFE246-56D2-52EC-EF4F-262D0CE204A1}"/>
              </a:ext>
            </a:extLst>
          </p:cNvPr>
          <p:cNvSpPr/>
          <p:nvPr/>
        </p:nvSpPr>
        <p:spPr>
          <a:xfrm>
            <a:off x="4266803" y="2935222"/>
            <a:ext cx="3695700" cy="2413000"/>
          </a:xfrm>
          <a:custGeom>
            <a:avLst/>
            <a:gdLst/>
            <a:ahLst/>
            <a:cxnLst/>
            <a:rect l="l" t="t" r="r" b="b"/>
            <a:pathLst>
              <a:path w="3695700" h="2413000">
                <a:moveTo>
                  <a:pt x="101611" y="0"/>
                </a:moveTo>
                <a:lnTo>
                  <a:pt x="3594089" y="0"/>
                </a:lnTo>
                <a:cubicBezTo>
                  <a:pt x="3650207" y="0"/>
                  <a:pt x="3695700" y="45493"/>
                  <a:pt x="3695700" y="101611"/>
                </a:cubicBezTo>
                <a:lnTo>
                  <a:pt x="3695700" y="2311389"/>
                </a:lnTo>
                <a:cubicBezTo>
                  <a:pt x="3695700" y="2367507"/>
                  <a:pt x="3650207" y="2413000"/>
                  <a:pt x="3594089" y="2413000"/>
                </a:cubicBezTo>
                <a:lnTo>
                  <a:pt x="101611" y="2413000"/>
                </a:lnTo>
                <a:cubicBezTo>
                  <a:pt x="45493" y="2413000"/>
                  <a:pt x="0" y="2367507"/>
                  <a:pt x="0" y="2311389"/>
                </a:cubicBezTo>
                <a:lnTo>
                  <a:pt x="0" y="101611"/>
                </a:lnTo>
                <a:cubicBezTo>
                  <a:pt x="0" y="45493"/>
                  <a:pt x="45493" y="0"/>
                  <a:pt x="101611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C474A07-DEAD-CDA7-3B85-942CBB60151C}"/>
              </a:ext>
            </a:extLst>
          </p:cNvPr>
          <p:cNvSpPr/>
          <p:nvPr/>
        </p:nvSpPr>
        <p:spPr>
          <a:xfrm>
            <a:off x="5752941" y="3185158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29578" y="1429"/>
                </a:moveTo>
                <a:cubicBezTo>
                  <a:pt x="409337" y="-4405"/>
                  <a:pt x="388263" y="7382"/>
                  <a:pt x="382429" y="27622"/>
                </a:cubicBezTo>
                <a:lnTo>
                  <a:pt x="230029" y="561023"/>
                </a:lnTo>
                <a:cubicBezTo>
                  <a:pt x="224195" y="581263"/>
                  <a:pt x="235982" y="602337"/>
                  <a:pt x="256223" y="608171"/>
                </a:cubicBezTo>
                <a:cubicBezTo>
                  <a:pt x="276463" y="614005"/>
                  <a:pt x="297537" y="602218"/>
                  <a:pt x="303371" y="581978"/>
                </a:cubicBezTo>
                <a:lnTo>
                  <a:pt x="455771" y="48578"/>
                </a:lnTo>
                <a:cubicBezTo>
                  <a:pt x="461605" y="28337"/>
                  <a:pt x="449818" y="7263"/>
                  <a:pt x="429577" y="1429"/>
                </a:cubicBezTo>
                <a:close/>
                <a:moveTo>
                  <a:pt x="506492" y="163473"/>
                </a:moveTo>
                <a:cubicBezTo>
                  <a:pt x="491609" y="178356"/>
                  <a:pt x="491609" y="202525"/>
                  <a:pt x="506492" y="217408"/>
                </a:cubicBezTo>
                <a:lnTo>
                  <a:pt x="593884" y="304800"/>
                </a:lnTo>
                <a:lnTo>
                  <a:pt x="506492" y="392192"/>
                </a:lnTo>
                <a:cubicBezTo>
                  <a:pt x="491609" y="407075"/>
                  <a:pt x="491609" y="431244"/>
                  <a:pt x="506492" y="446127"/>
                </a:cubicBezTo>
                <a:cubicBezTo>
                  <a:pt x="521375" y="461010"/>
                  <a:pt x="545544" y="461010"/>
                  <a:pt x="560427" y="446127"/>
                </a:cubicBezTo>
                <a:lnTo>
                  <a:pt x="674727" y="331827"/>
                </a:lnTo>
                <a:cubicBezTo>
                  <a:pt x="689610" y="316944"/>
                  <a:pt x="689610" y="292775"/>
                  <a:pt x="674727" y="277892"/>
                </a:cubicBezTo>
                <a:lnTo>
                  <a:pt x="560427" y="163592"/>
                </a:lnTo>
                <a:cubicBezTo>
                  <a:pt x="545544" y="148709"/>
                  <a:pt x="521375" y="148709"/>
                  <a:pt x="506492" y="163592"/>
                </a:cubicBezTo>
                <a:close/>
                <a:moveTo>
                  <a:pt x="179427" y="163473"/>
                </a:moveTo>
                <a:cubicBezTo>
                  <a:pt x="164544" y="148590"/>
                  <a:pt x="140375" y="148590"/>
                  <a:pt x="125492" y="163473"/>
                </a:cubicBezTo>
                <a:lnTo>
                  <a:pt x="11192" y="277773"/>
                </a:lnTo>
                <a:cubicBezTo>
                  <a:pt x="-3691" y="292656"/>
                  <a:pt x="-3691" y="316825"/>
                  <a:pt x="11192" y="331708"/>
                </a:cubicBezTo>
                <a:lnTo>
                  <a:pt x="125492" y="446008"/>
                </a:lnTo>
                <a:cubicBezTo>
                  <a:pt x="140375" y="460891"/>
                  <a:pt x="164544" y="460891"/>
                  <a:pt x="179427" y="446008"/>
                </a:cubicBezTo>
                <a:cubicBezTo>
                  <a:pt x="194310" y="431125"/>
                  <a:pt x="194310" y="406956"/>
                  <a:pt x="179427" y="392073"/>
                </a:cubicBezTo>
                <a:lnTo>
                  <a:pt x="92035" y="304800"/>
                </a:lnTo>
                <a:lnTo>
                  <a:pt x="179308" y="217408"/>
                </a:lnTo>
                <a:cubicBezTo>
                  <a:pt x="194191" y="202525"/>
                  <a:pt x="194191" y="178356"/>
                  <a:pt x="179308" y="163473"/>
                </a:cubicBezTo>
                <a:close/>
              </a:path>
            </a:pathLst>
          </a:custGeom>
          <a:solidFill>
            <a:srgbClr val="4A89DC"/>
          </a:solidFill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BD8C673-C28E-23C0-38B3-AD87DEC6AD21}"/>
              </a:ext>
            </a:extLst>
          </p:cNvPr>
          <p:cNvSpPr/>
          <p:nvPr/>
        </p:nvSpPr>
        <p:spPr>
          <a:xfrm>
            <a:off x="5033328" y="3991860"/>
            <a:ext cx="2093336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模型性能测评结果</a:t>
            </a:r>
            <a:endParaRPr lang="en-US" sz="16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65853A2-D5B7-A919-FF46-A1A14AC5072E}"/>
              </a:ext>
            </a:extLst>
          </p:cNvPr>
          <p:cNvSpPr/>
          <p:nvPr/>
        </p:nvSpPr>
        <p:spPr>
          <a:xfrm>
            <a:off x="4674193" y="4567280"/>
            <a:ext cx="2811606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16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MiSans" pitchFamily="34" charset="-120"/>
              </a:rPr>
              <a:t>包括金融属性识别准确率，风险等级分类准确率等</a:t>
            </a:r>
            <a:endParaRPr lang="en-US" sz="1600" b="1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EC68AF7-0DAB-CD5E-AB18-17787F217AE8}"/>
              </a:ext>
            </a:extLst>
          </p:cNvPr>
          <p:cNvSpPr/>
          <p:nvPr/>
        </p:nvSpPr>
        <p:spPr>
          <a:xfrm>
            <a:off x="8246427" y="2935222"/>
            <a:ext cx="3695700" cy="2413000"/>
          </a:xfrm>
          <a:custGeom>
            <a:avLst/>
            <a:gdLst/>
            <a:ahLst/>
            <a:cxnLst/>
            <a:rect l="l" t="t" r="r" b="b"/>
            <a:pathLst>
              <a:path w="3695700" h="2413000">
                <a:moveTo>
                  <a:pt x="101611" y="0"/>
                </a:moveTo>
                <a:lnTo>
                  <a:pt x="3594089" y="0"/>
                </a:lnTo>
                <a:cubicBezTo>
                  <a:pt x="3650207" y="0"/>
                  <a:pt x="3695700" y="45493"/>
                  <a:pt x="3695700" y="101611"/>
                </a:cubicBezTo>
                <a:lnTo>
                  <a:pt x="3695700" y="2311389"/>
                </a:lnTo>
                <a:cubicBezTo>
                  <a:pt x="3695700" y="2367507"/>
                  <a:pt x="3650207" y="2413000"/>
                  <a:pt x="3594089" y="2413000"/>
                </a:cubicBezTo>
                <a:lnTo>
                  <a:pt x="101611" y="2413000"/>
                </a:lnTo>
                <a:cubicBezTo>
                  <a:pt x="45493" y="2413000"/>
                  <a:pt x="0" y="2367507"/>
                  <a:pt x="0" y="2311389"/>
                </a:cubicBezTo>
                <a:lnTo>
                  <a:pt x="0" y="101611"/>
                </a:lnTo>
                <a:cubicBezTo>
                  <a:pt x="0" y="45493"/>
                  <a:pt x="45493" y="0"/>
                  <a:pt x="101611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59167B5-DFE3-677C-88EA-F3B254F40E5C}"/>
              </a:ext>
            </a:extLst>
          </p:cNvPr>
          <p:cNvSpPr/>
          <p:nvPr/>
        </p:nvSpPr>
        <p:spPr>
          <a:xfrm>
            <a:off x="9863614" y="3185158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76200"/>
                </a:moveTo>
                <a:cubicBezTo>
                  <a:pt x="0" y="34171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7977"/>
                  <a:pt x="308134" y="22265"/>
                </a:cubicBezTo>
                <a:lnTo>
                  <a:pt x="434935" y="149185"/>
                </a:lnTo>
                <a:cubicBezTo>
                  <a:pt x="449223" y="163473"/>
                  <a:pt x="457200" y="182880"/>
                  <a:pt x="457200" y="203121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76200"/>
                </a:lnTo>
                <a:close/>
                <a:moveTo>
                  <a:pt x="247650" y="69652"/>
                </a:moveTo>
                <a:lnTo>
                  <a:pt x="247650" y="180975"/>
                </a:lnTo>
                <a:cubicBezTo>
                  <a:pt x="247650" y="196810"/>
                  <a:pt x="260390" y="209550"/>
                  <a:pt x="276225" y="209550"/>
                </a:cubicBezTo>
                <a:lnTo>
                  <a:pt x="387548" y="209550"/>
                </a:lnTo>
                <a:lnTo>
                  <a:pt x="247650" y="69652"/>
                </a:lnTo>
                <a:close/>
                <a:moveTo>
                  <a:pt x="142875" y="304800"/>
                </a:moveTo>
                <a:cubicBezTo>
                  <a:pt x="127040" y="304800"/>
                  <a:pt x="114300" y="317540"/>
                  <a:pt x="114300" y="333375"/>
                </a:cubicBezTo>
                <a:cubicBezTo>
                  <a:pt x="114300" y="349210"/>
                  <a:pt x="127040" y="361950"/>
                  <a:pt x="142875" y="361950"/>
                </a:cubicBezTo>
                <a:lnTo>
                  <a:pt x="314325" y="361950"/>
                </a:lnTo>
                <a:cubicBezTo>
                  <a:pt x="330160" y="361950"/>
                  <a:pt x="342900" y="349210"/>
                  <a:pt x="342900" y="333375"/>
                </a:cubicBezTo>
                <a:cubicBezTo>
                  <a:pt x="342900" y="317540"/>
                  <a:pt x="330160" y="304800"/>
                  <a:pt x="314325" y="304800"/>
                </a:cubicBezTo>
                <a:lnTo>
                  <a:pt x="142875" y="304800"/>
                </a:lnTo>
                <a:close/>
                <a:moveTo>
                  <a:pt x="142875" y="419100"/>
                </a:moveTo>
                <a:cubicBezTo>
                  <a:pt x="127040" y="419100"/>
                  <a:pt x="114300" y="431840"/>
                  <a:pt x="114300" y="447675"/>
                </a:cubicBezTo>
                <a:cubicBezTo>
                  <a:pt x="114300" y="463510"/>
                  <a:pt x="127040" y="476250"/>
                  <a:pt x="142875" y="476250"/>
                </a:cubicBezTo>
                <a:lnTo>
                  <a:pt x="314325" y="476250"/>
                </a:lnTo>
                <a:cubicBezTo>
                  <a:pt x="330160" y="476250"/>
                  <a:pt x="342900" y="463510"/>
                  <a:pt x="342900" y="447675"/>
                </a:cubicBezTo>
                <a:cubicBezTo>
                  <a:pt x="342900" y="431840"/>
                  <a:pt x="330160" y="419100"/>
                  <a:pt x="314325" y="419100"/>
                </a:cubicBezTo>
                <a:lnTo>
                  <a:pt x="142875" y="419100"/>
                </a:lnTo>
                <a:close/>
              </a:path>
            </a:pathLst>
          </a:custGeom>
          <a:solidFill>
            <a:srgbClr val="4A89DC"/>
          </a:solidFill>
        </p:spPr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5C1E679A-F307-6DCE-4D5B-34CD65649C4E}"/>
              </a:ext>
            </a:extLst>
          </p:cNvPr>
          <p:cNvSpPr/>
          <p:nvPr/>
        </p:nvSpPr>
        <p:spPr>
          <a:xfrm>
            <a:off x="9330214" y="4003042"/>
            <a:ext cx="152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文档成果</a:t>
            </a:r>
            <a:endParaRPr lang="en-US" sz="16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378AC07C-D746-8575-0E69-0AD8FD3F1EEE}"/>
              </a:ext>
            </a:extLst>
          </p:cNvPr>
          <p:cNvSpPr/>
          <p:nvPr/>
        </p:nvSpPr>
        <p:spPr>
          <a:xfrm>
            <a:off x="9027478" y="4485642"/>
            <a:ext cx="213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MiSans" pitchFamily="34" charset="-120"/>
              </a:rPr>
              <a:t>毕业论文 (≥1.5万字)</a:t>
            </a:r>
            <a:endParaRPr lang="en-US" sz="1600" b="1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77E07B1C-86DB-8D05-3A0E-5249734E4567}"/>
              </a:ext>
            </a:extLst>
          </p:cNvPr>
          <p:cNvSpPr/>
          <p:nvPr/>
        </p:nvSpPr>
        <p:spPr>
          <a:xfrm>
            <a:off x="8860314" y="4739642"/>
            <a:ext cx="2463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1600" b="1" dirty="0">
                <a:solidFill>
                  <a:srgbClr val="0F2F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MiSans" pitchFamily="34" charset="-120"/>
              </a:rPr>
              <a:t>系统设计与使用说明书</a:t>
            </a:r>
            <a:endParaRPr lang="en-US" sz="1600" b="1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5EEDB680-EF99-BA46-EEE0-0E417A52AF51}"/>
              </a:ext>
            </a:extLst>
          </p:cNvPr>
          <p:cNvSpPr/>
          <p:nvPr/>
        </p:nvSpPr>
        <p:spPr>
          <a:xfrm>
            <a:off x="0" y="1559558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 err="1">
                <a:solidFill>
                  <a:srgbClr val="2E70C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预期交付成果</a:t>
            </a:r>
            <a:endParaRPr lang="en-US" sz="16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B062D22-4E01-EA0D-01D0-75801341C48E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AACD01C6-FAB7-50E7-C0E0-A11608B1F995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35E761C4-AB94-D40C-3C25-7D922ED1E44A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E329C4F1-AB66-D6A2-0B32-9CC6784D4552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" name="矩形 2">
            <a:extLst>
              <a:ext uri="{FF2B5EF4-FFF2-40B4-BE49-F238E27FC236}">
                <a16:creationId xmlns:a16="http://schemas.microsoft.com/office/drawing/2014/main" id="{17662A08-A8EB-641B-2378-6ED9D3B25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进度安排与预期成果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67DCAEF-6005-4910-BFED-87CBF510FE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94" y="94044"/>
            <a:ext cx="2598728" cy="5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35531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2504-33AF-F912-521C-880E2526B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5AE2A0-04AA-0A78-5D76-C36E394E9387}"/>
              </a:ext>
            </a:extLst>
          </p:cNvPr>
          <p:cNvGrpSpPr/>
          <p:nvPr/>
        </p:nvGrpSpPr>
        <p:grpSpPr>
          <a:xfrm>
            <a:off x="16550" y="0"/>
            <a:ext cx="12175450" cy="6858000"/>
            <a:chOff x="16550" y="0"/>
            <a:chExt cx="12175450" cy="6858000"/>
          </a:xfrm>
        </p:grpSpPr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E5406976-D46E-8C60-FD2E-7A6F50749C77}"/>
                </a:ext>
              </a:extLst>
            </p:cNvPr>
            <p:cNvSpPr/>
            <p:nvPr/>
          </p:nvSpPr>
          <p:spPr>
            <a:xfrm rot="10800000">
              <a:off x="6691746" y="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CA05C406-E50E-1179-D36E-9025569348BE}"/>
                </a:ext>
              </a:extLst>
            </p:cNvPr>
            <p:cNvSpPr/>
            <p:nvPr/>
          </p:nvSpPr>
          <p:spPr>
            <a:xfrm rot="10800000">
              <a:off x="8601014" y="342899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63">
              <a:extLst>
                <a:ext uri="{FF2B5EF4-FFF2-40B4-BE49-F238E27FC236}">
                  <a16:creationId xmlns:a16="http://schemas.microsoft.com/office/drawing/2014/main" id="{E70E9207-3E61-506C-176A-C181F085E86E}"/>
                </a:ext>
              </a:extLst>
            </p:cNvPr>
            <p:cNvSpPr/>
            <p:nvPr/>
          </p:nvSpPr>
          <p:spPr>
            <a:xfrm rot="10800000">
              <a:off x="10510281" y="3429000"/>
              <a:ext cx="1681719" cy="1645920"/>
            </a:xfrm>
            <a:custGeom>
              <a:avLst/>
              <a:gdLst>
                <a:gd name="connsiteX0" fmla="*/ 1681719 w 1681719"/>
                <a:gd name="connsiteY0" fmla="*/ 1645920 h 1645920"/>
                <a:gd name="connsiteX1" fmla="*/ 0 w 1681719"/>
                <a:gd name="connsiteY1" fmla="*/ 1645920 h 1645920"/>
                <a:gd name="connsiteX2" fmla="*/ 0 w 1681719"/>
                <a:gd name="connsiteY2" fmla="*/ 1253596 h 1645920"/>
                <a:gd name="connsiteX3" fmla="*/ 727086 w 1681719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19" h="1645920">
                  <a:moveTo>
                    <a:pt x="1681719" y="1645920"/>
                  </a:moveTo>
                  <a:lnTo>
                    <a:pt x="0" y="1645920"/>
                  </a:lnTo>
                  <a:lnTo>
                    <a:pt x="0" y="1253596"/>
                  </a:lnTo>
                  <a:lnTo>
                    <a:pt x="727086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1">
              <a:extLst>
                <a:ext uri="{FF2B5EF4-FFF2-40B4-BE49-F238E27FC236}">
                  <a16:creationId xmlns:a16="http://schemas.microsoft.com/office/drawing/2014/main" id="{D9B1E38C-EB37-6506-0548-034866F1D5BD}"/>
                </a:ext>
              </a:extLst>
            </p:cNvPr>
            <p:cNvSpPr/>
            <p:nvPr/>
          </p:nvSpPr>
          <p:spPr>
            <a:xfrm>
              <a:off x="10510280" y="1783080"/>
              <a:ext cx="1681720" cy="1645920"/>
            </a:xfrm>
            <a:custGeom>
              <a:avLst/>
              <a:gdLst>
                <a:gd name="connsiteX0" fmla="*/ 954634 w 1681720"/>
                <a:gd name="connsiteY0" fmla="*/ 0 h 1645920"/>
                <a:gd name="connsiteX1" fmla="*/ 1681720 w 1681720"/>
                <a:gd name="connsiteY1" fmla="*/ 1253598 h 1645920"/>
                <a:gd name="connsiteX2" fmla="*/ 1681720 w 1681720"/>
                <a:gd name="connsiteY2" fmla="*/ 1645920 h 1645920"/>
                <a:gd name="connsiteX3" fmla="*/ 0 w 1681720"/>
                <a:gd name="connsiteY3" fmla="*/ 164592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0" h="1645920">
                  <a:moveTo>
                    <a:pt x="954634" y="0"/>
                  </a:moveTo>
                  <a:lnTo>
                    <a:pt x="1681720" y="1253598"/>
                  </a:lnTo>
                  <a:lnTo>
                    <a:pt x="1681720" y="1645920"/>
                  </a:lnTo>
                  <a:lnTo>
                    <a:pt x="0" y="164592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BEAA9B97-95EC-176F-6791-7786672D4A20}"/>
                </a:ext>
              </a:extLst>
            </p:cNvPr>
            <p:cNvSpPr/>
            <p:nvPr/>
          </p:nvSpPr>
          <p:spPr>
            <a:xfrm>
              <a:off x="8600991" y="5078022"/>
              <a:ext cx="1909281" cy="1645933"/>
            </a:xfrm>
            <a:prstGeom prst="triangle">
              <a:avLst/>
            </a:prstGeom>
            <a:solidFill>
              <a:srgbClr val="A5CFE5">
                <a:alpha val="52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59">
              <a:extLst>
                <a:ext uri="{FF2B5EF4-FFF2-40B4-BE49-F238E27FC236}">
                  <a16:creationId xmlns:a16="http://schemas.microsoft.com/office/drawing/2014/main" id="{9C0BA575-128A-CBEC-34D4-90AFECF314F6}"/>
                </a:ext>
              </a:extLst>
            </p:cNvPr>
            <p:cNvSpPr/>
            <p:nvPr/>
          </p:nvSpPr>
          <p:spPr>
            <a:xfrm rot="10800000">
              <a:off x="10510279" y="137158"/>
              <a:ext cx="1681721" cy="1645920"/>
            </a:xfrm>
            <a:custGeom>
              <a:avLst/>
              <a:gdLst>
                <a:gd name="connsiteX0" fmla="*/ 1681721 w 1681721"/>
                <a:gd name="connsiteY0" fmla="*/ 1645920 h 1645920"/>
                <a:gd name="connsiteX1" fmla="*/ 0 w 1681721"/>
                <a:gd name="connsiteY1" fmla="*/ 1645920 h 1645920"/>
                <a:gd name="connsiteX2" fmla="*/ 0 w 1681721"/>
                <a:gd name="connsiteY2" fmla="*/ 1253600 h 1645920"/>
                <a:gd name="connsiteX3" fmla="*/ 727088 w 1681721"/>
                <a:gd name="connsiteY3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721" h="1645920">
                  <a:moveTo>
                    <a:pt x="1681721" y="1645920"/>
                  </a:moveTo>
                  <a:lnTo>
                    <a:pt x="0" y="1645920"/>
                  </a:lnTo>
                  <a:lnTo>
                    <a:pt x="0" y="1253600"/>
                  </a:lnTo>
                  <a:lnTo>
                    <a:pt x="727088" y="0"/>
                  </a:lnTo>
                  <a:close/>
                </a:path>
              </a:pathLst>
            </a:cu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49326EF3-C8AC-549A-7765-E5E6F879D22D}"/>
                </a:ext>
              </a:extLst>
            </p:cNvPr>
            <p:cNvSpPr/>
            <p:nvPr/>
          </p:nvSpPr>
          <p:spPr>
            <a:xfrm>
              <a:off x="9555645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009C6C75-21CB-5CF4-AA7C-9140924DD55C}"/>
                </a:ext>
              </a:extLst>
            </p:cNvPr>
            <p:cNvSpPr/>
            <p:nvPr/>
          </p:nvSpPr>
          <p:spPr>
            <a:xfrm rot="10800000">
              <a:off x="7646375" y="5074919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F5AFA28E-FE06-F74A-3D6F-D73EFEEB9896}"/>
                </a:ext>
              </a:extLst>
            </p:cNvPr>
            <p:cNvSpPr/>
            <p:nvPr/>
          </p:nvSpPr>
          <p:spPr>
            <a:xfrm>
              <a:off x="6691725" y="5074928"/>
              <a:ext cx="1909257" cy="1645912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9659071B-0307-7FAF-B1AB-41DFE801E398}"/>
                </a:ext>
              </a:extLst>
            </p:cNvPr>
            <p:cNvSpPr/>
            <p:nvPr/>
          </p:nvSpPr>
          <p:spPr>
            <a:xfrm rot="10800000">
              <a:off x="9555641" y="507492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700CACE2-587E-E647-86E5-D4607769AEC0}"/>
                </a:ext>
              </a:extLst>
            </p:cNvPr>
            <p:cNvSpPr/>
            <p:nvPr/>
          </p:nvSpPr>
          <p:spPr>
            <a:xfrm rot="10800000">
              <a:off x="9555641" y="1783080"/>
              <a:ext cx="1909267" cy="1645920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FD38130A-FA65-707C-969E-37643A85C298}"/>
                </a:ext>
              </a:extLst>
            </p:cNvPr>
            <p:cNvSpPr/>
            <p:nvPr/>
          </p:nvSpPr>
          <p:spPr>
            <a:xfrm>
              <a:off x="7646348" y="3429000"/>
              <a:ext cx="1909267" cy="1645920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D219A99-32AC-4417-C4D4-5553985F46D9}"/>
                </a:ext>
              </a:extLst>
            </p:cNvPr>
            <p:cNvCxnSpPr/>
            <p:nvPr/>
          </p:nvCxnSpPr>
          <p:spPr>
            <a:xfrm flipH="1">
              <a:off x="7285065" y="765802"/>
              <a:ext cx="954634" cy="1645920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850829C-2AC4-6D63-AA0D-620FE699616F}"/>
                </a:ext>
              </a:extLst>
            </p:cNvPr>
            <p:cNvCxnSpPr/>
            <p:nvPr/>
          </p:nvCxnSpPr>
          <p:spPr>
            <a:xfrm flipH="1">
              <a:off x="661651" y="2935908"/>
              <a:ext cx="304858" cy="525617"/>
            </a:xfrm>
            <a:prstGeom prst="line">
              <a:avLst/>
            </a:prstGeom>
            <a:ln w="3175">
              <a:solidFill>
                <a:srgbClr val="A5CF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FF92C9F-A9BC-3FF4-B0E7-6748A0D7A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t="24590"/>
            <a:stretch>
              <a:fillRect/>
            </a:stretch>
          </p:blipFill>
          <p:spPr>
            <a:xfrm>
              <a:off x="966539" y="1"/>
              <a:ext cx="3127519" cy="2032061"/>
            </a:xfrm>
            <a:custGeom>
              <a:avLst/>
              <a:gdLst>
                <a:gd name="connsiteX0" fmla="*/ 0 w 3127519"/>
                <a:gd name="connsiteY0" fmla="*/ 0 h 2032061"/>
                <a:gd name="connsiteX1" fmla="*/ 3127519 w 3127519"/>
                <a:gd name="connsiteY1" fmla="*/ 0 h 2032061"/>
                <a:gd name="connsiteX2" fmla="*/ 3127519 w 3127519"/>
                <a:gd name="connsiteY2" fmla="*/ 2032061 h 2032061"/>
                <a:gd name="connsiteX3" fmla="*/ 0 w 3127519"/>
                <a:gd name="connsiteY3" fmla="*/ 2032061 h 2032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27519" h="2032061">
                  <a:moveTo>
                    <a:pt x="0" y="0"/>
                  </a:moveTo>
                  <a:lnTo>
                    <a:pt x="3127519" y="0"/>
                  </a:lnTo>
                  <a:lnTo>
                    <a:pt x="3127519" y="2032061"/>
                  </a:lnTo>
                  <a:lnTo>
                    <a:pt x="0" y="2032061"/>
                  </a:lnTo>
                  <a:close/>
                </a:path>
              </a:pathLst>
            </a:cu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D787DE59-533F-D812-94CE-A0329ECD2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 b="18265"/>
            <a:stretch>
              <a:fillRect/>
            </a:stretch>
          </p:blipFill>
          <p:spPr>
            <a:xfrm>
              <a:off x="16550" y="4281805"/>
              <a:ext cx="2975106" cy="2576195"/>
            </a:xfrm>
            <a:custGeom>
              <a:avLst/>
              <a:gdLst>
                <a:gd name="connsiteX0" fmla="*/ 0 w 2975106"/>
                <a:gd name="connsiteY0" fmla="*/ 0 h 2576195"/>
                <a:gd name="connsiteX1" fmla="*/ 2975106 w 2975106"/>
                <a:gd name="connsiteY1" fmla="*/ 0 h 2576195"/>
                <a:gd name="connsiteX2" fmla="*/ 2975106 w 2975106"/>
                <a:gd name="connsiteY2" fmla="*/ 2576195 h 2576195"/>
                <a:gd name="connsiteX3" fmla="*/ 0 w 2975106"/>
                <a:gd name="connsiteY3" fmla="*/ 2576195 h 2576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5106" h="2576195">
                  <a:moveTo>
                    <a:pt x="0" y="0"/>
                  </a:moveTo>
                  <a:lnTo>
                    <a:pt x="2975106" y="0"/>
                  </a:lnTo>
                  <a:lnTo>
                    <a:pt x="2975106" y="2576195"/>
                  </a:lnTo>
                  <a:lnTo>
                    <a:pt x="0" y="2576195"/>
                  </a:lnTo>
                  <a:close/>
                </a:path>
              </a:pathLst>
            </a:cu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D23CBAC-8D53-7F4D-072B-5BF564943144}"/>
              </a:ext>
            </a:extLst>
          </p:cNvPr>
          <p:cNvSpPr txBox="1"/>
          <p:nvPr/>
        </p:nvSpPr>
        <p:spPr>
          <a:xfrm>
            <a:off x="866568" y="3103424"/>
            <a:ext cx="83688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幼圆" panose="02010509060101010101" pitchFamily="49" charset="-122"/>
                <a:ea typeface="幼圆" panose="02010509060101010101" pitchFamily="49" charset="-122"/>
              </a:rPr>
              <a:t>感谢各位老师的聆听</a:t>
            </a: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E51B0FC2-954E-12AB-B99C-1885C7638D49}"/>
              </a:ext>
            </a:extLst>
          </p:cNvPr>
          <p:cNvSpPr/>
          <p:nvPr/>
        </p:nvSpPr>
        <p:spPr>
          <a:xfrm rot="17411441">
            <a:off x="7076861" y="2785477"/>
            <a:ext cx="157387" cy="397133"/>
          </a:xfrm>
          <a:prstGeom prst="triangle">
            <a:avLst/>
          </a:pr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D9EF1507-086B-66DB-F88F-D49ED9DF1FC6}"/>
              </a:ext>
            </a:extLst>
          </p:cNvPr>
          <p:cNvSpPr/>
          <p:nvPr/>
        </p:nvSpPr>
        <p:spPr>
          <a:xfrm rot="13615302">
            <a:off x="6826212" y="2560435"/>
            <a:ext cx="105790" cy="511888"/>
          </a:xfrm>
          <a:prstGeom prst="triangle">
            <a:avLst/>
          </a:prstGeom>
          <a:solidFill>
            <a:srgbClr val="A5CF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Image 1" descr="https://kimi-img.moonshot.cn/pub/slides/slides_tmpl/image/25-10-09-17:19:39-d3jnsaos8jdo4os5dlq0.png">
            <a:extLst>
              <a:ext uri="{FF2B5EF4-FFF2-40B4-BE49-F238E27FC236}">
                <a16:creationId xmlns:a16="http://schemas.microsoft.com/office/drawing/2014/main" id="{BB18BC26-9E17-7E01-C4F2-67E468C79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09" y="4604354"/>
            <a:ext cx="4747895" cy="597535"/>
          </a:xfrm>
          <a:prstGeom prst="rect">
            <a:avLst/>
          </a:prstGeom>
        </p:spPr>
      </p:pic>
      <p:sp>
        <p:nvSpPr>
          <p:cNvPr id="23" name="Text 5">
            <a:extLst>
              <a:ext uri="{FF2B5EF4-FFF2-40B4-BE49-F238E27FC236}">
                <a16:creationId xmlns:a16="http://schemas.microsoft.com/office/drawing/2014/main" id="{3F004A15-416A-1A35-C808-3337C97B30DD}"/>
              </a:ext>
            </a:extLst>
          </p:cNvPr>
          <p:cNvSpPr/>
          <p:nvPr/>
        </p:nvSpPr>
        <p:spPr>
          <a:xfrm>
            <a:off x="966477" y="4694941"/>
            <a:ext cx="183197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 err="1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400" dirty="0">
                <a:solidFill>
                  <a:srgbClr val="404040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缪锡朋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2ABD06D-38B6-E9FA-29A8-2F1FFAFE6044}"/>
              </a:ext>
            </a:extLst>
          </p:cNvPr>
          <p:cNvSpPr/>
          <p:nvPr/>
        </p:nvSpPr>
        <p:spPr>
          <a:xfrm>
            <a:off x="3207428" y="4694940"/>
            <a:ext cx="2044147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日期：2025/11/08</a:t>
            </a:r>
            <a:endParaRPr lang="en-US" sz="16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7F0B13E-CD0A-95F4-2542-053D2434B2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71" y="2069623"/>
            <a:ext cx="4395921" cy="976871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996D16CE-B6C4-AD27-216D-4EECEFCB130D}"/>
              </a:ext>
            </a:extLst>
          </p:cNvPr>
          <p:cNvGrpSpPr/>
          <p:nvPr/>
        </p:nvGrpSpPr>
        <p:grpSpPr>
          <a:xfrm>
            <a:off x="151913" y="94044"/>
            <a:ext cx="730202" cy="611075"/>
            <a:chOff x="6541454" y="2317292"/>
            <a:chExt cx="730202" cy="611075"/>
          </a:xfrm>
        </p:grpSpPr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8748F6EB-D249-AD82-A317-7A785FF17DAC}"/>
                </a:ext>
              </a:extLst>
            </p:cNvPr>
            <p:cNvSpPr/>
            <p:nvPr/>
          </p:nvSpPr>
          <p:spPr>
            <a:xfrm flipH="1">
              <a:off x="6646150" y="2389138"/>
              <a:ext cx="625506" cy="539229"/>
            </a:xfrm>
            <a:prstGeom prst="triangle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7015FD7C-5254-6253-34CC-E10187218191}"/>
                </a:ext>
              </a:extLst>
            </p:cNvPr>
            <p:cNvSpPr/>
            <p:nvPr/>
          </p:nvSpPr>
          <p:spPr>
            <a:xfrm flipH="1">
              <a:off x="6541454" y="2317292"/>
              <a:ext cx="669894" cy="577495"/>
            </a:xfrm>
            <a:prstGeom prst="triangle">
              <a:avLst/>
            </a:prstGeom>
            <a:solidFill>
              <a:srgbClr val="A5CFE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80B9540-98DB-C42E-5F78-EA6454831234}"/>
              </a:ext>
            </a:extLst>
          </p:cNvPr>
          <p:cNvSpPr txBox="1"/>
          <p:nvPr/>
        </p:nvSpPr>
        <p:spPr>
          <a:xfrm>
            <a:off x="239857" y="226664"/>
            <a:ext cx="6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3" name="矩形 2">
            <a:extLst>
              <a:ext uri="{FF2B5EF4-FFF2-40B4-BE49-F238E27FC236}">
                <a16:creationId xmlns:a16="http://schemas.microsoft.com/office/drawing/2014/main" id="{E9844372-980B-46F7-FBEB-B0E40A47E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87" y="209577"/>
            <a:ext cx="405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进度安排与预期成果</a:t>
            </a:r>
          </a:p>
        </p:txBody>
      </p:sp>
    </p:spTree>
    <p:extLst>
      <p:ext uri="{BB962C8B-B14F-4D97-AF65-F5344CB8AC3E}">
        <p14:creationId xmlns:p14="http://schemas.microsoft.com/office/powerpoint/2010/main" val="100044481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1012</Words>
  <Application>Microsoft Office PowerPoint</Application>
  <PresentationFormat>宽屏</PresentationFormat>
  <Paragraphs>138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MiSans</vt:lpstr>
      <vt:lpstr>Noto Sans SC</vt:lpstr>
      <vt:lpstr>宋体</vt:lpstr>
      <vt:lpstr>微软雅黑</vt:lpstr>
      <vt:lpstr>幼圆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</dc:creator>
  <cp:lastModifiedBy>MaX Pro</cp:lastModifiedBy>
  <cp:revision>139</cp:revision>
  <dcterms:created xsi:type="dcterms:W3CDTF">2016-05-12T08:39:00Z</dcterms:created>
  <dcterms:modified xsi:type="dcterms:W3CDTF">2025-11-08T04:50:17Z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1C211AB4C7DA48C9B2A6EE17628D9A32_12</vt:lpwstr>
  </property>
  <property fmtid="{D5CDD505-2E9C-101B-9397-08002B2CF9AE}" pid="3" name="KSOProductBuildVer">
    <vt:lpwstr>2052-12.1.0.23125</vt:lpwstr>
  </property>
</Properties>
</file>